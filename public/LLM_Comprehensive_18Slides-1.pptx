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MMLU (Knowledge)</c:v>
                </c:pt>
              </c:strCache>
            </c:strRef>
          </c:tx>
          <c:spPr>
            <a:solidFill>
              <a:srgbClr val="1A56DB"/>
            </a:solidFill>
            <a:effectLst/>
          </c:spPr>
          <c:invertIfNegative val="0"/>
          <c:dLbls>
            <c:numFmt formatCode="#,##0" sourceLinked="0"/>
            <c:txPr>
              <a:bodyPr/>
              <a:lstStyle/>
              <a:p>
                <a:pPr>
                  <a:defRPr b="0" i="0" strike="noStrike" sz="1200" u="none">
                    <a:solidFill>
                      <a:srgbClr val="1E293B"/>
                    </a:solidFill>
                    <a:latin typeface="Arial"/>
                  </a:defRPr>
                </a:pPr>
              </a:p>
            </c:txPr>
            <c:showLegendKey val="0"/>
            <c:showVal val="1"/>
            <c:showCatName val="0"/>
            <c:showSerName val="0"/>
            <c:showPercent val="0"/>
            <c:showBubbleSize val="0"/>
            <c:showLeaderLines val="0"/>
          </c:dLbls>
          <c:cat>
            <c:multiLvlStrRef>
              <c:f>Sheet1!$A$2:$A$6</c:f>
              <c:multiLvlStrCache>
                <c:ptCount val="5"/>
                <c:lvl>
                  <c:pt idx="0">
                    <c:v>GPT-4o</c:v>
                  </c:pt>
                  <c:pt idx="1">
                    <c:v>Claude 3.5</c:v>
                  </c:pt>
                  <c:pt idx="2">
                    <c:v>Gemini 1.5 Pro</c:v>
                  </c:pt>
                  <c:pt idx="3">
                    <c:v>LLaMA 3 70B</c:v>
                  </c:pt>
                  <c:pt idx="4">
                    <c:v>Mistral Large</c:v>
                  </c:pt>
                </c:lvl>
              </c:multiLvlStrCache>
            </c:multiLvlStrRef>
          </c:cat>
          <c:val>
            <c:numRef>
              <c:f>Sheet1!$B$2:$B$6</c:f>
              <c:numCache>
                <c:formatCode>General</c:formatCode>
                <c:ptCount val="5"/>
                <c:pt idx="0">
                  <c:v>88.7</c:v>
                </c:pt>
                <c:pt idx="1">
                  <c:v>88.3</c:v>
                </c:pt>
                <c:pt idx="2">
                  <c:v>85.9</c:v>
                </c:pt>
                <c:pt idx="3">
                  <c:v>82</c:v>
                </c:pt>
                <c:pt idx="4">
                  <c:v>81.2</c:v>
                </c:pt>
              </c:numCache>
            </c:numRef>
          </c:val>
        </c:ser>
        <c:ser>
          <c:idx val="1"/>
          <c:order val="1"/>
          <c:tx>
            <c:strRef>
              <c:f>Sheet1!$C$1</c:f>
              <c:strCache>
                <c:ptCount val="1"/>
                <c:pt idx="0">
                  <c:v>HumanEval (Code)</c:v>
                </c:pt>
              </c:strCache>
            </c:strRef>
          </c:tx>
          <c:spPr>
            <a:solidFill>
              <a:srgbClr val="06B6D4"/>
            </a:solidFill>
            <a:effectLst/>
          </c:spPr>
          <c:invertIfNegative val="0"/>
          <c:dLbls>
            <c:numFmt formatCode="#,##0" sourceLinked="0"/>
            <c:txPr>
              <a:bodyPr/>
              <a:lstStyle/>
              <a:p>
                <a:pPr>
                  <a:defRPr b="0" i="0" strike="noStrike" sz="1200" u="none">
                    <a:solidFill>
                      <a:srgbClr val="1E293B"/>
                    </a:solidFill>
                    <a:latin typeface="Arial"/>
                  </a:defRPr>
                </a:pPr>
              </a:p>
            </c:txPr>
            <c:showLegendKey val="0"/>
            <c:showVal val="1"/>
            <c:showCatName val="0"/>
            <c:showSerName val="0"/>
            <c:showPercent val="0"/>
            <c:showBubbleSize val="0"/>
            <c:showLeaderLines val="0"/>
          </c:dLbls>
          <c:cat>
            <c:multiLvlStrRef>
              <c:f>Sheet1!$A$2:$A$6</c:f>
              <c:multiLvlStrCache>
                <c:ptCount val="5"/>
                <c:lvl>
                  <c:pt idx="0">
                    <c:v>GPT-4o</c:v>
                  </c:pt>
                  <c:pt idx="1">
                    <c:v>Claude 3.5</c:v>
                  </c:pt>
                  <c:pt idx="2">
                    <c:v>Gemini 1.5 Pro</c:v>
                  </c:pt>
                  <c:pt idx="3">
                    <c:v>LLaMA 3 70B</c:v>
                  </c:pt>
                  <c:pt idx="4">
                    <c:v>Mistral Large</c:v>
                  </c:pt>
                </c:lvl>
              </c:multiLvlStrCache>
            </c:multiLvlStrRef>
          </c:cat>
          <c:val>
            <c:numRef>
              <c:f>Sheet1!$C$2:$C$6</c:f>
              <c:numCache>
                <c:formatCode>General</c:formatCode>
                <c:ptCount val="5"/>
                <c:pt idx="0">
                  <c:v>90.2</c:v>
                </c:pt>
                <c:pt idx="1">
                  <c:v>92</c:v>
                </c:pt>
                <c:pt idx="2">
                  <c:v>84.1</c:v>
                </c:pt>
                <c:pt idx="3">
                  <c:v>81.7</c:v>
                </c:pt>
                <c:pt idx="4">
                  <c:v>75</c:v>
                </c:pt>
              </c:numCache>
            </c:numRef>
          </c:val>
        </c:ser>
        <c:dLbls>
          <c:numFmt formatCode="#,##0" sourceLinked="0"/>
          <c:txPr>
            <a:bodyPr/>
            <a:lstStyle/>
            <a:p>
              <a:pPr>
                <a:defRPr b="0" i="0" strike="noStrike" sz="1200" u="none">
                  <a:solidFill>
                    <a:srgbClr val="1E293B"/>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noMultiLvlLbl val="1"/>
      </c:catAx>
      <c:valAx>
        <c:axId val="2094734552"/>
        <c:scaling>
          <c:orientation val="minMax"/>
          <c:max val="100"/>
          <c:min val="60"/>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legend>
      <c:legendPos val="b"/>
      <c:overlay val="0"/>
    </c:legend>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2" Type="http://schemas.openxmlformats.org/officeDocument/2006/relationships/chart" Target="/ppt/charts/chart1.xml"/><Relationship Id="rId1" Type="http://schemas.openxmlformats.org/officeDocument/2006/relationships/image" Target="../media/image-8-1.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80D1A"/>
        </a:solidFill>
      </p:bgPr>
    </p:bg>
    <p:spTree>
      <p:nvGrpSpPr>
        <p:cNvPr id="1" name=""/>
        <p:cNvGrpSpPr/>
        <p:nvPr/>
      </p:nvGrpSpPr>
      <p:grpSpPr>
        <a:xfrm>
          <a:off x="0" y="0"/>
          <a:ext cx="0" cy="0"/>
          <a:chOff x="0" y="0"/>
          <a:chExt cx="0" cy="0"/>
        </a:xfrm>
      </p:grpSpPr>
      <p:sp>
        <p:nvSpPr>
          <p:cNvPr id="2" name="Shape 0"/>
          <p:cNvSpPr/>
          <p:nvPr/>
        </p:nvSpPr>
        <p:spPr>
          <a:xfrm>
            <a:off x="-1371600" y="-1371600"/>
            <a:ext cx="4572000" cy="4572000"/>
          </a:xfrm>
          <a:prstGeom prst="ellipse">
            <a:avLst/>
          </a:prstGeom>
          <a:solidFill>
            <a:srgbClr val="1A56DB">
              <a:alpha val="13000"/>
            </a:srgbClr>
          </a:solidFill>
          <a:ln w="12700">
            <a:solidFill>
              <a:srgbClr val="1A56DB">
                <a:alpha val="13000"/>
              </a:srgbClr>
            </a:solidFill>
            <a:prstDash val="solid"/>
          </a:ln>
        </p:spPr>
      </p:sp>
      <p:sp>
        <p:nvSpPr>
          <p:cNvPr id="3" name="Shape 1"/>
          <p:cNvSpPr/>
          <p:nvPr/>
        </p:nvSpPr>
        <p:spPr>
          <a:xfrm>
            <a:off x="6400800" y="1828800"/>
            <a:ext cx="5486400" cy="5486400"/>
          </a:xfrm>
          <a:prstGeom prst="ellipse">
            <a:avLst/>
          </a:prstGeom>
          <a:solidFill>
            <a:srgbClr val="06B6D4">
              <a:alpha val="11000"/>
            </a:srgbClr>
          </a:solidFill>
          <a:ln w="12700">
            <a:solidFill>
              <a:srgbClr val="06B6D4">
                <a:alpha val="11000"/>
              </a:srgbClr>
            </a:solidFill>
            <a:prstDash val="solid"/>
          </a:ln>
        </p:spPr>
      </p:sp>
      <p:sp>
        <p:nvSpPr>
          <p:cNvPr id="4" name="Shape 2"/>
          <p:cNvSpPr/>
          <p:nvPr/>
        </p:nvSpPr>
        <p:spPr>
          <a:xfrm>
            <a:off x="2743200" y="3200400"/>
            <a:ext cx="3200400" cy="3200400"/>
          </a:xfrm>
          <a:prstGeom prst="ellipse">
            <a:avLst/>
          </a:prstGeom>
          <a:solidFill>
            <a:srgbClr val="0D9488">
              <a:alpha val="9000"/>
            </a:srgbClr>
          </a:solidFill>
          <a:ln w="12700">
            <a:solidFill>
              <a:srgbClr val="0D9488">
                <a:alpha val="9000"/>
              </a:srgbClr>
            </a:solidFill>
            <a:prstDash val="solid"/>
          </a:ln>
        </p:spPr>
      </p:sp>
      <p:sp>
        <p:nvSpPr>
          <p:cNvPr id="5" name="Shape 3"/>
          <p:cNvSpPr/>
          <p:nvPr/>
        </p:nvSpPr>
        <p:spPr>
          <a:xfrm>
            <a:off x="0" y="0"/>
            <a:ext cx="9144000" cy="64008"/>
          </a:xfrm>
          <a:prstGeom prst="rect">
            <a:avLst/>
          </a:prstGeom>
          <a:solidFill>
            <a:srgbClr val="06B6D4"/>
          </a:solidFill>
          <a:ln w="12700">
            <a:solidFill>
              <a:srgbClr val="06B6D4"/>
            </a:solidFill>
            <a:prstDash val="solid"/>
          </a:ln>
        </p:spPr>
      </p:sp>
      <p:sp>
        <p:nvSpPr>
          <p:cNvPr id="6" name="Shape 4"/>
          <p:cNvSpPr/>
          <p:nvPr/>
        </p:nvSpPr>
        <p:spPr>
          <a:xfrm>
            <a:off x="0" y="5079492"/>
            <a:ext cx="9144000" cy="64008"/>
          </a:xfrm>
          <a:prstGeom prst="rect">
            <a:avLst/>
          </a:prstGeom>
          <a:solidFill>
            <a:srgbClr val="0D9488"/>
          </a:solidFill>
          <a:ln w="12700">
            <a:solidFill>
              <a:srgbClr val="0D9488"/>
            </a:solidFill>
            <a:prstDash val="solid"/>
          </a:ln>
        </p:spPr>
      </p:sp>
      <p:sp>
        <p:nvSpPr>
          <p:cNvPr id="7" name="Text 5"/>
          <p:cNvSpPr/>
          <p:nvPr/>
        </p:nvSpPr>
        <p:spPr>
          <a:xfrm>
            <a:off x="457200" y="274320"/>
            <a:ext cx="8229600" cy="1737360"/>
          </a:xfrm>
          <a:prstGeom prst="rect">
            <a:avLst/>
          </a:prstGeom>
          <a:noFill/>
          <a:ln/>
        </p:spPr>
        <p:txBody>
          <a:bodyPr wrap="square" rtlCol="0" anchor="ctr"/>
          <a:lstStyle/>
          <a:p>
            <a:pPr algn="ctr" indent="0" marL="0">
              <a:buNone/>
            </a:pPr>
            <a:r>
              <a:rPr lang="en-US" sz="10000" b="1" dirty="0">
                <a:solidFill>
                  <a:srgbClr val="1A56DB">
                    <a:alpha val="88000"/>
                  </a:srgbClr>
                </a:solidFill>
                <a:latin typeface="Arial Black" pitchFamily="34" charset="0"/>
                <a:ea typeface="Arial Black" pitchFamily="34" charset="-122"/>
                <a:cs typeface="Arial Black" pitchFamily="34" charset="-120"/>
              </a:rPr>
              <a:t>LLM</a:t>
            </a:r>
            <a:endParaRPr lang="en-US" sz="10000" dirty="0"/>
          </a:p>
        </p:txBody>
      </p:sp>
      <p:sp>
        <p:nvSpPr>
          <p:cNvPr id="8" name="Text 6"/>
          <p:cNvSpPr/>
          <p:nvPr/>
        </p:nvSpPr>
        <p:spPr>
          <a:xfrm>
            <a:off x="457200" y="1920240"/>
            <a:ext cx="8229600" cy="640080"/>
          </a:xfrm>
          <a:prstGeom prst="rect">
            <a:avLst/>
          </a:prstGeom>
          <a:noFill/>
          <a:ln/>
        </p:spPr>
        <p:txBody>
          <a:bodyPr wrap="square" rtlCol="0" anchor="ctr"/>
          <a:lstStyle/>
          <a:p>
            <a:pPr algn="ctr" indent="0" marL="0">
              <a:buNone/>
            </a:pPr>
            <a:r>
              <a:rPr lang="en-US" sz="3200" b="1" dirty="0">
                <a:solidFill>
                  <a:srgbClr val="FFFFFF"/>
                </a:solidFill>
                <a:latin typeface="Calibri" pitchFamily="34" charset="0"/>
                <a:ea typeface="Calibri" pitchFamily="34" charset="-122"/>
                <a:cs typeface="Calibri" pitchFamily="34" charset="-120"/>
              </a:rPr>
              <a:t>Large Language Models</a:t>
            </a:r>
            <a:endParaRPr lang="en-US" sz="3200" dirty="0"/>
          </a:p>
        </p:txBody>
      </p:sp>
      <p:sp>
        <p:nvSpPr>
          <p:cNvPr id="9" name="Text 7"/>
          <p:cNvSpPr/>
          <p:nvPr/>
        </p:nvSpPr>
        <p:spPr>
          <a:xfrm>
            <a:off x="457200" y="2606040"/>
            <a:ext cx="8229600" cy="365760"/>
          </a:xfrm>
          <a:prstGeom prst="rect">
            <a:avLst/>
          </a:prstGeom>
          <a:noFill/>
          <a:ln/>
        </p:spPr>
        <p:txBody>
          <a:bodyPr wrap="square" rtlCol="0" anchor="ctr"/>
          <a:lstStyle/>
          <a:p>
            <a:pPr algn="ctr" indent="0" marL="0">
              <a:buNone/>
            </a:pPr>
            <a:r>
              <a:rPr lang="en-US" sz="1800" i="1" dirty="0">
                <a:solidFill>
                  <a:srgbClr val="06B6D4"/>
                </a:solidFill>
                <a:latin typeface="Calibri" pitchFamily="34" charset="0"/>
                <a:ea typeface="Calibri" pitchFamily="34" charset="-122"/>
                <a:cs typeface="Calibri" pitchFamily="34" charset="-120"/>
              </a:rPr>
              <a:t>A Comprehensive Overview</a:t>
            </a:r>
            <a:endParaRPr lang="en-US" sz="1800" dirty="0"/>
          </a:p>
        </p:txBody>
      </p:sp>
      <p:sp>
        <p:nvSpPr>
          <p:cNvPr id="10" name="Shape 8"/>
          <p:cNvSpPr/>
          <p:nvPr/>
        </p:nvSpPr>
        <p:spPr>
          <a:xfrm>
            <a:off x="18288" y="3291840"/>
            <a:ext cx="716280" cy="457200"/>
          </a:xfrm>
          <a:prstGeom prst="rect">
            <a:avLst/>
          </a:prstGeom>
          <a:solidFill>
            <a:srgbClr val="141E35"/>
          </a:solidFill>
          <a:ln w="12700">
            <a:solidFill>
              <a:srgbClr val="1A56DB"/>
            </a:solidFill>
            <a:prstDash val="solid"/>
          </a:ln>
        </p:spPr>
      </p:sp>
      <p:sp>
        <p:nvSpPr>
          <p:cNvPr id="11" name="Text 9"/>
          <p:cNvSpPr/>
          <p:nvPr/>
        </p:nvSpPr>
        <p:spPr>
          <a:xfrm>
            <a:off x="18288" y="3310128"/>
            <a:ext cx="716280" cy="420624"/>
          </a:xfrm>
          <a:prstGeom prst="rect">
            <a:avLst/>
          </a:prstGeom>
          <a:noFill/>
          <a:ln/>
        </p:spPr>
        <p:txBody>
          <a:bodyPr wrap="square" lIns="12700" tIns="12700" rIns="12700" bIns="12700" rtlCol="0" anchor="ctr"/>
          <a:lstStyle/>
          <a:p>
            <a:pPr algn="ctr" indent="0" marL="0">
              <a:buNone/>
            </a:pPr>
            <a:r>
              <a:rPr lang="en-US" sz="700" b="1" dirty="0">
                <a:solidFill>
                  <a:srgbClr val="06B6D4"/>
                </a:solidFill>
                <a:latin typeface="Calibri" pitchFamily="34" charset="0"/>
                <a:ea typeface="Calibri" pitchFamily="34" charset="-122"/>
                <a:cs typeface="Calibri" pitchFamily="34" charset="-120"/>
              </a:rPr>
              <a:t>Introduction</a:t>
            </a:r>
            <a:endParaRPr lang="en-US" sz="700" dirty="0"/>
          </a:p>
        </p:txBody>
      </p:sp>
      <p:sp>
        <p:nvSpPr>
          <p:cNvPr id="12" name="Shape 10"/>
          <p:cNvSpPr/>
          <p:nvPr/>
        </p:nvSpPr>
        <p:spPr>
          <a:xfrm>
            <a:off x="780288" y="3291840"/>
            <a:ext cx="716280" cy="457200"/>
          </a:xfrm>
          <a:prstGeom prst="rect">
            <a:avLst/>
          </a:prstGeom>
          <a:solidFill>
            <a:srgbClr val="141E35"/>
          </a:solidFill>
          <a:ln w="12700">
            <a:solidFill>
              <a:srgbClr val="1A56DB"/>
            </a:solidFill>
            <a:prstDash val="solid"/>
          </a:ln>
        </p:spPr>
      </p:sp>
      <p:sp>
        <p:nvSpPr>
          <p:cNvPr id="13" name="Text 11"/>
          <p:cNvSpPr/>
          <p:nvPr/>
        </p:nvSpPr>
        <p:spPr>
          <a:xfrm>
            <a:off x="780288" y="3310128"/>
            <a:ext cx="716280" cy="420624"/>
          </a:xfrm>
          <a:prstGeom prst="rect">
            <a:avLst/>
          </a:prstGeom>
          <a:noFill/>
          <a:ln/>
        </p:spPr>
        <p:txBody>
          <a:bodyPr wrap="square" lIns="12700" tIns="12700" rIns="12700" bIns="12700" rtlCol="0" anchor="ctr"/>
          <a:lstStyle/>
          <a:p>
            <a:pPr algn="ctr" indent="0" marL="0">
              <a:buNone/>
            </a:pPr>
            <a:r>
              <a:rPr lang="en-US" sz="700" b="1" dirty="0">
                <a:solidFill>
                  <a:srgbClr val="06B6D4"/>
                </a:solidFill>
                <a:latin typeface="Calibri" pitchFamily="34" charset="0"/>
                <a:ea typeface="Calibri" pitchFamily="34" charset="-122"/>
                <a:cs typeface="Calibri" pitchFamily="34" charset="-120"/>
              </a:rPr>
              <a:t>History</a:t>
            </a:r>
            <a:endParaRPr lang="en-US" sz="700" dirty="0"/>
          </a:p>
        </p:txBody>
      </p:sp>
      <p:sp>
        <p:nvSpPr>
          <p:cNvPr id="14" name="Shape 12"/>
          <p:cNvSpPr/>
          <p:nvPr/>
        </p:nvSpPr>
        <p:spPr>
          <a:xfrm>
            <a:off x="1542288" y="3291840"/>
            <a:ext cx="716280" cy="457200"/>
          </a:xfrm>
          <a:prstGeom prst="rect">
            <a:avLst/>
          </a:prstGeom>
          <a:solidFill>
            <a:srgbClr val="141E35"/>
          </a:solidFill>
          <a:ln w="12700">
            <a:solidFill>
              <a:srgbClr val="1A56DB"/>
            </a:solidFill>
            <a:prstDash val="solid"/>
          </a:ln>
        </p:spPr>
      </p:sp>
      <p:sp>
        <p:nvSpPr>
          <p:cNvPr id="15" name="Text 13"/>
          <p:cNvSpPr/>
          <p:nvPr/>
        </p:nvSpPr>
        <p:spPr>
          <a:xfrm>
            <a:off x="1542288" y="3310128"/>
            <a:ext cx="716280" cy="420624"/>
          </a:xfrm>
          <a:prstGeom prst="rect">
            <a:avLst/>
          </a:prstGeom>
          <a:noFill/>
          <a:ln/>
        </p:spPr>
        <p:txBody>
          <a:bodyPr wrap="square" lIns="12700" tIns="12700" rIns="12700" bIns="12700" rtlCol="0" anchor="ctr"/>
          <a:lstStyle/>
          <a:p>
            <a:pPr algn="ctr" indent="0" marL="0">
              <a:buNone/>
            </a:pPr>
            <a:r>
              <a:rPr lang="en-US" sz="700" b="1" dirty="0">
                <a:solidFill>
                  <a:srgbClr val="06B6D4"/>
                </a:solidFill>
                <a:latin typeface="Calibri" pitchFamily="34" charset="0"/>
                <a:ea typeface="Calibri" pitchFamily="34" charset="-122"/>
                <a:cs typeface="Calibri" pitchFamily="34" charset="-120"/>
              </a:rPr>
              <a:t>Architecture</a:t>
            </a:r>
            <a:endParaRPr lang="en-US" sz="700" dirty="0"/>
          </a:p>
        </p:txBody>
      </p:sp>
      <p:sp>
        <p:nvSpPr>
          <p:cNvPr id="16" name="Shape 14"/>
          <p:cNvSpPr/>
          <p:nvPr/>
        </p:nvSpPr>
        <p:spPr>
          <a:xfrm>
            <a:off x="2304288" y="3291840"/>
            <a:ext cx="716280" cy="457200"/>
          </a:xfrm>
          <a:prstGeom prst="rect">
            <a:avLst/>
          </a:prstGeom>
          <a:solidFill>
            <a:srgbClr val="141E35"/>
          </a:solidFill>
          <a:ln w="12700">
            <a:solidFill>
              <a:srgbClr val="1A56DB"/>
            </a:solidFill>
            <a:prstDash val="solid"/>
          </a:ln>
        </p:spPr>
      </p:sp>
      <p:sp>
        <p:nvSpPr>
          <p:cNvPr id="17" name="Text 15"/>
          <p:cNvSpPr/>
          <p:nvPr/>
        </p:nvSpPr>
        <p:spPr>
          <a:xfrm>
            <a:off x="2304288" y="3310128"/>
            <a:ext cx="716280" cy="420624"/>
          </a:xfrm>
          <a:prstGeom prst="rect">
            <a:avLst/>
          </a:prstGeom>
          <a:noFill/>
          <a:ln/>
        </p:spPr>
        <p:txBody>
          <a:bodyPr wrap="square" lIns="12700" tIns="12700" rIns="12700" bIns="12700" rtlCol="0" anchor="ctr"/>
          <a:lstStyle/>
          <a:p>
            <a:pPr algn="ctr" indent="0" marL="0">
              <a:buNone/>
            </a:pPr>
            <a:r>
              <a:rPr lang="en-US" sz="700" b="1" dirty="0">
                <a:solidFill>
                  <a:srgbClr val="06B6D4"/>
                </a:solidFill>
                <a:latin typeface="Calibri" pitchFamily="34" charset="0"/>
                <a:ea typeface="Calibri" pitchFamily="34" charset="-122"/>
                <a:cs typeface="Calibri" pitchFamily="34" charset="-120"/>
              </a:rPr>
              <a:t>Training</a:t>
            </a:r>
            <a:endParaRPr lang="en-US" sz="700" dirty="0"/>
          </a:p>
        </p:txBody>
      </p:sp>
      <p:sp>
        <p:nvSpPr>
          <p:cNvPr id="18" name="Shape 16"/>
          <p:cNvSpPr/>
          <p:nvPr/>
        </p:nvSpPr>
        <p:spPr>
          <a:xfrm>
            <a:off x="3066288" y="3291840"/>
            <a:ext cx="716280" cy="457200"/>
          </a:xfrm>
          <a:prstGeom prst="rect">
            <a:avLst/>
          </a:prstGeom>
          <a:solidFill>
            <a:srgbClr val="141E35"/>
          </a:solidFill>
          <a:ln w="12700">
            <a:solidFill>
              <a:srgbClr val="1A56DB"/>
            </a:solidFill>
            <a:prstDash val="solid"/>
          </a:ln>
        </p:spPr>
      </p:sp>
      <p:sp>
        <p:nvSpPr>
          <p:cNvPr id="19" name="Text 17"/>
          <p:cNvSpPr/>
          <p:nvPr/>
        </p:nvSpPr>
        <p:spPr>
          <a:xfrm>
            <a:off x="3066288" y="3310128"/>
            <a:ext cx="716280" cy="420624"/>
          </a:xfrm>
          <a:prstGeom prst="rect">
            <a:avLst/>
          </a:prstGeom>
          <a:noFill/>
          <a:ln/>
        </p:spPr>
        <p:txBody>
          <a:bodyPr wrap="square" lIns="12700" tIns="12700" rIns="12700" bIns="12700" rtlCol="0" anchor="ctr"/>
          <a:lstStyle/>
          <a:p>
            <a:pPr algn="ctr" indent="0" marL="0">
              <a:buNone/>
            </a:pPr>
            <a:r>
              <a:rPr lang="en-US" sz="700" b="1" dirty="0">
                <a:solidFill>
                  <a:srgbClr val="06B6D4"/>
                </a:solidFill>
                <a:latin typeface="Calibri" pitchFamily="34" charset="0"/>
                <a:ea typeface="Calibri" pitchFamily="34" charset="-122"/>
                <a:cs typeface="Calibri" pitchFamily="34" charset="-120"/>
              </a:rPr>
              <a:t>Fine-Tuning</a:t>
            </a:r>
            <a:endParaRPr lang="en-US" sz="700" dirty="0"/>
          </a:p>
        </p:txBody>
      </p:sp>
      <p:sp>
        <p:nvSpPr>
          <p:cNvPr id="20" name="Shape 18"/>
          <p:cNvSpPr/>
          <p:nvPr/>
        </p:nvSpPr>
        <p:spPr>
          <a:xfrm>
            <a:off x="3828288" y="3291840"/>
            <a:ext cx="716280" cy="457200"/>
          </a:xfrm>
          <a:prstGeom prst="rect">
            <a:avLst/>
          </a:prstGeom>
          <a:solidFill>
            <a:srgbClr val="141E35"/>
          </a:solidFill>
          <a:ln w="12700">
            <a:solidFill>
              <a:srgbClr val="1A56DB"/>
            </a:solidFill>
            <a:prstDash val="solid"/>
          </a:ln>
        </p:spPr>
      </p:sp>
      <p:sp>
        <p:nvSpPr>
          <p:cNvPr id="21" name="Text 19"/>
          <p:cNvSpPr/>
          <p:nvPr/>
        </p:nvSpPr>
        <p:spPr>
          <a:xfrm>
            <a:off x="3828288" y="3310128"/>
            <a:ext cx="716280" cy="420624"/>
          </a:xfrm>
          <a:prstGeom prst="rect">
            <a:avLst/>
          </a:prstGeom>
          <a:noFill/>
          <a:ln/>
        </p:spPr>
        <p:txBody>
          <a:bodyPr wrap="square" lIns="12700" tIns="12700" rIns="12700" bIns="12700" rtlCol="0" anchor="ctr"/>
          <a:lstStyle/>
          <a:p>
            <a:pPr algn="ctr" indent="0" marL="0">
              <a:buNone/>
            </a:pPr>
            <a:r>
              <a:rPr lang="en-US" sz="700" b="1" dirty="0">
                <a:solidFill>
                  <a:srgbClr val="06B6D4"/>
                </a:solidFill>
                <a:latin typeface="Calibri" pitchFamily="34" charset="0"/>
                <a:ea typeface="Calibri" pitchFamily="34" charset="-122"/>
                <a:cs typeface="Calibri" pitchFamily="34" charset="-120"/>
              </a:rPr>
              <a:t>Benchmarks</a:t>
            </a:r>
            <a:endParaRPr lang="en-US" sz="700" dirty="0"/>
          </a:p>
        </p:txBody>
      </p:sp>
      <p:sp>
        <p:nvSpPr>
          <p:cNvPr id="22" name="Shape 20"/>
          <p:cNvSpPr/>
          <p:nvPr/>
        </p:nvSpPr>
        <p:spPr>
          <a:xfrm>
            <a:off x="4590288" y="3291840"/>
            <a:ext cx="716280" cy="457200"/>
          </a:xfrm>
          <a:prstGeom prst="rect">
            <a:avLst/>
          </a:prstGeom>
          <a:solidFill>
            <a:srgbClr val="141E35"/>
          </a:solidFill>
          <a:ln w="12700">
            <a:solidFill>
              <a:srgbClr val="1A56DB"/>
            </a:solidFill>
            <a:prstDash val="solid"/>
          </a:ln>
        </p:spPr>
      </p:sp>
      <p:sp>
        <p:nvSpPr>
          <p:cNvPr id="23" name="Text 21"/>
          <p:cNvSpPr/>
          <p:nvPr/>
        </p:nvSpPr>
        <p:spPr>
          <a:xfrm>
            <a:off x="4590288" y="3310128"/>
            <a:ext cx="716280" cy="420624"/>
          </a:xfrm>
          <a:prstGeom prst="rect">
            <a:avLst/>
          </a:prstGeom>
          <a:noFill/>
          <a:ln/>
        </p:spPr>
        <p:txBody>
          <a:bodyPr wrap="square" lIns="12700" tIns="12700" rIns="12700" bIns="12700" rtlCol="0" anchor="ctr"/>
          <a:lstStyle/>
          <a:p>
            <a:pPr algn="ctr" indent="0" marL="0">
              <a:buNone/>
            </a:pPr>
            <a:r>
              <a:rPr lang="en-US" sz="700" b="1" dirty="0">
                <a:solidFill>
                  <a:srgbClr val="06B6D4"/>
                </a:solidFill>
                <a:latin typeface="Calibri" pitchFamily="34" charset="0"/>
                <a:ea typeface="Calibri" pitchFamily="34" charset="-122"/>
                <a:cs typeface="Calibri" pitchFamily="34" charset="-120"/>
              </a:rPr>
              <a:t>Applications</a:t>
            </a:r>
            <a:endParaRPr lang="en-US" sz="700" dirty="0"/>
          </a:p>
        </p:txBody>
      </p:sp>
      <p:sp>
        <p:nvSpPr>
          <p:cNvPr id="24" name="Shape 22"/>
          <p:cNvSpPr/>
          <p:nvPr/>
        </p:nvSpPr>
        <p:spPr>
          <a:xfrm>
            <a:off x="5352288" y="3291840"/>
            <a:ext cx="716280" cy="457200"/>
          </a:xfrm>
          <a:prstGeom prst="rect">
            <a:avLst/>
          </a:prstGeom>
          <a:solidFill>
            <a:srgbClr val="141E35"/>
          </a:solidFill>
          <a:ln w="12700">
            <a:solidFill>
              <a:srgbClr val="1A56DB"/>
            </a:solidFill>
            <a:prstDash val="solid"/>
          </a:ln>
        </p:spPr>
      </p:sp>
      <p:sp>
        <p:nvSpPr>
          <p:cNvPr id="25" name="Text 23"/>
          <p:cNvSpPr/>
          <p:nvPr/>
        </p:nvSpPr>
        <p:spPr>
          <a:xfrm>
            <a:off x="5352288" y="3310128"/>
            <a:ext cx="716280" cy="420624"/>
          </a:xfrm>
          <a:prstGeom prst="rect">
            <a:avLst/>
          </a:prstGeom>
          <a:noFill/>
          <a:ln/>
        </p:spPr>
        <p:txBody>
          <a:bodyPr wrap="square" lIns="12700" tIns="12700" rIns="12700" bIns="12700" rtlCol="0" anchor="ctr"/>
          <a:lstStyle/>
          <a:p>
            <a:pPr algn="ctr" indent="0" marL="0">
              <a:buNone/>
            </a:pPr>
            <a:r>
              <a:rPr lang="en-US" sz="700" b="1" dirty="0">
                <a:solidFill>
                  <a:srgbClr val="06B6D4"/>
                </a:solidFill>
                <a:latin typeface="Calibri" pitchFamily="34" charset="0"/>
                <a:ea typeface="Calibri" pitchFamily="34" charset="-122"/>
                <a:cs typeface="Calibri" pitchFamily="34" charset="-120"/>
              </a:rPr>
              <a:t>Challenges</a:t>
            </a:r>
            <a:endParaRPr lang="en-US" sz="700" dirty="0"/>
          </a:p>
        </p:txBody>
      </p:sp>
      <p:sp>
        <p:nvSpPr>
          <p:cNvPr id="26" name="Shape 24"/>
          <p:cNvSpPr/>
          <p:nvPr/>
        </p:nvSpPr>
        <p:spPr>
          <a:xfrm>
            <a:off x="6114288" y="3291840"/>
            <a:ext cx="716280" cy="457200"/>
          </a:xfrm>
          <a:prstGeom prst="rect">
            <a:avLst/>
          </a:prstGeom>
          <a:solidFill>
            <a:srgbClr val="141E35"/>
          </a:solidFill>
          <a:ln w="12700">
            <a:solidFill>
              <a:srgbClr val="1A56DB"/>
            </a:solidFill>
            <a:prstDash val="solid"/>
          </a:ln>
        </p:spPr>
      </p:sp>
      <p:sp>
        <p:nvSpPr>
          <p:cNvPr id="27" name="Text 25"/>
          <p:cNvSpPr/>
          <p:nvPr/>
        </p:nvSpPr>
        <p:spPr>
          <a:xfrm>
            <a:off x="6114288" y="3310128"/>
            <a:ext cx="716280" cy="420624"/>
          </a:xfrm>
          <a:prstGeom prst="rect">
            <a:avLst/>
          </a:prstGeom>
          <a:noFill/>
          <a:ln/>
        </p:spPr>
        <p:txBody>
          <a:bodyPr wrap="square" lIns="12700" tIns="12700" rIns="12700" bIns="12700" rtlCol="0" anchor="ctr"/>
          <a:lstStyle/>
          <a:p>
            <a:pPr algn="ctr" indent="0" marL="0">
              <a:buNone/>
            </a:pPr>
            <a:r>
              <a:rPr lang="en-US" sz="700" b="1" dirty="0">
                <a:solidFill>
                  <a:srgbClr val="06B6D4"/>
                </a:solidFill>
                <a:latin typeface="Calibri" pitchFamily="34" charset="0"/>
                <a:ea typeface="Calibri" pitchFamily="34" charset="-122"/>
                <a:cs typeface="Calibri" pitchFamily="34" charset="-120"/>
              </a:rPr>
              <a:t>Ethics</a:t>
            </a:r>
            <a:endParaRPr lang="en-US" sz="700" dirty="0"/>
          </a:p>
        </p:txBody>
      </p:sp>
      <p:sp>
        <p:nvSpPr>
          <p:cNvPr id="28" name="Shape 26"/>
          <p:cNvSpPr/>
          <p:nvPr/>
        </p:nvSpPr>
        <p:spPr>
          <a:xfrm>
            <a:off x="6876288" y="3291840"/>
            <a:ext cx="716280" cy="457200"/>
          </a:xfrm>
          <a:prstGeom prst="rect">
            <a:avLst/>
          </a:prstGeom>
          <a:solidFill>
            <a:srgbClr val="141E35"/>
          </a:solidFill>
          <a:ln w="12700">
            <a:solidFill>
              <a:srgbClr val="1A56DB"/>
            </a:solidFill>
            <a:prstDash val="solid"/>
          </a:ln>
        </p:spPr>
      </p:sp>
      <p:sp>
        <p:nvSpPr>
          <p:cNvPr id="29" name="Text 27"/>
          <p:cNvSpPr/>
          <p:nvPr/>
        </p:nvSpPr>
        <p:spPr>
          <a:xfrm>
            <a:off x="6876288" y="3310128"/>
            <a:ext cx="716280" cy="420624"/>
          </a:xfrm>
          <a:prstGeom prst="rect">
            <a:avLst/>
          </a:prstGeom>
          <a:noFill/>
          <a:ln/>
        </p:spPr>
        <p:txBody>
          <a:bodyPr wrap="square" lIns="12700" tIns="12700" rIns="12700" bIns="12700" rtlCol="0" anchor="ctr"/>
          <a:lstStyle/>
          <a:p>
            <a:pPr algn="ctr" indent="0" marL="0">
              <a:buNone/>
            </a:pPr>
            <a:r>
              <a:rPr lang="en-US" sz="700" b="1" dirty="0">
                <a:solidFill>
                  <a:srgbClr val="06B6D4"/>
                </a:solidFill>
                <a:latin typeface="Calibri" pitchFamily="34" charset="0"/>
                <a:ea typeface="Calibri" pitchFamily="34" charset="-122"/>
                <a:cs typeface="Calibri" pitchFamily="34" charset="-120"/>
              </a:rPr>
              <a:t>Security</a:t>
            </a:r>
            <a:endParaRPr lang="en-US" sz="700" dirty="0"/>
          </a:p>
        </p:txBody>
      </p:sp>
      <p:sp>
        <p:nvSpPr>
          <p:cNvPr id="30" name="Shape 28"/>
          <p:cNvSpPr/>
          <p:nvPr/>
        </p:nvSpPr>
        <p:spPr>
          <a:xfrm>
            <a:off x="7638288" y="3291840"/>
            <a:ext cx="716280" cy="457200"/>
          </a:xfrm>
          <a:prstGeom prst="rect">
            <a:avLst/>
          </a:prstGeom>
          <a:solidFill>
            <a:srgbClr val="141E35"/>
          </a:solidFill>
          <a:ln w="12700">
            <a:solidFill>
              <a:srgbClr val="1A56DB"/>
            </a:solidFill>
            <a:prstDash val="solid"/>
          </a:ln>
        </p:spPr>
      </p:sp>
      <p:sp>
        <p:nvSpPr>
          <p:cNvPr id="31" name="Text 29"/>
          <p:cNvSpPr/>
          <p:nvPr/>
        </p:nvSpPr>
        <p:spPr>
          <a:xfrm>
            <a:off x="7638288" y="3310128"/>
            <a:ext cx="716280" cy="420624"/>
          </a:xfrm>
          <a:prstGeom prst="rect">
            <a:avLst/>
          </a:prstGeom>
          <a:noFill/>
          <a:ln/>
        </p:spPr>
        <p:txBody>
          <a:bodyPr wrap="square" lIns="12700" tIns="12700" rIns="12700" bIns="12700" rtlCol="0" anchor="ctr"/>
          <a:lstStyle/>
          <a:p>
            <a:pPr algn="ctr" indent="0" marL="0">
              <a:buNone/>
            </a:pPr>
            <a:r>
              <a:rPr lang="en-US" sz="700" b="1" dirty="0">
                <a:solidFill>
                  <a:srgbClr val="06B6D4"/>
                </a:solidFill>
                <a:latin typeface="Calibri" pitchFamily="34" charset="0"/>
                <a:ea typeface="Calibri" pitchFamily="34" charset="-122"/>
                <a:cs typeface="Calibri" pitchFamily="34" charset="-120"/>
              </a:rPr>
              <a:t>RAG &amp; Tools</a:t>
            </a:r>
            <a:endParaRPr lang="en-US" sz="700" dirty="0"/>
          </a:p>
        </p:txBody>
      </p:sp>
      <p:sp>
        <p:nvSpPr>
          <p:cNvPr id="32" name="Shape 30"/>
          <p:cNvSpPr/>
          <p:nvPr/>
        </p:nvSpPr>
        <p:spPr>
          <a:xfrm>
            <a:off x="8400288" y="3291840"/>
            <a:ext cx="716280" cy="457200"/>
          </a:xfrm>
          <a:prstGeom prst="rect">
            <a:avLst/>
          </a:prstGeom>
          <a:solidFill>
            <a:srgbClr val="141E35"/>
          </a:solidFill>
          <a:ln w="12700">
            <a:solidFill>
              <a:srgbClr val="1A56DB"/>
            </a:solidFill>
            <a:prstDash val="solid"/>
          </a:ln>
        </p:spPr>
      </p:sp>
      <p:sp>
        <p:nvSpPr>
          <p:cNvPr id="33" name="Text 31"/>
          <p:cNvSpPr/>
          <p:nvPr/>
        </p:nvSpPr>
        <p:spPr>
          <a:xfrm>
            <a:off x="8400288" y="3310128"/>
            <a:ext cx="716280" cy="420624"/>
          </a:xfrm>
          <a:prstGeom prst="rect">
            <a:avLst/>
          </a:prstGeom>
          <a:noFill/>
          <a:ln/>
        </p:spPr>
        <p:txBody>
          <a:bodyPr wrap="square" lIns="12700" tIns="12700" rIns="12700" bIns="12700" rtlCol="0" anchor="ctr"/>
          <a:lstStyle/>
          <a:p>
            <a:pPr algn="ctr" indent="0" marL="0">
              <a:buNone/>
            </a:pPr>
            <a:r>
              <a:rPr lang="en-US" sz="700" b="1" dirty="0">
                <a:solidFill>
                  <a:srgbClr val="06B6D4"/>
                </a:solidFill>
                <a:latin typeface="Calibri" pitchFamily="34" charset="0"/>
                <a:ea typeface="Calibri" pitchFamily="34" charset="-122"/>
                <a:cs typeface="Calibri" pitchFamily="34" charset="-120"/>
              </a:rPr>
              <a:t>Future Scope</a:t>
            </a:r>
            <a:endParaRPr lang="en-US" sz="700" dirty="0"/>
          </a:p>
        </p:txBody>
      </p:sp>
      <p:sp>
        <p:nvSpPr>
          <p:cNvPr id="34" name="Text 32"/>
          <p:cNvSpPr/>
          <p:nvPr/>
        </p:nvSpPr>
        <p:spPr>
          <a:xfrm>
            <a:off x="0" y="3931920"/>
            <a:ext cx="9144000" cy="365760"/>
          </a:xfrm>
          <a:prstGeom prst="rect">
            <a:avLst/>
          </a:prstGeom>
          <a:noFill/>
          <a:ln/>
        </p:spPr>
        <p:txBody>
          <a:bodyPr wrap="square" rtlCol="0" anchor="ctr"/>
          <a:lstStyle/>
          <a:p>
            <a:pPr algn="ctr" indent="0" marL="0">
              <a:buNone/>
            </a:pPr>
            <a:r>
              <a:rPr lang="en-US" sz="1000" i="1" dirty="0">
                <a:solidFill>
                  <a:srgbClr val="94A3B8"/>
                </a:solidFill>
                <a:latin typeface="Calibri" pitchFamily="34" charset="0"/>
                <a:ea typeface="Calibri" pitchFamily="34" charset="-122"/>
                <a:cs typeface="Calibri" pitchFamily="34" charset="-120"/>
              </a:rPr>
              <a:t>AI-Powered Intelligence  •  Natural Language Processing  •  Deep Learning  •  Transformer Architecture</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0F6FF"/>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D1B3E"/>
          </a:solidFill>
          <a:ln w="12700">
            <a:solidFill>
              <a:srgbClr val="0D1B3E"/>
            </a:solidFill>
            <a:prstDash val="solid"/>
          </a:ln>
        </p:spPr>
      </p:sp>
      <p:sp>
        <p:nvSpPr>
          <p:cNvPr id="3" name="Shape 1"/>
          <p:cNvSpPr/>
          <p:nvPr/>
        </p:nvSpPr>
        <p:spPr>
          <a:xfrm>
            <a:off x="0" y="914400"/>
            <a:ext cx="9144000" cy="45720"/>
          </a:xfrm>
          <a:prstGeom prst="rect">
            <a:avLst/>
          </a:prstGeom>
          <a:solidFill>
            <a:srgbClr val="1A56DB"/>
          </a:solidFill>
          <a:ln w="12700">
            <a:solidFill>
              <a:srgbClr val="1A56DB"/>
            </a:solidFill>
            <a:prstDash val="solid"/>
          </a:ln>
        </p:spPr>
      </p:sp>
      <p:pic>
        <p:nvPicPr>
          <p:cNvPr id="4" name="Image 0" descr="preencoded.png">    </p:cNvPr>
          <p:cNvPicPr>
            <a:picLocks noChangeAspect="1"/>
          </p:cNvPicPr>
          <p:nvPr/>
        </p:nvPicPr>
        <p:blipFill>
          <a:blip r:embed="rId1"/>
          <a:stretch>
            <a:fillRect/>
          </a:stretch>
        </p:blipFill>
        <p:spPr>
          <a:xfrm>
            <a:off x="228600" y="182880"/>
            <a:ext cx="502920" cy="502920"/>
          </a:xfrm>
          <a:prstGeom prst="rect">
            <a:avLst/>
          </a:prstGeom>
        </p:spPr>
      </p:pic>
      <p:sp>
        <p:nvSpPr>
          <p:cNvPr id="5" name="Text 2"/>
          <p:cNvSpPr/>
          <p:nvPr/>
        </p:nvSpPr>
        <p:spPr>
          <a:xfrm>
            <a:off x="822960" y="137160"/>
            <a:ext cx="8046720" cy="68580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What is a Large Language Model?</a:t>
            </a:r>
            <a:endParaRPr lang="en-US" sz="2600" dirty="0"/>
          </a:p>
        </p:txBody>
      </p:sp>
      <p:sp>
        <p:nvSpPr>
          <p:cNvPr id="6" name="Shape 3"/>
          <p:cNvSpPr/>
          <p:nvPr/>
        </p:nvSpPr>
        <p:spPr>
          <a:xfrm>
            <a:off x="274320" y="1005840"/>
            <a:ext cx="5303520" cy="3749040"/>
          </a:xfrm>
          <a:prstGeom prst="rect">
            <a:avLst/>
          </a:prstGeom>
          <a:solidFill>
            <a:srgbClr val="FFFFFF"/>
          </a:solidFill>
          <a:ln w="12700">
            <a:solidFill>
              <a:srgbClr val="DBEAFE"/>
            </a:solidFill>
            <a:prstDash val="solid"/>
          </a:ln>
          <a:effectLst>
            <a:outerShdw sx="100000" sy="100000" kx="0" ky="0" algn="bl" rotWithShape="0" blurRad="101600" dist="38100" dir="8100000">
              <a:srgbClr val="000000">
                <a:alpha val="20000"/>
              </a:srgbClr>
            </a:outerShdw>
          </a:effectLst>
        </p:spPr>
      </p:sp>
      <p:sp>
        <p:nvSpPr>
          <p:cNvPr id="7" name="Shape 4"/>
          <p:cNvSpPr/>
          <p:nvPr/>
        </p:nvSpPr>
        <p:spPr>
          <a:xfrm>
            <a:off x="274320" y="1005840"/>
            <a:ext cx="5303520" cy="384048"/>
          </a:xfrm>
          <a:prstGeom prst="rect">
            <a:avLst/>
          </a:prstGeom>
          <a:solidFill>
            <a:srgbClr val="1A56DB"/>
          </a:solidFill>
          <a:ln w="12700">
            <a:solidFill>
              <a:srgbClr val="1A56DB"/>
            </a:solidFill>
            <a:prstDash val="solid"/>
          </a:ln>
        </p:spPr>
      </p:sp>
      <p:sp>
        <p:nvSpPr>
          <p:cNvPr id="8" name="Text 5"/>
          <p:cNvSpPr/>
          <p:nvPr/>
        </p:nvSpPr>
        <p:spPr>
          <a:xfrm>
            <a:off x="320040" y="1024128"/>
            <a:ext cx="5212080" cy="347472"/>
          </a:xfrm>
          <a:prstGeom prst="rect">
            <a:avLst/>
          </a:prstGeom>
          <a:noFill/>
          <a:ln/>
        </p:spPr>
        <p:txBody>
          <a:bodyPr wrap="square" lIns="50800" tIns="50800" rIns="50800" bIns="5080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Definition</a:t>
            </a:r>
            <a:endParaRPr lang="en-US" sz="1300" dirty="0"/>
          </a:p>
        </p:txBody>
      </p:sp>
      <p:sp>
        <p:nvSpPr>
          <p:cNvPr id="9" name="Text 6"/>
          <p:cNvSpPr/>
          <p:nvPr/>
        </p:nvSpPr>
        <p:spPr>
          <a:xfrm>
            <a:off x="365760" y="1463040"/>
            <a:ext cx="5166360" cy="1371600"/>
          </a:xfrm>
          <a:prstGeom prst="rect">
            <a:avLst/>
          </a:prstGeom>
          <a:noFill/>
          <a:ln/>
        </p:spPr>
        <p:txBody>
          <a:bodyPr wrap="square" lIns="76200" tIns="76200" rIns="76200" bIns="76200" rtlCol="0" anchor="ctr"/>
          <a:lstStyle/>
          <a:p>
            <a:pPr indent="0" marL="0">
              <a:buNone/>
            </a:pPr>
            <a:r>
              <a:rPr lang="en-US" sz="1150" dirty="0">
                <a:solidFill>
                  <a:srgbClr val="1E2D4E"/>
                </a:solidFill>
                <a:latin typeface="Calibri" pitchFamily="34" charset="0"/>
                <a:ea typeface="Calibri" pitchFamily="34" charset="-122"/>
                <a:cs typeface="Calibri" pitchFamily="34" charset="-120"/>
              </a:rPr>
              <a:t>A Large Language Model (LLM) is a deep learning model trained on massive amounts of text data to understand, generate, and reason with human language. LLMs are built on the Transformer architecture and use billions to trillions of parameters to capture statistical patterns, semantic relationships, and world knowledge embedded in text.</a:t>
            </a:r>
            <a:endParaRPr lang="en-US" sz="1150" dirty="0"/>
          </a:p>
        </p:txBody>
      </p:sp>
      <p:sp>
        <p:nvSpPr>
          <p:cNvPr id="10" name="Shape 7"/>
          <p:cNvSpPr/>
          <p:nvPr/>
        </p:nvSpPr>
        <p:spPr>
          <a:xfrm>
            <a:off x="365760" y="2926080"/>
            <a:ext cx="1554480" cy="329184"/>
          </a:xfrm>
          <a:prstGeom prst="rect">
            <a:avLst/>
          </a:prstGeom>
          <a:solidFill>
            <a:srgbClr val="1A56DB"/>
          </a:solidFill>
          <a:ln w="12700">
            <a:solidFill>
              <a:srgbClr val="1A56DB"/>
            </a:solidFill>
            <a:prstDash val="solid"/>
          </a:ln>
        </p:spPr>
      </p:sp>
      <p:sp>
        <p:nvSpPr>
          <p:cNvPr id="11" name="Text 8"/>
          <p:cNvSpPr/>
          <p:nvPr/>
        </p:nvSpPr>
        <p:spPr>
          <a:xfrm>
            <a:off x="365760" y="2926080"/>
            <a:ext cx="1554480" cy="32918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Parameters</a:t>
            </a:r>
            <a:endParaRPr lang="en-US" sz="1000" dirty="0"/>
          </a:p>
        </p:txBody>
      </p:sp>
      <p:sp>
        <p:nvSpPr>
          <p:cNvPr id="12" name="Shape 9"/>
          <p:cNvSpPr/>
          <p:nvPr/>
        </p:nvSpPr>
        <p:spPr>
          <a:xfrm>
            <a:off x="1965960" y="2926080"/>
            <a:ext cx="3429000" cy="329184"/>
          </a:xfrm>
          <a:prstGeom prst="rect">
            <a:avLst/>
          </a:prstGeom>
          <a:solidFill>
            <a:srgbClr val="DBEAFE"/>
          </a:solidFill>
          <a:ln w="12700">
            <a:solidFill>
              <a:srgbClr val="1A56DB"/>
            </a:solidFill>
            <a:prstDash val="solid"/>
          </a:ln>
        </p:spPr>
      </p:sp>
      <p:sp>
        <p:nvSpPr>
          <p:cNvPr id="13" name="Text 10"/>
          <p:cNvSpPr/>
          <p:nvPr/>
        </p:nvSpPr>
        <p:spPr>
          <a:xfrm>
            <a:off x="1965960" y="2926080"/>
            <a:ext cx="3429000" cy="329184"/>
          </a:xfrm>
          <a:prstGeom prst="rect">
            <a:avLst/>
          </a:prstGeom>
          <a:noFill/>
          <a:ln/>
        </p:spPr>
        <p:txBody>
          <a:bodyPr wrap="square" lIns="50800" tIns="50800" rIns="50800" bIns="50800" rtlCol="0" anchor="ctr"/>
          <a:lstStyle/>
          <a:p>
            <a:pPr indent="0" marL="0">
              <a:buNone/>
            </a:pPr>
            <a:r>
              <a:rPr lang="en-US" sz="1100" b="1" dirty="0">
                <a:solidFill>
                  <a:srgbClr val="0D1B3E"/>
                </a:solidFill>
                <a:latin typeface="Calibri" pitchFamily="34" charset="0"/>
                <a:ea typeface="Calibri" pitchFamily="34" charset="-122"/>
                <a:cs typeface="Calibri" pitchFamily="34" charset="-120"/>
              </a:rPr>
              <a:t>1B → 1T+</a:t>
            </a:r>
            <a:endParaRPr lang="en-US" sz="1100" dirty="0"/>
          </a:p>
        </p:txBody>
      </p:sp>
      <p:sp>
        <p:nvSpPr>
          <p:cNvPr id="14" name="Shape 11"/>
          <p:cNvSpPr/>
          <p:nvPr/>
        </p:nvSpPr>
        <p:spPr>
          <a:xfrm>
            <a:off x="365760" y="3364992"/>
            <a:ext cx="1554480" cy="329184"/>
          </a:xfrm>
          <a:prstGeom prst="rect">
            <a:avLst/>
          </a:prstGeom>
          <a:solidFill>
            <a:srgbClr val="1A56DB"/>
          </a:solidFill>
          <a:ln w="12700">
            <a:solidFill>
              <a:srgbClr val="1A56DB"/>
            </a:solidFill>
            <a:prstDash val="solid"/>
          </a:ln>
        </p:spPr>
      </p:sp>
      <p:sp>
        <p:nvSpPr>
          <p:cNvPr id="15" name="Text 12"/>
          <p:cNvSpPr/>
          <p:nvPr/>
        </p:nvSpPr>
        <p:spPr>
          <a:xfrm>
            <a:off x="365760" y="3364992"/>
            <a:ext cx="1554480" cy="32918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Training Data</a:t>
            </a:r>
            <a:endParaRPr lang="en-US" sz="1000" dirty="0"/>
          </a:p>
        </p:txBody>
      </p:sp>
      <p:sp>
        <p:nvSpPr>
          <p:cNvPr id="16" name="Shape 13"/>
          <p:cNvSpPr/>
          <p:nvPr/>
        </p:nvSpPr>
        <p:spPr>
          <a:xfrm>
            <a:off x="1965960" y="3364992"/>
            <a:ext cx="3429000" cy="329184"/>
          </a:xfrm>
          <a:prstGeom prst="rect">
            <a:avLst/>
          </a:prstGeom>
          <a:solidFill>
            <a:srgbClr val="DBEAFE"/>
          </a:solidFill>
          <a:ln w="12700">
            <a:solidFill>
              <a:srgbClr val="1A56DB"/>
            </a:solidFill>
            <a:prstDash val="solid"/>
          </a:ln>
        </p:spPr>
      </p:sp>
      <p:sp>
        <p:nvSpPr>
          <p:cNvPr id="17" name="Text 14"/>
          <p:cNvSpPr/>
          <p:nvPr/>
        </p:nvSpPr>
        <p:spPr>
          <a:xfrm>
            <a:off x="1965960" y="3364992"/>
            <a:ext cx="3429000" cy="329184"/>
          </a:xfrm>
          <a:prstGeom prst="rect">
            <a:avLst/>
          </a:prstGeom>
          <a:noFill/>
          <a:ln/>
        </p:spPr>
        <p:txBody>
          <a:bodyPr wrap="square" lIns="50800" tIns="50800" rIns="50800" bIns="50800" rtlCol="0" anchor="ctr"/>
          <a:lstStyle/>
          <a:p>
            <a:pPr indent="0" marL="0">
              <a:buNone/>
            </a:pPr>
            <a:r>
              <a:rPr lang="en-US" sz="1100" b="1" dirty="0">
                <a:solidFill>
                  <a:srgbClr val="0D1B3E"/>
                </a:solidFill>
                <a:latin typeface="Calibri" pitchFamily="34" charset="0"/>
                <a:ea typeface="Calibri" pitchFamily="34" charset="-122"/>
                <a:cs typeface="Calibri" pitchFamily="34" charset="-120"/>
              </a:rPr>
              <a:t>1T–15T tokens</a:t>
            </a:r>
            <a:endParaRPr lang="en-US" sz="1100" dirty="0"/>
          </a:p>
        </p:txBody>
      </p:sp>
      <p:sp>
        <p:nvSpPr>
          <p:cNvPr id="18" name="Shape 15"/>
          <p:cNvSpPr/>
          <p:nvPr/>
        </p:nvSpPr>
        <p:spPr>
          <a:xfrm>
            <a:off x="365760" y="3803904"/>
            <a:ext cx="1554480" cy="329184"/>
          </a:xfrm>
          <a:prstGeom prst="rect">
            <a:avLst/>
          </a:prstGeom>
          <a:solidFill>
            <a:srgbClr val="1A56DB"/>
          </a:solidFill>
          <a:ln w="12700">
            <a:solidFill>
              <a:srgbClr val="1A56DB"/>
            </a:solidFill>
            <a:prstDash val="solid"/>
          </a:ln>
        </p:spPr>
      </p:sp>
      <p:sp>
        <p:nvSpPr>
          <p:cNvPr id="19" name="Text 16"/>
          <p:cNvSpPr/>
          <p:nvPr/>
        </p:nvSpPr>
        <p:spPr>
          <a:xfrm>
            <a:off x="365760" y="3803904"/>
            <a:ext cx="1554480" cy="32918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Architecture</a:t>
            </a:r>
            <a:endParaRPr lang="en-US" sz="1000" dirty="0"/>
          </a:p>
        </p:txBody>
      </p:sp>
      <p:sp>
        <p:nvSpPr>
          <p:cNvPr id="20" name="Shape 17"/>
          <p:cNvSpPr/>
          <p:nvPr/>
        </p:nvSpPr>
        <p:spPr>
          <a:xfrm>
            <a:off x="1965960" y="3803904"/>
            <a:ext cx="3429000" cy="329184"/>
          </a:xfrm>
          <a:prstGeom prst="rect">
            <a:avLst/>
          </a:prstGeom>
          <a:solidFill>
            <a:srgbClr val="DBEAFE"/>
          </a:solidFill>
          <a:ln w="12700">
            <a:solidFill>
              <a:srgbClr val="1A56DB"/>
            </a:solidFill>
            <a:prstDash val="solid"/>
          </a:ln>
        </p:spPr>
      </p:sp>
      <p:sp>
        <p:nvSpPr>
          <p:cNvPr id="21" name="Text 18"/>
          <p:cNvSpPr/>
          <p:nvPr/>
        </p:nvSpPr>
        <p:spPr>
          <a:xfrm>
            <a:off x="1965960" y="3803904"/>
            <a:ext cx="3429000" cy="329184"/>
          </a:xfrm>
          <a:prstGeom prst="rect">
            <a:avLst/>
          </a:prstGeom>
          <a:noFill/>
          <a:ln/>
        </p:spPr>
        <p:txBody>
          <a:bodyPr wrap="square" lIns="50800" tIns="50800" rIns="50800" bIns="50800" rtlCol="0" anchor="ctr"/>
          <a:lstStyle/>
          <a:p>
            <a:pPr indent="0" marL="0">
              <a:buNone/>
            </a:pPr>
            <a:r>
              <a:rPr lang="en-US" sz="1100" b="1" dirty="0">
                <a:solidFill>
                  <a:srgbClr val="0D1B3E"/>
                </a:solidFill>
                <a:latin typeface="Calibri" pitchFamily="34" charset="0"/>
                <a:ea typeface="Calibri" pitchFamily="34" charset="-122"/>
                <a:cs typeface="Calibri" pitchFamily="34" charset="-120"/>
              </a:rPr>
              <a:t>Transformer (2017)</a:t>
            </a:r>
            <a:endParaRPr lang="en-US" sz="1100" dirty="0"/>
          </a:p>
        </p:txBody>
      </p:sp>
      <p:sp>
        <p:nvSpPr>
          <p:cNvPr id="22" name="Shape 19"/>
          <p:cNvSpPr/>
          <p:nvPr/>
        </p:nvSpPr>
        <p:spPr>
          <a:xfrm>
            <a:off x="365760" y="4242816"/>
            <a:ext cx="1554480" cy="329184"/>
          </a:xfrm>
          <a:prstGeom prst="rect">
            <a:avLst/>
          </a:prstGeom>
          <a:solidFill>
            <a:srgbClr val="1A56DB"/>
          </a:solidFill>
          <a:ln w="12700">
            <a:solidFill>
              <a:srgbClr val="1A56DB"/>
            </a:solidFill>
            <a:prstDash val="solid"/>
          </a:ln>
        </p:spPr>
      </p:sp>
      <p:sp>
        <p:nvSpPr>
          <p:cNvPr id="23" name="Text 20"/>
          <p:cNvSpPr/>
          <p:nvPr/>
        </p:nvSpPr>
        <p:spPr>
          <a:xfrm>
            <a:off x="365760" y="4242816"/>
            <a:ext cx="1554480" cy="32918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Output</a:t>
            </a:r>
            <a:endParaRPr lang="en-US" sz="1000" dirty="0"/>
          </a:p>
        </p:txBody>
      </p:sp>
      <p:sp>
        <p:nvSpPr>
          <p:cNvPr id="24" name="Shape 21"/>
          <p:cNvSpPr/>
          <p:nvPr/>
        </p:nvSpPr>
        <p:spPr>
          <a:xfrm>
            <a:off x="1965960" y="4242816"/>
            <a:ext cx="3429000" cy="329184"/>
          </a:xfrm>
          <a:prstGeom prst="rect">
            <a:avLst/>
          </a:prstGeom>
          <a:solidFill>
            <a:srgbClr val="DBEAFE"/>
          </a:solidFill>
          <a:ln w="12700">
            <a:solidFill>
              <a:srgbClr val="1A56DB"/>
            </a:solidFill>
            <a:prstDash val="solid"/>
          </a:ln>
        </p:spPr>
      </p:sp>
      <p:sp>
        <p:nvSpPr>
          <p:cNvPr id="25" name="Text 22"/>
          <p:cNvSpPr/>
          <p:nvPr/>
        </p:nvSpPr>
        <p:spPr>
          <a:xfrm>
            <a:off x="1965960" y="4242816"/>
            <a:ext cx="3429000" cy="329184"/>
          </a:xfrm>
          <a:prstGeom prst="rect">
            <a:avLst/>
          </a:prstGeom>
          <a:noFill/>
          <a:ln/>
        </p:spPr>
        <p:txBody>
          <a:bodyPr wrap="square" lIns="50800" tIns="50800" rIns="50800" bIns="50800" rtlCol="0" anchor="ctr"/>
          <a:lstStyle/>
          <a:p>
            <a:pPr indent="0" marL="0">
              <a:buNone/>
            </a:pPr>
            <a:r>
              <a:rPr lang="en-US" sz="1100" b="1" dirty="0">
                <a:solidFill>
                  <a:srgbClr val="0D1B3E"/>
                </a:solidFill>
                <a:latin typeface="Calibri" pitchFamily="34" charset="0"/>
                <a:ea typeface="Calibri" pitchFamily="34" charset="-122"/>
                <a:cs typeface="Calibri" pitchFamily="34" charset="-120"/>
              </a:rPr>
              <a:t>Text, Code, Images</a:t>
            </a:r>
            <a:endParaRPr lang="en-US" sz="1100" dirty="0"/>
          </a:p>
        </p:txBody>
      </p:sp>
      <p:sp>
        <p:nvSpPr>
          <p:cNvPr id="26" name="Shape 23"/>
          <p:cNvSpPr/>
          <p:nvPr/>
        </p:nvSpPr>
        <p:spPr>
          <a:xfrm>
            <a:off x="5852160" y="1005840"/>
            <a:ext cx="3017520" cy="3749040"/>
          </a:xfrm>
          <a:prstGeom prst="rect">
            <a:avLst/>
          </a:prstGeom>
          <a:solidFill>
            <a:srgbClr val="FFFFFF"/>
          </a:solidFill>
          <a:ln w="12700">
            <a:solidFill>
              <a:srgbClr val="DBEAFE"/>
            </a:solidFill>
            <a:prstDash val="solid"/>
          </a:ln>
          <a:effectLst>
            <a:outerShdw sx="100000" sy="100000" kx="0" ky="0" algn="bl" rotWithShape="0" blurRad="101600" dist="38100" dir="8100000">
              <a:srgbClr val="000000">
                <a:alpha val="20000"/>
              </a:srgbClr>
            </a:outerShdw>
          </a:effectLst>
        </p:spPr>
      </p:sp>
      <p:sp>
        <p:nvSpPr>
          <p:cNvPr id="27" name="Shape 24"/>
          <p:cNvSpPr/>
          <p:nvPr/>
        </p:nvSpPr>
        <p:spPr>
          <a:xfrm>
            <a:off x="5852160" y="1005840"/>
            <a:ext cx="3017520" cy="384048"/>
          </a:xfrm>
          <a:prstGeom prst="rect">
            <a:avLst/>
          </a:prstGeom>
          <a:solidFill>
            <a:srgbClr val="0D9488"/>
          </a:solidFill>
          <a:ln w="12700">
            <a:solidFill>
              <a:srgbClr val="0D9488"/>
            </a:solidFill>
            <a:prstDash val="solid"/>
          </a:ln>
        </p:spPr>
      </p:sp>
      <p:sp>
        <p:nvSpPr>
          <p:cNvPr id="28" name="Text 25"/>
          <p:cNvSpPr/>
          <p:nvPr/>
        </p:nvSpPr>
        <p:spPr>
          <a:xfrm>
            <a:off x="5897880" y="1024128"/>
            <a:ext cx="2926080" cy="347472"/>
          </a:xfrm>
          <a:prstGeom prst="rect">
            <a:avLst/>
          </a:prstGeom>
          <a:noFill/>
          <a:ln/>
        </p:spPr>
        <p:txBody>
          <a:bodyPr wrap="square" lIns="50800" tIns="50800" rIns="50800" bIns="5080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Notable LLMs</a:t>
            </a:r>
            <a:endParaRPr lang="en-US" sz="1300" dirty="0"/>
          </a:p>
        </p:txBody>
      </p:sp>
      <p:sp>
        <p:nvSpPr>
          <p:cNvPr id="29" name="Shape 26"/>
          <p:cNvSpPr/>
          <p:nvPr/>
        </p:nvSpPr>
        <p:spPr>
          <a:xfrm>
            <a:off x="5943600" y="1481328"/>
            <a:ext cx="548640" cy="329184"/>
          </a:xfrm>
          <a:prstGeom prst="rect">
            <a:avLst/>
          </a:prstGeom>
          <a:solidFill>
            <a:srgbClr val="10B981"/>
          </a:solidFill>
          <a:ln w="12700">
            <a:solidFill>
              <a:srgbClr val="10B981"/>
            </a:solidFill>
            <a:prstDash val="solid"/>
          </a:ln>
        </p:spPr>
      </p:sp>
      <p:sp>
        <p:nvSpPr>
          <p:cNvPr id="30" name="Text 27"/>
          <p:cNvSpPr/>
          <p:nvPr/>
        </p:nvSpPr>
        <p:spPr>
          <a:xfrm>
            <a:off x="5943600" y="1481328"/>
            <a:ext cx="548640" cy="329184"/>
          </a:xfrm>
          <a:prstGeom prst="rect">
            <a:avLst/>
          </a:prstGeom>
          <a:no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a:t>
            </a:r>
            <a:endParaRPr lang="en-US" sz="1000" dirty="0"/>
          </a:p>
        </p:txBody>
      </p:sp>
      <p:sp>
        <p:nvSpPr>
          <p:cNvPr id="31" name="Text 28"/>
          <p:cNvSpPr/>
          <p:nvPr/>
        </p:nvSpPr>
        <p:spPr>
          <a:xfrm>
            <a:off x="6537960" y="1481328"/>
            <a:ext cx="1188720" cy="329184"/>
          </a:xfrm>
          <a:prstGeom prst="rect">
            <a:avLst/>
          </a:prstGeom>
          <a:noFill/>
          <a:ln/>
        </p:spPr>
        <p:txBody>
          <a:bodyPr wrap="square" lIns="25400" tIns="25400" rIns="25400" bIns="25400" rtlCol="0" anchor="ctr"/>
          <a:lstStyle/>
          <a:p>
            <a:pPr indent="0" marL="0">
              <a:buNone/>
            </a:pPr>
            <a:r>
              <a:rPr lang="en-US" sz="1100" b="1" dirty="0">
                <a:solidFill>
                  <a:srgbClr val="1E2D4E"/>
                </a:solidFill>
                <a:latin typeface="Calibri" pitchFamily="34" charset="0"/>
                <a:ea typeface="Calibri" pitchFamily="34" charset="-122"/>
                <a:cs typeface="Calibri" pitchFamily="34" charset="-120"/>
              </a:rPr>
              <a:t>GPT-4o</a:t>
            </a:r>
            <a:endParaRPr lang="en-US" sz="1100" dirty="0"/>
          </a:p>
        </p:txBody>
      </p:sp>
      <p:sp>
        <p:nvSpPr>
          <p:cNvPr id="32" name="Text 29"/>
          <p:cNvSpPr/>
          <p:nvPr/>
        </p:nvSpPr>
        <p:spPr>
          <a:xfrm>
            <a:off x="7772400" y="1481328"/>
            <a:ext cx="1005840" cy="329184"/>
          </a:xfrm>
          <a:prstGeom prst="rect">
            <a:avLst/>
          </a:prstGeom>
          <a:noFill/>
          <a:ln/>
        </p:spPr>
        <p:txBody>
          <a:bodyPr wrap="square" lIns="25400" tIns="25400" rIns="25400" bIns="2540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OpenAI</a:t>
            </a:r>
            <a:endParaRPr lang="en-US" sz="1000" dirty="0"/>
          </a:p>
        </p:txBody>
      </p:sp>
      <p:sp>
        <p:nvSpPr>
          <p:cNvPr id="33" name="Shape 30"/>
          <p:cNvSpPr/>
          <p:nvPr/>
        </p:nvSpPr>
        <p:spPr>
          <a:xfrm>
            <a:off x="5943600" y="2011680"/>
            <a:ext cx="548640" cy="329184"/>
          </a:xfrm>
          <a:prstGeom prst="rect">
            <a:avLst/>
          </a:prstGeom>
          <a:solidFill>
            <a:srgbClr val="1A56DB"/>
          </a:solidFill>
          <a:ln w="12700">
            <a:solidFill>
              <a:srgbClr val="1A56DB"/>
            </a:solidFill>
            <a:prstDash val="solid"/>
          </a:ln>
        </p:spPr>
      </p:sp>
      <p:sp>
        <p:nvSpPr>
          <p:cNvPr id="34" name="Text 31"/>
          <p:cNvSpPr/>
          <p:nvPr/>
        </p:nvSpPr>
        <p:spPr>
          <a:xfrm>
            <a:off x="5943600" y="2011680"/>
            <a:ext cx="548640" cy="329184"/>
          </a:xfrm>
          <a:prstGeom prst="rect">
            <a:avLst/>
          </a:prstGeom>
          <a:no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a:t>
            </a:r>
            <a:endParaRPr lang="en-US" sz="1000" dirty="0"/>
          </a:p>
        </p:txBody>
      </p:sp>
      <p:sp>
        <p:nvSpPr>
          <p:cNvPr id="35" name="Text 32"/>
          <p:cNvSpPr/>
          <p:nvPr/>
        </p:nvSpPr>
        <p:spPr>
          <a:xfrm>
            <a:off x="6537960" y="2011680"/>
            <a:ext cx="1188720" cy="329184"/>
          </a:xfrm>
          <a:prstGeom prst="rect">
            <a:avLst/>
          </a:prstGeom>
          <a:noFill/>
          <a:ln/>
        </p:spPr>
        <p:txBody>
          <a:bodyPr wrap="square" lIns="25400" tIns="25400" rIns="25400" bIns="25400" rtlCol="0" anchor="ctr"/>
          <a:lstStyle/>
          <a:p>
            <a:pPr indent="0" marL="0">
              <a:buNone/>
            </a:pPr>
            <a:r>
              <a:rPr lang="en-US" sz="1100" b="1" dirty="0">
                <a:solidFill>
                  <a:srgbClr val="1E2D4E"/>
                </a:solidFill>
                <a:latin typeface="Calibri" pitchFamily="34" charset="0"/>
                <a:ea typeface="Calibri" pitchFamily="34" charset="-122"/>
                <a:cs typeface="Calibri" pitchFamily="34" charset="-120"/>
              </a:rPr>
              <a:t>Claude 3.5</a:t>
            </a:r>
            <a:endParaRPr lang="en-US" sz="1100" dirty="0"/>
          </a:p>
        </p:txBody>
      </p:sp>
      <p:sp>
        <p:nvSpPr>
          <p:cNvPr id="36" name="Text 33"/>
          <p:cNvSpPr/>
          <p:nvPr/>
        </p:nvSpPr>
        <p:spPr>
          <a:xfrm>
            <a:off x="7772400" y="2011680"/>
            <a:ext cx="1005840" cy="329184"/>
          </a:xfrm>
          <a:prstGeom prst="rect">
            <a:avLst/>
          </a:prstGeom>
          <a:noFill/>
          <a:ln/>
        </p:spPr>
        <p:txBody>
          <a:bodyPr wrap="square" lIns="25400" tIns="25400" rIns="25400" bIns="2540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Anthropic</a:t>
            </a:r>
            <a:endParaRPr lang="en-US" sz="1000" dirty="0"/>
          </a:p>
        </p:txBody>
      </p:sp>
      <p:sp>
        <p:nvSpPr>
          <p:cNvPr id="37" name="Shape 34"/>
          <p:cNvSpPr/>
          <p:nvPr/>
        </p:nvSpPr>
        <p:spPr>
          <a:xfrm>
            <a:off x="5943600" y="2542032"/>
            <a:ext cx="548640" cy="329184"/>
          </a:xfrm>
          <a:prstGeom prst="rect">
            <a:avLst/>
          </a:prstGeom>
          <a:solidFill>
            <a:srgbClr val="F59E0B"/>
          </a:solidFill>
          <a:ln w="12700">
            <a:solidFill>
              <a:srgbClr val="F59E0B"/>
            </a:solidFill>
            <a:prstDash val="solid"/>
          </a:ln>
        </p:spPr>
      </p:sp>
      <p:sp>
        <p:nvSpPr>
          <p:cNvPr id="38" name="Text 35"/>
          <p:cNvSpPr/>
          <p:nvPr/>
        </p:nvSpPr>
        <p:spPr>
          <a:xfrm>
            <a:off x="5943600" y="2542032"/>
            <a:ext cx="548640" cy="329184"/>
          </a:xfrm>
          <a:prstGeom prst="rect">
            <a:avLst/>
          </a:prstGeom>
          <a:no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a:t>
            </a:r>
            <a:endParaRPr lang="en-US" sz="1000" dirty="0"/>
          </a:p>
        </p:txBody>
      </p:sp>
      <p:sp>
        <p:nvSpPr>
          <p:cNvPr id="39" name="Text 36"/>
          <p:cNvSpPr/>
          <p:nvPr/>
        </p:nvSpPr>
        <p:spPr>
          <a:xfrm>
            <a:off x="6537960" y="2542032"/>
            <a:ext cx="1188720" cy="329184"/>
          </a:xfrm>
          <a:prstGeom prst="rect">
            <a:avLst/>
          </a:prstGeom>
          <a:noFill/>
          <a:ln/>
        </p:spPr>
        <p:txBody>
          <a:bodyPr wrap="square" lIns="25400" tIns="25400" rIns="25400" bIns="25400" rtlCol="0" anchor="ctr"/>
          <a:lstStyle/>
          <a:p>
            <a:pPr indent="0" marL="0">
              <a:buNone/>
            </a:pPr>
            <a:r>
              <a:rPr lang="en-US" sz="1100" b="1" dirty="0">
                <a:solidFill>
                  <a:srgbClr val="1E2D4E"/>
                </a:solidFill>
                <a:latin typeface="Calibri" pitchFamily="34" charset="0"/>
                <a:ea typeface="Calibri" pitchFamily="34" charset="-122"/>
                <a:cs typeface="Calibri" pitchFamily="34" charset="-120"/>
              </a:rPr>
              <a:t>Gemini 1.5</a:t>
            </a:r>
            <a:endParaRPr lang="en-US" sz="1100" dirty="0"/>
          </a:p>
        </p:txBody>
      </p:sp>
      <p:sp>
        <p:nvSpPr>
          <p:cNvPr id="40" name="Text 37"/>
          <p:cNvSpPr/>
          <p:nvPr/>
        </p:nvSpPr>
        <p:spPr>
          <a:xfrm>
            <a:off x="7772400" y="2542032"/>
            <a:ext cx="1005840" cy="329184"/>
          </a:xfrm>
          <a:prstGeom prst="rect">
            <a:avLst/>
          </a:prstGeom>
          <a:noFill/>
          <a:ln/>
        </p:spPr>
        <p:txBody>
          <a:bodyPr wrap="square" lIns="25400" tIns="25400" rIns="25400" bIns="2540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Google</a:t>
            </a:r>
            <a:endParaRPr lang="en-US" sz="1000" dirty="0"/>
          </a:p>
        </p:txBody>
      </p:sp>
      <p:sp>
        <p:nvSpPr>
          <p:cNvPr id="41" name="Shape 38"/>
          <p:cNvSpPr/>
          <p:nvPr/>
        </p:nvSpPr>
        <p:spPr>
          <a:xfrm>
            <a:off x="5943600" y="3072384"/>
            <a:ext cx="548640" cy="329184"/>
          </a:xfrm>
          <a:prstGeom prst="rect">
            <a:avLst/>
          </a:prstGeom>
          <a:solidFill>
            <a:srgbClr val="8B5CF6"/>
          </a:solidFill>
          <a:ln w="12700">
            <a:solidFill>
              <a:srgbClr val="8B5CF6"/>
            </a:solidFill>
            <a:prstDash val="solid"/>
          </a:ln>
        </p:spPr>
      </p:sp>
      <p:sp>
        <p:nvSpPr>
          <p:cNvPr id="42" name="Text 39"/>
          <p:cNvSpPr/>
          <p:nvPr/>
        </p:nvSpPr>
        <p:spPr>
          <a:xfrm>
            <a:off x="5943600" y="3072384"/>
            <a:ext cx="548640" cy="329184"/>
          </a:xfrm>
          <a:prstGeom prst="rect">
            <a:avLst/>
          </a:prstGeom>
          <a:no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a:t>
            </a:r>
            <a:endParaRPr lang="en-US" sz="1000" dirty="0"/>
          </a:p>
        </p:txBody>
      </p:sp>
      <p:sp>
        <p:nvSpPr>
          <p:cNvPr id="43" name="Text 40"/>
          <p:cNvSpPr/>
          <p:nvPr/>
        </p:nvSpPr>
        <p:spPr>
          <a:xfrm>
            <a:off x="6537960" y="3072384"/>
            <a:ext cx="1188720" cy="329184"/>
          </a:xfrm>
          <a:prstGeom prst="rect">
            <a:avLst/>
          </a:prstGeom>
          <a:noFill/>
          <a:ln/>
        </p:spPr>
        <p:txBody>
          <a:bodyPr wrap="square" lIns="25400" tIns="25400" rIns="25400" bIns="25400" rtlCol="0" anchor="ctr"/>
          <a:lstStyle/>
          <a:p>
            <a:pPr indent="0" marL="0">
              <a:buNone/>
            </a:pPr>
            <a:r>
              <a:rPr lang="en-US" sz="1100" b="1" dirty="0">
                <a:solidFill>
                  <a:srgbClr val="1E2D4E"/>
                </a:solidFill>
                <a:latin typeface="Calibri" pitchFamily="34" charset="0"/>
                <a:ea typeface="Calibri" pitchFamily="34" charset="-122"/>
                <a:cs typeface="Calibri" pitchFamily="34" charset="-120"/>
              </a:rPr>
              <a:t>LLaMA 3</a:t>
            </a:r>
            <a:endParaRPr lang="en-US" sz="1100" dirty="0"/>
          </a:p>
        </p:txBody>
      </p:sp>
      <p:sp>
        <p:nvSpPr>
          <p:cNvPr id="44" name="Text 41"/>
          <p:cNvSpPr/>
          <p:nvPr/>
        </p:nvSpPr>
        <p:spPr>
          <a:xfrm>
            <a:off x="7772400" y="3072384"/>
            <a:ext cx="1005840" cy="329184"/>
          </a:xfrm>
          <a:prstGeom prst="rect">
            <a:avLst/>
          </a:prstGeom>
          <a:noFill/>
          <a:ln/>
        </p:spPr>
        <p:txBody>
          <a:bodyPr wrap="square" lIns="25400" tIns="25400" rIns="25400" bIns="2540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Meta</a:t>
            </a:r>
            <a:endParaRPr lang="en-US" sz="1000" dirty="0"/>
          </a:p>
        </p:txBody>
      </p:sp>
      <p:sp>
        <p:nvSpPr>
          <p:cNvPr id="45" name="Shape 42"/>
          <p:cNvSpPr/>
          <p:nvPr/>
        </p:nvSpPr>
        <p:spPr>
          <a:xfrm>
            <a:off x="5943600" y="3602736"/>
            <a:ext cx="548640" cy="329184"/>
          </a:xfrm>
          <a:prstGeom prst="rect">
            <a:avLst/>
          </a:prstGeom>
          <a:solidFill>
            <a:srgbClr val="0D9488"/>
          </a:solidFill>
          <a:ln w="12700">
            <a:solidFill>
              <a:srgbClr val="0D9488"/>
            </a:solidFill>
            <a:prstDash val="solid"/>
          </a:ln>
        </p:spPr>
      </p:sp>
      <p:sp>
        <p:nvSpPr>
          <p:cNvPr id="46" name="Text 43"/>
          <p:cNvSpPr/>
          <p:nvPr/>
        </p:nvSpPr>
        <p:spPr>
          <a:xfrm>
            <a:off x="5943600" y="3602736"/>
            <a:ext cx="548640" cy="329184"/>
          </a:xfrm>
          <a:prstGeom prst="rect">
            <a:avLst/>
          </a:prstGeom>
          <a:no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a:t>
            </a:r>
            <a:endParaRPr lang="en-US" sz="1000" dirty="0"/>
          </a:p>
        </p:txBody>
      </p:sp>
      <p:sp>
        <p:nvSpPr>
          <p:cNvPr id="47" name="Text 44"/>
          <p:cNvSpPr/>
          <p:nvPr/>
        </p:nvSpPr>
        <p:spPr>
          <a:xfrm>
            <a:off x="6537960" y="3602736"/>
            <a:ext cx="1188720" cy="329184"/>
          </a:xfrm>
          <a:prstGeom prst="rect">
            <a:avLst/>
          </a:prstGeom>
          <a:noFill/>
          <a:ln/>
        </p:spPr>
        <p:txBody>
          <a:bodyPr wrap="square" lIns="25400" tIns="25400" rIns="25400" bIns="25400" rtlCol="0" anchor="ctr"/>
          <a:lstStyle/>
          <a:p>
            <a:pPr indent="0" marL="0">
              <a:buNone/>
            </a:pPr>
            <a:r>
              <a:rPr lang="en-US" sz="1100" b="1" dirty="0">
                <a:solidFill>
                  <a:srgbClr val="1E2D4E"/>
                </a:solidFill>
                <a:latin typeface="Calibri" pitchFamily="34" charset="0"/>
                <a:ea typeface="Calibri" pitchFamily="34" charset="-122"/>
                <a:cs typeface="Calibri" pitchFamily="34" charset="-120"/>
              </a:rPr>
              <a:t>Mistral</a:t>
            </a:r>
            <a:endParaRPr lang="en-US" sz="1100" dirty="0"/>
          </a:p>
        </p:txBody>
      </p:sp>
      <p:sp>
        <p:nvSpPr>
          <p:cNvPr id="48" name="Text 45"/>
          <p:cNvSpPr/>
          <p:nvPr/>
        </p:nvSpPr>
        <p:spPr>
          <a:xfrm>
            <a:off x="7772400" y="3602736"/>
            <a:ext cx="1005840" cy="329184"/>
          </a:xfrm>
          <a:prstGeom prst="rect">
            <a:avLst/>
          </a:prstGeom>
          <a:noFill/>
          <a:ln/>
        </p:spPr>
        <p:txBody>
          <a:bodyPr wrap="square" lIns="25400" tIns="25400" rIns="25400" bIns="2540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Mistral AI</a:t>
            </a:r>
            <a:endParaRPr lang="en-US" sz="1000" dirty="0"/>
          </a:p>
        </p:txBody>
      </p:sp>
      <p:sp>
        <p:nvSpPr>
          <p:cNvPr id="49" name="Shape 46"/>
          <p:cNvSpPr/>
          <p:nvPr/>
        </p:nvSpPr>
        <p:spPr>
          <a:xfrm>
            <a:off x="5943600" y="4133088"/>
            <a:ext cx="548640" cy="329184"/>
          </a:xfrm>
          <a:prstGeom prst="rect">
            <a:avLst/>
          </a:prstGeom>
          <a:solidFill>
            <a:srgbClr val="EF4444"/>
          </a:solidFill>
          <a:ln w="12700">
            <a:solidFill>
              <a:srgbClr val="EF4444"/>
            </a:solidFill>
            <a:prstDash val="solid"/>
          </a:ln>
        </p:spPr>
      </p:sp>
      <p:sp>
        <p:nvSpPr>
          <p:cNvPr id="50" name="Text 47"/>
          <p:cNvSpPr/>
          <p:nvPr/>
        </p:nvSpPr>
        <p:spPr>
          <a:xfrm>
            <a:off x="5943600" y="4133088"/>
            <a:ext cx="548640" cy="329184"/>
          </a:xfrm>
          <a:prstGeom prst="rect">
            <a:avLst/>
          </a:prstGeom>
          <a:no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a:t>
            </a:r>
            <a:endParaRPr lang="en-US" sz="1000" dirty="0"/>
          </a:p>
        </p:txBody>
      </p:sp>
      <p:sp>
        <p:nvSpPr>
          <p:cNvPr id="51" name="Text 48"/>
          <p:cNvSpPr/>
          <p:nvPr/>
        </p:nvSpPr>
        <p:spPr>
          <a:xfrm>
            <a:off x="6537960" y="4133088"/>
            <a:ext cx="1188720" cy="329184"/>
          </a:xfrm>
          <a:prstGeom prst="rect">
            <a:avLst/>
          </a:prstGeom>
          <a:noFill/>
          <a:ln/>
        </p:spPr>
        <p:txBody>
          <a:bodyPr wrap="square" lIns="25400" tIns="25400" rIns="25400" bIns="25400" rtlCol="0" anchor="ctr"/>
          <a:lstStyle/>
          <a:p>
            <a:pPr indent="0" marL="0">
              <a:buNone/>
            </a:pPr>
            <a:r>
              <a:rPr lang="en-US" sz="1100" b="1" dirty="0">
                <a:solidFill>
                  <a:srgbClr val="1E2D4E"/>
                </a:solidFill>
                <a:latin typeface="Calibri" pitchFamily="34" charset="0"/>
                <a:ea typeface="Calibri" pitchFamily="34" charset="-122"/>
                <a:cs typeface="Calibri" pitchFamily="34" charset="-120"/>
              </a:rPr>
              <a:t>Grok</a:t>
            </a:r>
            <a:endParaRPr lang="en-US" sz="1100" dirty="0"/>
          </a:p>
        </p:txBody>
      </p:sp>
      <p:sp>
        <p:nvSpPr>
          <p:cNvPr id="52" name="Text 49"/>
          <p:cNvSpPr/>
          <p:nvPr/>
        </p:nvSpPr>
        <p:spPr>
          <a:xfrm>
            <a:off x="7772400" y="4133088"/>
            <a:ext cx="1005840" cy="329184"/>
          </a:xfrm>
          <a:prstGeom prst="rect">
            <a:avLst/>
          </a:prstGeom>
          <a:noFill/>
          <a:ln/>
        </p:spPr>
        <p:txBody>
          <a:bodyPr wrap="square" lIns="25400" tIns="25400" rIns="25400" bIns="2540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xAI</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80D1A"/>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41E35"/>
          </a:solidFill>
          <a:ln w="12700">
            <a:solidFill>
              <a:srgbClr val="141E35"/>
            </a:solidFill>
            <a:prstDash val="solid"/>
          </a:ln>
        </p:spPr>
      </p:sp>
      <p:sp>
        <p:nvSpPr>
          <p:cNvPr id="3" name="Shape 1"/>
          <p:cNvSpPr/>
          <p:nvPr/>
        </p:nvSpPr>
        <p:spPr>
          <a:xfrm>
            <a:off x="0" y="914400"/>
            <a:ext cx="9144000" cy="45720"/>
          </a:xfrm>
          <a:prstGeom prst="rect">
            <a:avLst/>
          </a:prstGeom>
          <a:solidFill>
            <a:srgbClr val="06B6D4"/>
          </a:solidFill>
          <a:ln w="12700">
            <a:solidFill>
              <a:srgbClr val="06B6D4"/>
            </a:solidFill>
            <a:prstDash val="solid"/>
          </a:ln>
        </p:spPr>
      </p:sp>
      <p:pic>
        <p:nvPicPr>
          <p:cNvPr id="4" name="Image 0" descr="preencoded.png">    </p:cNvPr>
          <p:cNvPicPr>
            <a:picLocks noChangeAspect="1"/>
          </p:cNvPicPr>
          <p:nvPr/>
        </p:nvPicPr>
        <p:blipFill>
          <a:blip r:embed="rId1"/>
          <a:stretch>
            <a:fillRect/>
          </a:stretch>
        </p:blipFill>
        <p:spPr>
          <a:xfrm>
            <a:off x="228600" y="182880"/>
            <a:ext cx="502920" cy="502920"/>
          </a:xfrm>
          <a:prstGeom prst="rect">
            <a:avLst/>
          </a:prstGeom>
        </p:spPr>
      </p:pic>
      <p:sp>
        <p:nvSpPr>
          <p:cNvPr id="5" name="Text 2"/>
          <p:cNvSpPr/>
          <p:nvPr/>
        </p:nvSpPr>
        <p:spPr>
          <a:xfrm>
            <a:off x="822960" y="137160"/>
            <a:ext cx="8046720" cy="68580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History &amp; Evolution of NLP and LLMs</a:t>
            </a:r>
            <a:endParaRPr lang="en-US" sz="2600" dirty="0"/>
          </a:p>
        </p:txBody>
      </p:sp>
      <p:sp>
        <p:nvSpPr>
          <p:cNvPr id="6" name="Shape 3"/>
          <p:cNvSpPr/>
          <p:nvPr/>
        </p:nvSpPr>
        <p:spPr>
          <a:xfrm>
            <a:off x="1143000" y="1024128"/>
            <a:ext cx="0" cy="3886200"/>
          </a:xfrm>
          <a:prstGeom prst="line">
            <a:avLst/>
          </a:prstGeom>
          <a:noFill/>
          <a:ln w="25400">
            <a:solidFill>
              <a:srgbClr val="1A56DB"/>
            </a:solidFill>
            <a:prstDash val="solid"/>
          </a:ln>
        </p:spPr>
      </p:sp>
      <p:sp>
        <p:nvSpPr>
          <p:cNvPr id="7" name="Shape 4"/>
          <p:cNvSpPr/>
          <p:nvPr/>
        </p:nvSpPr>
        <p:spPr>
          <a:xfrm>
            <a:off x="1078992" y="1060704"/>
            <a:ext cx="201168" cy="201168"/>
          </a:xfrm>
          <a:prstGeom prst="ellipse">
            <a:avLst/>
          </a:prstGeom>
          <a:solidFill>
            <a:srgbClr val="94A3B8"/>
          </a:solidFill>
          <a:ln w="12700">
            <a:solidFill>
              <a:srgbClr val="94A3B8"/>
            </a:solidFill>
            <a:prstDash val="solid"/>
          </a:ln>
        </p:spPr>
      </p:sp>
      <p:sp>
        <p:nvSpPr>
          <p:cNvPr id="8" name="Shape 5"/>
          <p:cNvSpPr/>
          <p:nvPr/>
        </p:nvSpPr>
        <p:spPr>
          <a:xfrm>
            <a:off x="137160" y="1024128"/>
            <a:ext cx="621792" cy="256032"/>
          </a:xfrm>
          <a:prstGeom prst="rect">
            <a:avLst/>
          </a:prstGeom>
          <a:solidFill>
            <a:srgbClr val="94A3B8"/>
          </a:solidFill>
          <a:ln w="12700">
            <a:solidFill>
              <a:srgbClr val="94A3B8"/>
            </a:solidFill>
            <a:prstDash val="solid"/>
          </a:ln>
        </p:spPr>
      </p:sp>
      <p:sp>
        <p:nvSpPr>
          <p:cNvPr id="9" name="Text 6"/>
          <p:cNvSpPr/>
          <p:nvPr/>
        </p:nvSpPr>
        <p:spPr>
          <a:xfrm>
            <a:off x="137160" y="1024128"/>
            <a:ext cx="621792" cy="256032"/>
          </a:xfrm>
          <a:prstGeom prst="rect">
            <a:avLst/>
          </a:prstGeom>
          <a:noFill/>
          <a:ln/>
        </p:spPr>
        <p:txBody>
          <a:bodyPr wrap="square" lIns="0" tIns="0" rIns="0" bIns="0" rtlCol="0" anchor="ctr"/>
          <a:lstStyle/>
          <a:p>
            <a:pPr algn="ctr" indent="0" marL="0">
              <a:buNone/>
            </a:pPr>
            <a:r>
              <a:rPr lang="en-US" sz="900" b="1" dirty="0">
                <a:solidFill>
                  <a:srgbClr val="080D1A"/>
                </a:solidFill>
                <a:latin typeface="Calibri" pitchFamily="34" charset="0"/>
                <a:ea typeface="Calibri" pitchFamily="34" charset="-122"/>
                <a:cs typeface="Calibri" pitchFamily="34" charset="-120"/>
              </a:rPr>
              <a:t>1950</a:t>
            </a:r>
            <a:endParaRPr lang="en-US" sz="900" dirty="0"/>
          </a:p>
        </p:txBody>
      </p:sp>
      <p:sp>
        <p:nvSpPr>
          <p:cNvPr id="10" name="Text 7"/>
          <p:cNvSpPr/>
          <p:nvPr/>
        </p:nvSpPr>
        <p:spPr>
          <a:xfrm>
            <a:off x="804672" y="1024128"/>
            <a:ext cx="274320" cy="256032"/>
          </a:xfrm>
          <a:prstGeom prst="rect">
            <a:avLst/>
          </a:prstGeom>
          <a:noFill/>
          <a:ln/>
        </p:spPr>
        <p:txBody>
          <a:bodyPr wrap="square" lIns="25400" tIns="25400" rIns="25400" bIns="25400" rtlCol="0" anchor="ctr"/>
          <a:lstStyle/>
          <a:p>
            <a:pPr indent="0" marL="0">
              <a:buNone/>
            </a:pPr>
            <a:r>
              <a:rPr lang="en-US" sz="950" dirty="0">
                <a:solidFill>
                  <a:srgbClr val="E8F0FE"/>
                </a:solidFill>
                <a:latin typeface="Calibri" pitchFamily="34" charset="0"/>
                <a:ea typeface="Calibri" pitchFamily="34" charset="-122"/>
                <a:cs typeface="Calibri" pitchFamily="34" charset="-120"/>
              </a:rPr>
              <a:t>Turing Test proposed — machines simulating intelligence</a:t>
            </a:r>
            <a:endParaRPr lang="en-US" sz="950" dirty="0"/>
          </a:p>
        </p:txBody>
      </p:sp>
      <p:sp>
        <p:nvSpPr>
          <p:cNvPr id="11" name="Shape 8"/>
          <p:cNvSpPr/>
          <p:nvPr/>
        </p:nvSpPr>
        <p:spPr>
          <a:xfrm>
            <a:off x="4526280" y="1060704"/>
            <a:ext cx="201168" cy="201168"/>
          </a:xfrm>
          <a:prstGeom prst="ellipse">
            <a:avLst/>
          </a:prstGeom>
          <a:solidFill>
            <a:srgbClr val="94A3B8"/>
          </a:solidFill>
          <a:ln w="12700">
            <a:solidFill>
              <a:srgbClr val="94A3B8"/>
            </a:solidFill>
            <a:prstDash val="solid"/>
          </a:ln>
        </p:spPr>
      </p:sp>
      <p:sp>
        <p:nvSpPr>
          <p:cNvPr id="12" name="Shape 9"/>
          <p:cNvSpPr/>
          <p:nvPr/>
        </p:nvSpPr>
        <p:spPr>
          <a:xfrm>
            <a:off x="4754880" y="1024128"/>
            <a:ext cx="621792" cy="256032"/>
          </a:xfrm>
          <a:prstGeom prst="rect">
            <a:avLst/>
          </a:prstGeom>
          <a:solidFill>
            <a:srgbClr val="94A3B8"/>
          </a:solidFill>
          <a:ln w="12700">
            <a:solidFill>
              <a:srgbClr val="94A3B8"/>
            </a:solidFill>
            <a:prstDash val="solid"/>
          </a:ln>
        </p:spPr>
      </p:sp>
      <p:sp>
        <p:nvSpPr>
          <p:cNvPr id="13" name="Text 10"/>
          <p:cNvSpPr/>
          <p:nvPr/>
        </p:nvSpPr>
        <p:spPr>
          <a:xfrm>
            <a:off x="4754880" y="1024128"/>
            <a:ext cx="621792" cy="256032"/>
          </a:xfrm>
          <a:prstGeom prst="rect">
            <a:avLst/>
          </a:prstGeom>
          <a:noFill/>
          <a:ln/>
        </p:spPr>
        <p:txBody>
          <a:bodyPr wrap="square" lIns="0" tIns="0" rIns="0" bIns="0" rtlCol="0" anchor="ctr"/>
          <a:lstStyle/>
          <a:p>
            <a:pPr algn="ctr" indent="0" marL="0">
              <a:buNone/>
            </a:pPr>
            <a:r>
              <a:rPr lang="en-US" sz="900" b="1" dirty="0">
                <a:solidFill>
                  <a:srgbClr val="080D1A"/>
                </a:solidFill>
                <a:latin typeface="Calibri" pitchFamily="34" charset="0"/>
                <a:ea typeface="Calibri" pitchFamily="34" charset="-122"/>
                <a:cs typeface="Calibri" pitchFamily="34" charset="-120"/>
              </a:rPr>
              <a:t>1966</a:t>
            </a:r>
            <a:endParaRPr lang="en-US" sz="900" dirty="0"/>
          </a:p>
        </p:txBody>
      </p:sp>
      <p:sp>
        <p:nvSpPr>
          <p:cNvPr id="14" name="Text 11"/>
          <p:cNvSpPr/>
          <p:nvPr/>
        </p:nvSpPr>
        <p:spPr>
          <a:xfrm>
            <a:off x="4983480" y="1024128"/>
            <a:ext cx="4023360" cy="256032"/>
          </a:xfrm>
          <a:prstGeom prst="rect">
            <a:avLst/>
          </a:prstGeom>
          <a:noFill/>
          <a:ln/>
        </p:spPr>
        <p:txBody>
          <a:bodyPr wrap="square" lIns="25400" tIns="25400" rIns="25400" bIns="25400" rtlCol="0" anchor="ctr"/>
          <a:lstStyle/>
          <a:p>
            <a:pPr indent="0" marL="0">
              <a:buNone/>
            </a:pPr>
            <a:r>
              <a:rPr lang="en-US" sz="950" dirty="0">
                <a:solidFill>
                  <a:srgbClr val="E8F0FE"/>
                </a:solidFill>
                <a:latin typeface="Calibri" pitchFamily="34" charset="0"/>
                <a:ea typeface="Calibri" pitchFamily="34" charset="-122"/>
                <a:cs typeface="Calibri" pitchFamily="34" charset="-120"/>
              </a:rPr>
              <a:t>ELIZA chatbot — first rule-based conversational agent</a:t>
            </a:r>
            <a:endParaRPr lang="en-US" sz="950" dirty="0"/>
          </a:p>
        </p:txBody>
      </p:sp>
      <p:sp>
        <p:nvSpPr>
          <p:cNvPr id="15" name="Shape 12"/>
          <p:cNvSpPr/>
          <p:nvPr/>
        </p:nvSpPr>
        <p:spPr>
          <a:xfrm>
            <a:off x="1078992" y="1865376"/>
            <a:ext cx="201168" cy="201168"/>
          </a:xfrm>
          <a:prstGeom prst="ellipse">
            <a:avLst/>
          </a:prstGeom>
          <a:solidFill>
            <a:srgbClr val="1A56DB"/>
          </a:solidFill>
          <a:ln w="12700">
            <a:solidFill>
              <a:srgbClr val="1A56DB"/>
            </a:solidFill>
            <a:prstDash val="solid"/>
          </a:ln>
        </p:spPr>
      </p:sp>
      <p:sp>
        <p:nvSpPr>
          <p:cNvPr id="16" name="Shape 13"/>
          <p:cNvSpPr/>
          <p:nvPr/>
        </p:nvSpPr>
        <p:spPr>
          <a:xfrm>
            <a:off x="137160" y="1828800"/>
            <a:ext cx="621792" cy="256032"/>
          </a:xfrm>
          <a:prstGeom prst="rect">
            <a:avLst/>
          </a:prstGeom>
          <a:solidFill>
            <a:srgbClr val="1A56DB"/>
          </a:solidFill>
          <a:ln w="12700">
            <a:solidFill>
              <a:srgbClr val="1A56DB"/>
            </a:solidFill>
            <a:prstDash val="solid"/>
          </a:ln>
        </p:spPr>
      </p:sp>
      <p:sp>
        <p:nvSpPr>
          <p:cNvPr id="17" name="Text 14"/>
          <p:cNvSpPr/>
          <p:nvPr/>
        </p:nvSpPr>
        <p:spPr>
          <a:xfrm>
            <a:off x="137160" y="1828800"/>
            <a:ext cx="621792" cy="256032"/>
          </a:xfrm>
          <a:prstGeom prst="rect">
            <a:avLst/>
          </a:prstGeom>
          <a:noFill/>
          <a:ln/>
        </p:spPr>
        <p:txBody>
          <a:bodyPr wrap="square" lIns="0" tIns="0" rIns="0" bIns="0" rtlCol="0" anchor="ctr"/>
          <a:lstStyle/>
          <a:p>
            <a:pPr algn="ctr" indent="0" marL="0">
              <a:buNone/>
            </a:pPr>
            <a:r>
              <a:rPr lang="en-US" sz="900" b="1" dirty="0">
                <a:solidFill>
                  <a:srgbClr val="080D1A"/>
                </a:solidFill>
                <a:latin typeface="Calibri" pitchFamily="34" charset="0"/>
                <a:ea typeface="Calibri" pitchFamily="34" charset="-122"/>
                <a:cs typeface="Calibri" pitchFamily="34" charset="-120"/>
              </a:rPr>
              <a:t>1986</a:t>
            </a:r>
            <a:endParaRPr lang="en-US" sz="900" dirty="0"/>
          </a:p>
        </p:txBody>
      </p:sp>
      <p:sp>
        <p:nvSpPr>
          <p:cNvPr id="18" name="Text 15"/>
          <p:cNvSpPr/>
          <p:nvPr/>
        </p:nvSpPr>
        <p:spPr>
          <a:xfrm>
            <a:off x="804672" y="1828800"/>
            <a:ext cx="274320" cy="256032"/>
          </a:xfrm>
          <a:prstGeom prst="rect">
            <a:avLst/>
          </a:prstGeom>
          <a:noFill/>
          <a:ln/>
        </p:spPr>
        <p:txBody>
          <a:bodyPr wrap="square" lIns="25400" tIns="25400" rIns="25400" bIns="25400" rtlCol="0" anchor="ctr"/>
          <a:lstStyle/>
          <a:p>
            <a:pPr indent="0" marL="0">
              <a:buNone/>
            </a:pPr>
            <a:r>
              <a:rPr lang="en-US" sz="950" dirty="0">
                <a:solidFill>
                  <a:srgbClr val="E8F0FE"/>
                </a:solidFill>
                <a:latin typeface="Calibri" pitchFamily="34" charset="0"/>
                <a:ea typeface="Calibri" pitchFamily="34" charset="-122"/>
                <a:cs typeface="Calibri" pitchFamily="34" charset="-120"/>
              </a:rPr>
              <a:t>Backprop + RNNs — sequence learning for language</a:t>
            </a:r>
            <a:endParaRPr lang="en-US" sz="950" dirty="0"/>
          </a:p>
        </p:txBody>
      </p:sp>
      <p:sp>
        <p:nvSpPr>
          <p:cNvPr id="19" name="Shape 16"/>
          <p:cNvSpPr/>
          <p:nvPr/>
        </p:nvSpPr>
        <p:spPr>
          <a:xfrm>
            <a:off x="4526280" y="1865376"/>
            <a:ext cx="201168" cy="201168"/>
          </a:xfrm>
          <a:prstGeom prst="ellipse">
            <a:avLst/>
          </a:prstGeom>
          <a:solidFill>
            <a:srgbClr val="0D9488"/>
          </a:solidFill>
          <a:ln w="12700">
            <a:solidFill>
              <a:srgbClr val="0D9488"/>
            </a:solidFill>
            <a:prstDash val="solid"/>
          </a:ln>
        </p:spPr>
      </p:sp>
      <p:sp>
        <p:nvSpPr>
          <p:cNvPr id="20" name="Shape 17"/>
          <p:cNvSpPr/>
          <p:nvPr/>
        </p:nvSpPr>
        <p:spPr>
          <a:xfrm>
            <a:off x="4754880" y="1828800"/>
            <a:ext cx="621792" cy="256032"/>
          </a:xfrm>
          <a:prstGeom prst="rect">
            <a:avLst/>
          </a:prstGeom>
          <a:solidFill>
            <a:srgbClr val="0D9488"/>
          </a:solidFill>
          <a:ln w="12700">
            <a:solidFill>
              <a:srgbClr val="0D9488"/>
            </a:solidFill>
            <a:prstDash val="solid"/>
          </a:ln>
        </p:spPr>
      </p:sp>
      <p:sp>
        <p:nvSpPr>
          <p:cNvPr id="21" name="Text 18"/>
          <p:cNvSpPr/>
          <p:nvPr/>
        </p:nvSpPr>
        <p:spPr>
          <a:xfrm>
            <a:off x="4754880" y="1828800"/>
            <a:ext cx="621792" cy="256032"/>
          </a:xfrm>
          <a:prstGeom prst="rect">
            <a:avLst/>
          </a:prstGeom>
          <a:noFill/>
          <a:ln/>
        </p:spPr>
        <p:txBody>
          <a:bodyPr wrap="square" lIns="0" tIns="0" rIns="0" bIns="0" rtlCol="0" anchor="ctr"/>
          <a:lstStyle/>
          <a:p>
            <a:pPr algn="ctr" indent="0" marL="0">
              <a:buNone/>
            </a:pPr>
            <a:r>
              <a:rPr lang="en-US" sz="900" b="1" dirty="0">
                <a:solidFill>
                  <a:srgbClr val="080D1A"/>
                </a:solidFill>
                <a:latin typeface="Calibri" pitchFamily="34" charset="0"/>
                <a:ea typeface="Calibri" pitchFamily="34" charset="-122"/>
                <a:cs typeface="Calibri" pitchFamily="34" charset="-120"/>
              </a:rPr>
              <a:t>2013</a:t>
            </a:r>
            <a:endParaRPr lang="en-US" sz="900" dirty="0"/>
          </a:p>
        </p:txBody>
      </p:sp>
      <p:sp>
        <p:nvSpPr>
          <p:cNvPr id="22" name="Text 19"/>
          <p:cNvSpPr/>
          <p:nvPr/>
        </p:nvSpPr>
        <p:spPr>
          <a:xfrm>
            <a:off x="4983480" y="1828800"/>
            <a:ext cx="4023360" cy="256032"/>
          </a:xfrm>
          <a:prstGeom prst="rect">
            <a:avLst/>
          </a:prstGeom>
          <a:noFill/>
          <a:ln/>
        </p:spPr>
        <p:txBody>
          <a:bodyPr wrap="square" lIns="25400" tIns="25400" rIns="25400" bIns="25400" rtlCol="0" anchor="ctr"/>
          <a:lstStyle/>
          <a:p>
            <a:pPr indent="0" marL="0">
              <a:buNone/>
            </a:pPr>
            <a:r>
              <a:rPr lang="en-US" sz="950" dirty="0">
                <a:solidFill>
                  <a:srgbClr val="E8F0FE"/>
                </a:solidFill>
                <a:latin typeface="Calibri" pitchFamily="34" charset="0"/>
                <a:ea typeface="Calibri" pitchFamily="34" charset="-122"/>
                <a:cs typeface="Calibri" pitchFamily="34" charset="-120"/>
              </a:rPr>
              <a:t>Word2Vec — semantic word embeddings by Google</a:t>
            </a:r>
            <a:endParaRPr lang="en-US" sz="950" dirty="0"/>
          </a:p>
        </p:txBody>
      </p:sp>
      <p:sp>
        <p:nvSpPr>
          <p:cNvPr id="23" name="Shape 20"/>
          <p:cNvSpPr/>
          <p:nvPr/>
        </p:nvSpPr>
        <p:spPr>
          <a:xfrm>
            <a:off x="1078992" y="2670048"/>
            <a:ext cx="201168" cy="201168"/>
          </a:xfrm>
          <a:prstGeom prst="ellipse">
            <a:avLst/>
          </a:prstGeom>
          <a:solidFill>
            <a:srgbClr val="06B6D4"/>
          </a:solidFill>
          <a:ln w="12700">
            <a:solidFill>
              <a:srgbClr val="06B6D4"/>
            </a:solidFill>
            <a:prstDash val="solid"/>
          </a:ln>
        </p:spPr>
      </p:sp>
      <p:sp>
        <p:nvSpPr>
          <p:cNvPr id="24" name="Shape 21"/>
          <p:cNvSpPr/>
          <p:nvPr/>
        </p:nvSpPr>
        <p:spPr>
          <a:xfrm>
            <a:off x="137160" y="2633472"/>
            <a:ext cx="621792" cy="256032"/>
          </a:xfrm>
          <a:prstGeom prst="rect">
            <a:avLst/>
          </a:prstGeom>
          <a:solidFill>
            <a:srgbClr val="06B6D4"/>
          </a:solidFill>
          <a:ln w="12700">
            <a:solidFill>
              <a:srgbClr val="06B6D4"/>
            </a:solidFill>
            <a:prstDash val="solid"/>
          </a:ln>
        </p:spPr>
      </p:sp>
      <p:sp>
        <p:nvSpPr>
          <p:cNvPr id="25" name="Text 22"/>
          <p:cNvSpPr/>
          <p:nvPr/>
        </p:nvSpPr>
        <p:spPr>
          <a:xfrm>
            <a:off x="137160" y="2633472"/>
            <a:ext cx="621792" cy="256032"/>
          </a:xfrm>
          <a:prstGeom prst="rect">
            <a:avLst/>
          </a:prstGeom>
          <a:noFill/>
          <a:ln/>
        </p:spPr>
        <p:txBody>
          <a:bodyPr wrap="square" lIns="0" tIns="0" rIns="0" bIns="0" rtlCol="0" anchor="ctr"/>
          <a:lstStyle/>
          <a:p>
            <a:pPr algn="ctr" indent="0" marL="0">
              <a:buNone/>
            </a:pPr>
            <a:r>
              <a:rPr lang="en-US" sz="900" b="1" dirty="0">
                <a:solidFill>
                  <a:srgbClr val="080D1A"/>
                </a:solidFill>
                <a:latin typeface="Calibri" pitchFamily="34" charset="0"/>
                <a:ea typeface="Calibri" pitchFamily="34" charset="-122"/>
                <a:cs typeface="Calibri" pitchFamily="34" charset="-120"/>
              </a:rPr>
              <a:t>2015</a:t>
            </a:r>
            <a:endParaRPr lang="en-US" sz="900" dirty="0"/>
          </a:p>
        </p:txBody>
      </p:sp>
      <p:sp>
        <p:nvSpPr>
          <p:cNvPr id="26" name="Text 23"/>
          <p:cNvSpPr/>
          <p:nvPr/>
        </p:nvSpPr>
        <p:spPr>
          <a:xfrm>
            <a:off x="804672" y="2633472"/>
            <a:ext cx="274320" cy="256032"/>
          </a:xfrm>
          <a:prstGeom prst="rect">
            <a:avLst/>
          </a:prstGeom>
          <a:noFill/>
          <a:ln/>
        </p:spPr>
        <p:txBody>
          <a:bodyPr wrap="square" lIns="25400" tIns="25400" rIns="25400" bIns="25400" rtlCol="0" anchor="ctr"/>
          <a:lstStyle/>
          <a:p>
            <a:pPr indent="0" marL="0">
              <a:buNone/>
            </a:pPr>
            <a:r>
              <a:rPr lang="en-US" sz="950" dirty="0">
                <a:solidFill>
                  <a:srgbClr val="E8F0FE"/>
                </a:solidFill>
                <a:latin typeface="Calibri" pitchFamily="34" charset="0"/>
                <a:ea typeface="Calibri" pitchFamily="34" charset="-122"/>
                <a:cs typeface="Calibri" pitchFamily="34" charset="-120"/>
              </a:rPr>
              <a:t>Seq2Seq + Attention — machine translation breakthrough</a:t>
            </a:r>
            <a:endParaRPr lang="en-US" sz="950" dirty="0"/>
          </a:p>
        </p:txBody>
      </p:sp>
      <p:sp>
        <p:nvSpPr>
          <p:cNvPr id="27" name="Shape 24"/>
          <p:cNvSpPr/>
          <p:nvPr/>
        </p:nvSpPr>
        <p:spPr>
          <a:xfrm>
            <a:off x="4526280" y="2670048"/>
            <a:ext cx="201168" cy="201168"/>
          </a:xfrm>
          <a:prstGeom prst="ellipse">
            <a:avLst/>
          </a:prstGeom>
          <a:solidFill>
            <a:srgbClr val="F59E0B"/>
          </a:solidFill>
          <a:ln w="12700">
            <a:solidFill>
              <a:srgbClr val="F59E0B"/>
            </a:solidFill>
            <a:prstDash val="solid"/>
          </a:ln>
        </p:spPr>
      </p:sp>
      <p:sp>
        <p:nvSpPr>
          <p:cNvPr id="28" name="Shape 25"/>
          <p:cNvSpPr/>
          <p:nvPr/>
        </p:nvSpPr>
        <p:spPr>
          <a:xfrm>
            <a:off x="4754880" y="2633472"/>
            <a:ext cx="621792" cy="256032"/>
          </a:xfrm>
          <a:prstGeom prst="rect">
            <a:avLst/>
          </a:prstGeom>
          <a:solidFill>
            <a:srgbClr val="F59E0B"/>
          </a:solidFill>
          <a:ln w="12700">
            <a:solidFill>
              <a:srgbClr val="F59E0B"/>
            </a:solidFill>
            <a:prstDash val="solid"/>
          </a:ln>
        </p:spPr>
      </p:sp>
      <p:sp>
        <p:nvSpPr>
          <p:cNvPr id="29" name="Text 26"/>
          <p:cNvSpPr/>
          <p:nvPr/>
        </p:nvSpPr>
        <p:spPr>
          <a:xfrm>
            <a:off x="4754880" y="2633472"/>
            <a:ext cx="621792" cy="256032"/>
          </a:xfrm>
          <a:prstGeom prst="rect">
            <a:avLst/>
          </a:prstGeom>
          <a:noFill/>
          <a:ln/>
        </p:spPr>
        <p:txBody>
          <a:bodyPr wrap="square" lIns="0" tIns="0" rIns="0" bIns="0" rtlCol="0" anchor="ctr"/>
          <a:lstStyle/>
          <a:p>
            <a:pPr algn="ctr" indent="0" marL="0">
              <a:buNone/>
            </a:pPr>
            <a:r>
              <a:rPr lang="en-US" sz="900" b="1" dirty="0">
                <a:solidFill>
                  <a:srgbClr val="080D1A"/>
                </a:solidFill>
                <a:latin typeface="Calibri" pitchFamily="34" charset="0"/>
                <a:ea typeface="Calibri" pitchFamily="34" charset="-122"/>
                <a:cs typeface="Calibri" pitchFamily="34" charset="-120"/>
              </a:rPr>
              <a:t>2017</a:t>
            </a:r>
            <a:endParaRPr lang="en-US" sz="900" dirty="0"/>
          </a:p>
        </p:txBody>
      </p:sp>
      <p:sp>
        <p:nvSpPr>
          <p:cNvPr id="30" name="Text 27"/>
          <p:cNvSpPr/>
          <p:nvPr/>
        </p:nvSpPr>
        <p:spPr>
          <a:xfrm>
            <a:off x="4983480" y="2633472"/>
            <a:ext cx="4023360" cy="256032"/>
          </a:xfrm>
          <a:prstGeom prst="rect">
            <a:avLst/>
          </a:prstGeom>
          <a:noFill/>
          <a:ln/>
        </p:spPr>
        <p:txBody>
          <a:bodyPr wrap="square" lIns="25400" tIns="25400" rIns="25400" bIns="25400" rtlCol="0" anchor="ctr"/>
          <a:lstStyle/>
          <a:p>
            <a:pPr indent="0" marL="0">
              <a:buNone/>
            </a:pPr>
            <a:r>
              <a:rPr lang="en-US" sz="950" dirty="0">
                <a:solidFill>
                  <a:srgbClr val="E8F0FE"/>
                </a:solidFill>
                <a:latin typeface="Calibri" pitchFamily="34" charset="0"/>
                <a:ea typeface="Calibri" pitchFamily="34" charset="-122"/>
                <a:cs typeface="Calibri" pitchFamily="34" charset="-120"/>
              </a:rPr>
              <a:t>"Attention Is All You Need" — Transformer architecture born</a:t>
            </a:r>
            <a:endParaRPr lang="en-US" sz="950" dirty="0"/>
          </a:p>
        </p:txBody>
      </p:sp>
      <p:sp>
        <p:nvSpPr>
          <p:cNvPr id="31" name="Shape 28"/>
          <p:cNvSpPr/>
          <p:nvPr/>
        </p:nvSpPr>
        <p:spPr>
          <a:xfrm>
            <a:off x="1078992" y="3474720"/>
            <a:ext cx="201168" cy="201168"/>
          </a:xfrm>
          <a:prstGeom prst="ellipse">
            <a:avLst/>
          </a:prstGeom>
          <a:solidFill>
            <a:srgbClr val="F97316"/>
          </a:solidFill>
          <a:ln w="12700">
            <a:solidFill>
              <a:srgbClr val="F97316"/>
            </a:solidFill>
            <a:prstDash val="solid"/>
          </a:ln>
        </p:spPr>
      </p:sp>
      <p:sp>
        <p:nvSpPr>
          <p:cNvPr id="32" name="Shape 29"/>
          <p:cNvSpPr/>
          <p:nvPr/>
        </p:nvSpPr>
        <p:spPr>
          <a:xfrm>
            <a:off x="137160" y="3438144"/>
            <a:ext cx="621792" cy="256032"/>
          </a:xfrm>
          <a:prstGeom prst="rect">
            <a:avLst/>
          </a:prstGeom>
          <a:solidFill>
            <a:srgbClr val="F97316"/>
          </a:solidFill>
          <a:ln w="12700">
            <a:solidFill>
              <a:srgbClr val="F97316"/>
            </a:solidFill>
            <a:prstDash val="solid"/>
          </a:ln>
        </p:spPr>
      </p:sp>
      <p:sp>
        <p:nvSpPr>
          <p:cNvPr id="33" name="Text 30"/>
          <p:cNvSpPr/>
          <p:nvPr/>
        </p:nvSpPr>
        <p:spPr>
          <a:xfrm>
            <a:off x="137160" y="3438144"/>
            <a:ext cx="621792" cy="256032"/>
          </a:xfrm>
          <a:prstGeom prst="rect">
            <a:avLst/>
          </a:prstGeom>
          <a:noFill/>
          <a:ln/>
        </p:spPr>
        <p:txBody>
          <a:bodyPr wrap="square" lIns="0" tIns="0" rIns="0" bIns="0" rtlCol="0" anchor="ctr"/>
          <a:lstStyle/>
          <a:p>
            <a:pPr algn="ctr" indent="0" marL="0">
              <a:buNone/>
            </a:pPr>
            <a:r>
              <a:rPr lang="en-US" sz="900" b="1" dirty="0">
                <a:solidFill>
                  <a:srgbClr val="080D1A"/>
                </a:solidFill>
                <a:latin typeface="Calibri" pitchFamily="34" charset="0"/>
                <a:ea typeface="Calibri" pitchFamily="34" charset="-122"/>
                <a:cs typeface="Calibri" pitchFamily="34" charset="-120"/>
              </a:rPr>
              <a:t>2018</a:t>
            </a:r>
            <a:endParaRPr lang="en-US" sz="900" dirty="0"/>
          </a:p>
        </p:txBody>
      </p:sp>
      <p:sp>
        <p:nvSpPr>
          <p:cNvPr id="34" name="Text 31"/>
          <p:cNvSpPr/>
          <p:nvPr/>
        </p:nvSpPr>
        <p:spPr>
          <a:xfrm>
            <a:off x="804672" y="3438144"/>
            <a:ext cx="274320" cy="256032"/>
          </a:xfrm>
          <a:prstGeom prst="rect">
            <a:avLst/>
          </a:prstGeom>
          <a:noFill/>
          <a:ln/>
        </p:spPr>
        <p:txBody>
          <a:bodyPr wrap="square" lIns="25400" tIns="25400" rIns="25400" bIns="25400" rtlCol="0" anchor="ctr"/>
          <a:lstStyle/>
          <a:p>
            <a:pPr indent="0" marL="0">
              <a:buNone/>
            </a:pPr>
            <a:r>
              <a:rPr lang="en-US" sz="950" dirty="0">
                <a:solidFill>
                  <a:srgbClr val="E8F0FE"/>
                </a:solidFill>
                <a:latin typeface="Calibri" pitchFamily="34" charset="0"/>
                <a:ea typeface="Calibri" pitchFamily="34" charset="-122"/>
                <a:cs typeface="Calibri" pitchFamily="34" charset="-120"/>
              </a:rPr>
              <a:t>BERT (Google) &amp; GPT-1 (OpenAI) — pretraining era begins</a:t>
            </a:r>
            <a:endParaRPr lang="en-US" sz="950" dirty="0"/>
          </a:p>
        </p:txBody>
      </p:sp>
      <p:sp>
        <p:nvSpPr>
          <p:cNvPr id="35" name="Shape 32"/>
          <p:cNvSpPr/>
          <p:nvPr/>
        </p:nvSpPr>
        <p:spPr>
          <a:xfrm>
            <a:off x="4526280" y="3474720"/>
            <a:ext cx="201168" cy="201168"/>
          </a:xfrm>
          <a:prstGeom prst="ellipse">
            <a:avLst/>
          </a:prstGeom>
          <a:solidFill>
            <a:srgbClr val="8B5CF6"/>
          </a:solidFill>
          <a:ln w="12700">
            <a:solidFill>
              <a:srgbClr val="8B5CF6"/>
            </a:solidFill>
            <a:prstDash val="solid"/>
          </a:ln>
        </p:spPr>
      </p:sp>
      <p:sp>
        <p:nvSpPr>
          <p:cNvPr id="36" name="Shape 33"/>
          <p:cNvSpPr/>
          <p:nvPr/>
        </p:nvSpPr>
        <p:spPr>
          <a:xfrm>
            <a:off x="4754880" y="3438144"/>
            <a:ext cx="621792" cy="256032"/>
          </a:xfrm>
          <a:prstGeom prst="rect">
            <a:avLst/>
          </a:prstGeom>
          <a:solidFill>
            <a:srgbClr val="8B5CF6"/>
          </a:solidFill>
          <a:ln w="12700">
            <a:solidFill>
              <a:srgbClr val="8B5CF6"/>
            </a:solidFill>
            <a:prstDash val="solid"/>
          </a:ln>
        </p:spPr>
      </p:sp>
      <p:sp>
        <p:nvSpPr>
          <p:cNvPr id="37" name="Text 34"/>
          <p:cNvSpPr/>
          <p:nvPr/>
        </p:nvSpPr>
        <p:spPr>
          <a:xfrm>
            <a:off x="4754880" y="3438144"/>
            <a:ext cx="621792" cy="256032"/>
          </a:xfrm>
          <a:prstGeom prst="rect">
            <a:avLst/>
          </a:prstGeom>
          <a:noFill/>
          <a:ln/>
        </p:spPr>
        <p:txBody>
          <a:bodyPr wrap="square" lIns="0" tIns="0" rIns="0" bIns="0" rtlCol="0" anchor="ctr"/>
          <a:lstStyle/>
          <a:p>
            <a:pPr algn="ctr" indent="0" marL="0">
              <a:buNone/>
            </a:pPr>
            <a:r>
              <a:rPr lang="en-US" sz="900" b="1" dirty="0">
                <a:solidFill>
                  <a:srgbClr val="080D1A"/>
                </a:solidFill>
                <a:latin typeface="Calibri" pitchFamily="34" charset="0"/>
                <a:ea typeface="Calibri" pitchFamily="34" charset="-122"/>
                <a:cs typeface="Calibri" pitchFamily="34" charset="-120"/>
              </a:rPr>
              <a:t>2020</a:t>
            </a:r>
            <a:endParaRPr lang="en-US" sz="900" dirty="0"/>
          </a:p>
        </p:txBody>
      </p:sp>
      <p:sp>
        <p:nvSpPr>
          <p:cNvPr id="38" name="Text 35"/>
          <p:cNvSpPr/>
          <p:nvPr/>
        </p:nvSpPr>
        <p:spPr>
          <a:xfrm>
            <a:off x="4983480" y="3438144"/>
            <a:ext cx="4023360" cy="256032"/>
          </a:xfrm>
          <a:prstGeom prst="rect">
            <a:avLst/>
          </a:prstGeom>
          <a:noFill/>
          <a:ln/>
        </p:spPr>
        <p:txBody>
          <a:bodyPr wrap="square" lIns="25400" tIns="25400" rIns="25400" bIns="25400" rtlCol="0" anchor="ctr"/>
          <a:lstStyle/>
          <a:p>
            <a:pPr indent="0" marL="0">
              <a:buNone/>
            </a:pPr>
            <a:r>
              <a:rPr lang="en-US" sz="950" dirty="0">
                <a:solidFill>
                  <a:srgbClr val="E8F0FE"/>
                </a:solidFill>
                <a:latin typeface="Calibri" pitchFamily="34" charset="0"/>
                <a:ea typeface="Calibri" pitchFamily="34" charset="-122"/>
                <a:cs typeface="Calibri" pitchFamily="34" charset="-120"/>
              </a:rPr>
              <a:t>GPT-3 (175B params) — few-shot learning surprises world</a:t>
            </a:r>
            <a:endParaRPr lang="en-US" sz="950" dirty="0"/>
          </a:p>
        </p:txBody>
      </p:sp>
      <p:sp>
        <p:nvSpPr>
          <p:cNvPr id="39" name="Shape 36"/>
          <p:cNvSpPr/>
          <p:nvPr/>
        </p:nvSpPr>
        <p:spPr>
          <a:xfrm>
            <a:off x="1078992" y="4279392"/>
            <a:ext cx="201168" cy="201168"/>
          </a:xfrm>
          <a:prstGeom prst="ellipse">
            <a:avLst/>
          </a:prstGeom>
          <a:solidFill>
            <a:srgbClr val="EF4444"/>
          </a:solidFill>
          <a:ln w="12700">
            <a:solidFill>
              <a:srgbClr val="EF4444"/>
            </a:solidFill>
            <a:prstDash val="solid"/>
          </a:ln>
        </p:spPr>
      </p:sp>
      <p:sp>
        <p:nvSpPr>
          <p:cNvPr id="40" name="Shape 37"/>
          <p:cNvSpPr/>
          <p:nvPr/>
        </p:nvSpPr>
        <p:spPr>
          <a:xfrm>
            <a:off x="137160" y="4242816"/>
            <a:ext cx="621792" cy="256032"/>
          </a:xfrm>
          <a:prstGeom prst="rect">
            <a:avLst/>
          </a:prstGeom>
          <a:solidFill>
            <a:srgbClr val="EF4444"/>
          </a:solidFill>
          <a:ln w="12700">
            <a:solidFill>
              <a:srgbClr val="EF4444"/>
            </a:solidFill>
            <a:prstDash val="solid"/>
          </a:ln>
        </p:spPr>
      </p:sp>
      <p:sp>
        <p:nvSpPr>
          <p:cNvPr id="41" name="Text 38"/>
          <p:cNvSpPr/>
          <p:nvPr/>
        </p:nvSpPr>
        <p:spPr>
          <a:xfrm>
            <a:off x="137160" y="4242816"/>
            <a:ext cx="621792" cy="256032"/>
          </a:xfrm>
          <a:prstGeom prst="rect">
            <a:avLst/>
          </a:prstGeom>
          <a:noFill/>
          <a:ln/>
        </p:spPr>
        <p:txBody>
          <a:bodyPr wrap="square" lIns="0" tIns="0" rIns="0" bIns="0" rtlCol="0" anchor="ctr"/>
          <a:lstStyle/>
          <a:p>
            <a:pPr algn="ctr" indent="0" marL="0">
              <a:buNone/>
            </a:pPr>
            <a:r>
              <a:rPr lang="en-US" sz="900" b="1" dirty="0">
                <a:solidFill>
                  <a:srgbClr val="080D1A"/>
                </a:solidFill>
                <a:latin typeface="Calibri" pitchFamily="34" charset="0"/>
                <a:ea typeface="Calibri" pitchFamily="34" charset="-122"/>
                <a:cs typeface="Calibri" pitchFamily="34" charset="-120"/>
              </a:rPr>
              <a:t>2022</a:t>
            </a:r>
            <a:endParaRPr lang="en-US" sz="900" dirty="0"/>
          </a:p>
        </p:txBody>
      </p:sp>
      <p:sp>
        <p:nvSpPr>
          <p:cNvPr id="42" name="Text 39"/>
          <p:cNvSpPr/>
          <p:nvPr/>
        </p:nvSpPr>
        <p:spPr>
          <a:xfrm>
            <a:off x="804672" y="4242816"/>
            <a:ext cx="274320" cy="256032"/>
          </a:xfrm>
          <a:prstGeom prst="rect">
            <a:avLst/>
          </a:prstGeom>
          <a:noFill/>
          <a:ln/>
        </p:spPr>
        <p:txBody>
          <a:bodyPr wrap="square" lIns="25400" tIns="25400" rIns="25400" bIns="25400" rtlCol="0" anchor="ctr"/>
          <a:lstStyle/>
          <a:p>
            <a:pPr indent="0" marL="0">
              <a:buNone/>
            </a:pPr>
            <a:r>
              <a:rPr lang="en-US" sz="950" dirty="0">
                <a:solidFill>
                  <a:srgbClr val="E8F0FE"/>
                </a:solidFill>
                <a:latin typeface="Calibri" pitchFamily="34" charset="0"/>
                <a:ea typeface="Calibri" pitchFamily="34" charset="-122"/>
                <a:cs typeface="Calibri" pitchFamily="34" charset="-120"/>
              </a:rPr>
              <a:t>ChatGPT launched — 100M users in 60 days, mass adoption</a:t>
            </a:r>
            <a:endParaRPr lang="en-US" sz="950" dirty="0"/>
          </a:p>
        </p:txBody>
      </p:sp>
      <p:sp>
        <p:nvSpPr>
          <p:cNvPr id="43" name="Shape 40"/>
          <p:cNvSpPr/>
          <p:nvPr/>
        </p:nvSpPr>
        <p:spPr>
          <a:xfrm>
            <a:off x="4526280" y="4279392"/>
            <a:ext cx="201168" cy="201168"/>
          </a:xfrm>
          <a:prstGeom prst="ellipse">
            <a:avLst/>
          </a:prstGeom>
          <a:solidFill>
            <a:srgbClr val="10B981"/>
          </a:solidFill>
          <a:ln w="12700">
            <a:solidFill>
              <a:srgbClr val="10B981"/>
            </a:solidFill>
            <a:prstDash val="solid"/>
          </a:ln>
        </p:spPr>
      </p:sp>
      <p:sp>
        <p:nvSpPr>
          <p:cNvPr id="44" name="Shape 41"/>
          <p:cNvSpPr/>
          <p:nvPr/>
        </p:nvSpPr>
        <p:spPr>
          <a:xfrm>
            <a:off x="4754880" y="4242816"/>
            <a:ext cx="621792" cy="256032"/>
          </a:xfrm>
          <a:prstGeom prst="rect">
            <a:avLst/>
          </a:prstGeom>
          <a:solidFill>
            <a:srgbClr val="10B981"/>
          </a:solidFill>
          <a:ln w="12700">
            <a:solidFill>
              <a:srgbClr val="10B981"/>
            </a:solidFill>
            <a:prstDash val="solid"/>
          </a:ln>
        </p:spPr>
      </p:sp>
      <p:sp>
        <p:nvSpPr>
          <p:cNvPr id="45" name="Text 42"/>
          <p:cNvSpPr/>
          <p:nvPr/>
        </p:nvSpPr>
        <p:spPr>
          <a:xfrm>
            <a:off x="4754880" y="4242816"/>
            <a:ext cx="621792" cy="256032"/>
          </a:xfrm>
          <a:prstGeom prst="rect">
            <a:avLst/>
          </a:prstGeom>
          <a:noFill/>
          <a:ln/>
        </p:spPr>
        <p:txBody>
          <a:bodyPr wrap="square" lIns="0" tIns="0" rIns="0" bIns="0" rtlCol="0" anchor="ctr"/>
          <a:lstStyle/>
          <a:p>
            <a:pPr algn="ctr" indent="0" marL="0">
              <a:buNone/>
            </a:pPr>
            <a:r>
              <a:rPr lang="en-US" sz="900" b="1" dirty="0">
                <a:solidFill>
                  <a:srgbClr val="080D1A"/>
                </a:solidFill>
                <a:latin typeface="Calibri" pitchFamily="34" charset="0"/>
                <a:ea typeface="Calibri" pitchFamily="34" charset="-122"/>
                <a:cs typeface="Calibri" pitchFamily="34" charset="-120"/>
              </a:rPr>
              <a:t>2023</a:t>
            </a:r>
            <a:endParaRPr lang="en-US" sz="900" dirty="0"/>
          </a:p>
        </p:txBody>
      </p:sp>
      <p:sp>
        <p:nvSpPr>
          <p:cNvPr id="46" name="Text 43"/>
          <p:cNvSpPr/>
          <p:nvPr/>
        </p:nvSpPr>
        <p:spPr>
          <a:xfrm>
            <a:off x="4983480" y="4242816"/>
            <a:ext cx="4023360" cy="256032"/>
          </a:xfrm>
          <a:prstGeom prst="rect">
            <a:avLst/>
          </a:prstGeom>
          <a:noFill/>
          <a:ln/>
        </p:spPr>
        <p:txBody>
          <a:bodyPr wrap="square" lIns="25400" tIns="25400" rIns="25400" bIns="25400" rtlCol="0" anchor="ctr"/>
          <a:lstStyle/>
          <a:p>
            <a:pPr indent="0" marL="0">
              <a:buNone/>
            </a:pPr>
            <a:r>
              <a:rPr lang="en-US" sz="950" dirty="0">
                <a:solidFill>
                  <a:srgbClr val="E8F0FE"/>
                </a:solidFill>
                <a:latin typeface="Calibri" pitchFamily="34" charset="0"/>
                <a:ea typeface="Calibri" pitchFamily="34" charset="-122"/>
                <a:cs typeface="Calibri" pitchFamily="34" charset="-120"/>
              </a:rPr>
              <a:t>GPT-4, Llama 2, Claude 2, Gemini — multimodal models emerge</a:t>
            </a:r>
            <a:endParaRPr lang="en-US" sz="950" dirty="0"/>
          </a:p>
        </p:txBody>
      </p:sp>
      <p:sp>
        <p:nvSpPr>
          <p:cNvPr id="47" name="Shape 44"/>
          <p:cNvSpPr/>
          <p:nvPr/>
        </p:nvSpPr>
        <p:spPr>
          <a:xfrm>
            <a:off x="1078992" y="5084064"/>
            <a:ext cx="201168" cy="201168"/>
          </a:xfrm>
          <a:prstGeom prst="ellipse">
            <a:avLst/>
          </a:prstGeom>
          <a:solidFill>
            <a:srgbClr val="06B6D4"/>
          </a:solidFill>
          <a:ln w="12700">
            <a:solidFill>
              <a:srgbClr val="06B6D4"/>
            </a:solidFill>
            <a:prstDash val="solid"/>
          </a:ln>
        </p:spPr>
      </p:sp>
      <p:sp>
        <p:nvSpPr>
          <p:cNvPr id="48" name="Shape 45"/>
          <p:cNvSpPr/>
          <p:nvPr/>
        </p:nvSpPr>
        <p:spPr>
          <a:xfrm>
            <a:off x="137160" y="5047488"/>
            <a:ext cx="621792" cy="256032"/>
          </a:xfrm>
          <a:prstGeom prst="rect">
            <a:avLst/>
          </a:prstGeom>
          <a:solidFill>
            <a:srgbClr val="06B6D4"/>
          </a:solidFill>
          <a:ln w="12700">
            <a:solidFill>
              <a:srgbClr val="06B6D4"/>
            </a:solidFill>
            <a:prstDash val="solid"/>
          </a:ln>
        </p:spPr>
      </p:sp>
      <p:sp>
        <p:nvSpPr>
          <p:cNvPr id="49" name="Text 46"/>
          <p:cNvSpPr/>
          <p:nvPr/>
        </p:nvSpPr>
        <p:spPr>
          <a:xfrm>
            <a:off x="137160" y="5047488"/>
            <a:ext cx="621792" cy="256032"/>
          </a:xfrm>
          <a:prstGeom prst="rect">
            <a:avLst/>
          </a:prstGeom>
          <a:noFill/>
          <a:ln/>
        </p:spPr>
        <p:txBody>
          <a:bodyPr wrap="square" lIns="0" tIns="0" rIns="0" bIns="0" rtlCol="0" anchor="ctr"/>
          <a:lstStyle/>
          <a:p>
            <a:pPr algn="ctr" indent="0" marL="0">
              <a:buNone/>
            </a:pPr>
            <a:r>
              <a:rPr lang="en-US" sz="900" b="1" dirty="0">
                <a:solidFill>
                  <a:srgbClr val="080D1A"/>
                </a:solidFill>
                <a:latin typeface="Calibri" pitchFamily="34" charset="0"/>
                <a:ea typeface="Calibri" pitchFamily="34" charset="-122"/>
                <a:cs typeface="Calibri" pitchFamily="34" charset="-120"/>
              </a:rPr>
              <a:t>2024+</a:t>
            </a:r>
            <a:endParaRPr lang="en-US" sz="900" dirty="0"/>
          </a:p>
        </p:txBody>
      </p:sp>
      <p:sp>
        <p:nvSpPr>
          <p:cNvPr id="50" name="Text 47"/>
          <p:cNvSpPr/>
          <p:nvPr/>
        </p:nvSpPr>
        <p:spPr>
          <a:xfrm>
            <a:off x="804672" y="5047488"/>
            <a:ext cx="274320" cy="256032"/>
          </a:xfrm>
          <a:prstGeom prst="rect">
            <a:avLst/>
          </a:prstGeom>
          <a:noFill/>
          <a:ln/>
        </p:spPr>
        <p:txBody>
          <a:bodyPr wrap="square" lIns="25400" tIns="25400" rIns="25400" bIns="25400" rtlCol="0" anchor="ctr"/>
          <a:lstStyle/>
          <a:p>
            <a:pPr indent="0" marL="0">
              <a:buNone/>
            </a:pPr>
            <a:r>
              <a:rPr lang="en-US" sz="950" dirty="0">
                <a:solidFill>
                  <a:srgbClr val="E8F0FE"/>
                </a:solidFill>
                <a:latin typeface="Calibri" pitchFamily="34" charset="0"/>
                <a:ea typeface="Calibri" pitchFamily="34" charset="-122"/>
                <a:cs typeface="Calibri" pitchFamily="34" charset="-120"/>
              </a:rPr>
              <a:t>Reasoning models (o1), agents, 1M+ context windows</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0F6FF"/>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D1B3E"/>
          </a:solidFill>
          <a:ln w="12700">
            <a:solidFill>
              <a:srgbClr val="0D1B3E"/>
            </a:solidFill>
            <a:prstDash val="solid"/>
          </a:ln>
        </p:spPr>
      </p:sp>
      <p:sp>
        <p:nvSpPr>
          <p:cNvPr id="3" name="Shape 1"/>
          <p:cNvSpPr/>
          <p:nvPr/>
        </p:nvSpPr>
        <p:spPr>
          <a:xfrm>
            <a:off x="0" y="914400"/>
            <a:ext cx="9144000" cy="45720"/>
          </a:xfrm>
          <a:prstGeom prst="rect">
            <a:avLst/>
          </a:prstGeom>
          <a:solidFill>
            <a:srgbClr val="8B5CF6"/>
          </a:solidFill>
          <a:ln w="12700">
            <a:solidFill>
              <a:srgbClr val="8B5CF6"/>
            </a:solidFill>
            <a:prstDash val="solid"/>
          </a:ln>
        </p:spPr>
      </p:sp>
      <p:pic>
        <p:nvPicPr>
          <p:cNvPr id="4" name="Image 0" descr="preencoded.png">    </p:cNvPr>
          <p:cNvPicPr>
            <a:picLocks noChangeAspect="1"/>
          </p:cNvPicPr>
          <p:nvPr/>
        </p:nvPicPr>
        <p:blipFill>
          <a:blip r:embed="rId1"/>
          <a:stretch>
            <a:fillRect/>
          </a:stretch>
        </p:blipFill>
        <p:spPr>
          <a:xfrm>
            <a:off x="228600" y="182880"/>
            <a:ext cx="502920" cy="502920"/>
          </a:xfrm>
          <a:prstGeom prst="rect">
            <a:avLst/>
          </a:prstGeom>
        </p:spPr>
      </p:pic>
      <p:sp>
        <p:nvSpPr>
          <p:cNvPr id="5" name="Text 2"/>
          <p:cNvSpPr/>
          <p:nvPr/>
        </p:nvSpPr>
        <p:spPr>
          <a:xfrm>
            <a:off x="822960" y="137160"/>
            <a:ext cx="8046720" cy="68580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Transformer Architecture — The Core of LLMs</a:t>
            </a:r>
            <a:endParaRPr lang="en-US" sz="2600" dirty="0"/>
          </a:p>
        </p:txBody>
      </p:sp>
      <p:sp>
        <p:nvSpPr>
          <p:cNvPr id="6" name="Shape 3"/>
          <p:cNvSpPr/>
          <p:nvPr/>
        </p:nvSpPr>
        <p:spPr>
          <a:xfrm>
            <a:off x="228600" y="1024128"/>
            <a:ext cx="4114800" cy="1170432"/>
          </a:xfrm>
          <a:prstGeom prst="rect">
            <a:avLst/>
          </a:prstGeom>
          <a:solidFill>
            <a:srgbClr val="FFFFFF"/>
          </a:solidFill>
          <a:ln w="25400">
            <a:solidFill>
              <a:srgbClr val="1A56DB"/>
            </a:solidFill>
            <a:prstDash val="solid"/>
          </a:ln>
          <a:effectLst>
            <a:outerShdw sx="100000" sy="100000" kx="0" ky="0" algn="bl" rotWithShape="0" blurRad="101600" dist="38100" dir="8100000">
              <a:srgbClr val="000000">
                <a:alpha val="20000"/>
              </a:srgbClr>
            </a:outerShdw>
          </a:effectLst>
        </p:spPr>
      </p:sp>
      <p:sp>
        <p:nvSpPr>
          <p:cNvPr id="7" name="Shape 4"/>
          <p:cNvSpPr/>
          <p:nvPr/>
        </p:nvSpPr>
        <p:spPr>
          <a:xfrm>
            <a:off x="228600" y="1024128"/>
            <a:ext cx="4114800" cy="329184"/>
          </a:xfrm>
          <a:prstGeom prst="rect">
            <a:avLst/>
          </a:prstGeom>
          <a:solidFill>
            <a:srgbClr val="1A56DB"/>
          </a:solidFill>
          <a:ln w="12700">
            <a:solidFill>
              <a:srgbClr val="1A56DB"/>
            </a:solidFill>
            <a:prstDash val="solid"/>
          </a:ln>
        </p:spPr>
      </p:sp>
      <p:sp>
        <p:nvSpPr>
          <p:cNvPr id="8" name="Text 5"/>
          <p:cNvSpPr/>
          <p:nvPr/>
        </p:nvSpPr>
        <p:spPr>
          <a:xfrm>
            <a:off x="301752" y="1060704"/>
            <a:ext cx="3977640" cy="274320"/>
          </a:xfrm>
          <a:prstGeom prst="rect">
            <a:avLst/>
          </a:prstGeom>
          <a:noFill/>
          <a:ln/>
        </p:spPr>
        <p:txBody>
          <a:bodyPr wrap="square" lIns="25400" tIns="25400" rIns="25400" bIns="2540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Input Embedding</a:t>
            </a:r>
            <a:endParaRPr lang="en-US" sz="1200" dirty="0"/>
          </a:p>
        </p:txBody>
      </p:sp>
      <p:sp>
        <p:nvSpPr>
          <p:cNvPr id="9" name="Text 6"/>
          <p:cNvSpPr/>
          <p:nvPr/>
        </p:nvSpPr>
        <p:spPr>
          <a:xfrm>
            <a:off x="320040" y="1408176"/>
            <a:ext cx="3931920" cy="713232"/>
          </a:xfrm>
          <a:prstGeom prst="rect">
            <a:avLst/>
          </a:prstGeom>
          <a:noFill/>
          <a:ln/>
        </p:spPr>
        <p:txBody>
          <a:bodyPr wrap="square" lIns="50800" tIns="50800" rIns="50800" bIns="50800" rtlCol="0" anchor="ctr"/>
          <a:lstStyle/>
          <a:p>
            <a:pPr indent="0" marL="0">
              <a:buNone/>
            </a:pPr>
            <a:r>
              <a:rPr lang="en-US" sz="1050" dirty="0">
                <a:solidFill>
                  <a:srgbClr val="1E2D4E"/>
                </a:solidFill>
                <a:latin typeface="Calibri" pitchFamily="34" charset="0"/>
                <a:ea typeface="Calibri" pitchFamily="34" charset="-122"/>
                <a:cs typeface="Calibri" pitchFamily="34" charset="-120"/>
              </a:rPr>
              <a:t>Tokens converted to dense vectors in embedding space (d_model = 512–4096)</a:t>
            </a:r>
            <a:endParaRPr lang="en-US" sz="1050" dirty="0"/>
          </a:p>
        </p:txBody>
      </p:sp>
      <p:sp>
        <p:nvSpPr>
          <p:cNvPr id="10" name="Shape 7"/>
          <p:cNvSpPr/>
          <p:nvPr/>
        </p:nvSpPr>
        <p:spPr>
          <a:xfrm>
            <a:off x="4572000" y="1024128"/>
            <a:ext cx="4114800" cy="1170432"/>
          </a:xfrm>
          <a:prstGeom prst="rect">
            <a:avLst/>
          </a:prstGeom>
          <a:solidFill>
            <a:srgbClr val="FFFFFF"/>
          </a:solidFill>
          <a:ln w="25400">
            <a:solidFill>
              <a:srgbClr val="0D9488"/>
            </a:solidFill>
            <a:prstDash val="solid"/>
          </a:ln>
          <a:effectLst>
            <a:outerShdw sx="100000" sy="100000" kx="0" ky="0" algn="bl" rotWithShape="0" blurRad="101600" dist="38100" dir="8100000">
              <a:srgbClr val="000000">
                <a:alpha val="20000"/>
              </a:srgbClr>
            </a:outerShdw>
          </a:effectLst>
        </p:spPr>
      </p:sp>
      <p:sp>
        <p:nvSpPr>
          <p:cNvPr id="11" name="Shape 8"/>
          <p:cNvSpPr/>
          <p:nvPr/>
        </p:nvSpPr>
        <p:spPr>
          <a:xfrm>
            <a:off x="4572000" y="1024128"/>
            <a:ext cx="4114800" cy="329184"/>
          </a:xfrm>
          <a:prstGeom prst="rect">
            <a:avLst/>
          </a:prstGeom>
          <a:solidFill>
            <a:srgbClr val="0D9488"/>
          </a:solidFill>
          <a:ln w="12700">
            <a:solidFill>
              <a:srgbClr val="0D9488"/>
            </a:solidFill>
            <a:prstDash val="solid"/>
          </a:ln>
        </p:spPr>
      </p:sp>
      <p:sp>
        <p:nvSpPr>
          <p:cNvPr id="12" name="Text 9"/>
          <p:cNvSpPr/>
          <p:nvPr/>
        </p:nvSpPr>
        <p:spPr>
          <a:xfrm>
            <a:off x="4645152" y="1060704"/>
            <a:ext cx="3977640" cy="274320"/>
          </a:xfrm>
          <a:prstGeom prst="rect">
            <a:avLst/>
          </a:prstGeom>
          <a:noFill/>
          <a:ln/>
        </p:spPr>
        <p:txBody>
          <a:bodyPr wrap="square" lIns="25400" tIns="25400" rIns="25400" bIns="2540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Positional Encoding</a:t>
            </a:r>
            <a:endParaRPr lang="en-US" sz="1200" dirty="0"/>
          </a:p>
        </p:txBody>
      </p:sp>
      <p:sp>
        <p:nvSpPr>
          <p:cNvPr id="13" name="Text 10"/>
          <p:cNvSpPr/>
          <p:nvPr/>
        </p:nvSpPr>
        <p:spPr>
          <a:xfrm>
            <a:off x="4663440" y="1408176"/>
            <a:ext cx="3931920" cy="713232"/>
          </a:xfrm>
          <a:prstGeom prst="rect">
            <a:avLst/>
          </a:prstGeom>
          <a:noFill/>
          <a:ln/>
        </p:spPr>
        <p:txBody>
          <a:bodyPr wrap="square" lIns="50800" tIns="50800" rIns="50800" bIns="50800" rtlCol="0" anchor="ctr"/>
          <a:lstStyle/>
          <a:p>
            <a:pPr indent="0" marL="0">
              <a:buNone/>
            </a:pPr>
            <a:r>
              <a:rPr lang="en-US" sz="1050" dirty="0">
                <a:solidFill>
                  <a:srgbClr val="1E2D4E"/>
                </a:solidFill>
                <a:latin typeface="Calibri" pitchFamily="34" charset="0"/>
                <a:ea typeface="Calibri" pitchFamily="34" charset="-122"/>
                <a:cs typeface="Calibri" pitchFamily="34" charset="-120"/>
              </a:rPr>
              <a:t>Sine/cosine functions encode position — no inherent order in attention</a:t>
            </a:r>
            <a:endParaRPr lang="en-US" sz="1050" dirty="0"/>
          </a:p>
        </p:txBody>
      </p:sp>
      <p:sp>
        <p:nvSpPr>
          <p:cNvPr id="14" name="Shape 11"/>
          <p:cNvSpPr/>
          <p:nvPr/>
        </p:nvSpPr>
        <p:spPr>
          <a:xfrm>
            <a:off x="228600" y="2322576"/>
            <a:ext cx="4114800" cy="1170432"/>
          </a:xfrm>
          <a:prstGeom prst="rect">
            <a:avLst/>
          </a:prstGeom>
          <a:solidFill>
            <a:srgbClr val="FFFFFF"/>
          </a:solidFill>
          <a:ln w="25400">
            <a:solidFill>
              <a:srgbClr val="F59E0B"/>
            </a:solidFill>
            <a:prstDash val="solid"/>
          </a:ln>
          <a:effectLst>
            <a:outerShdw sx="100000" sy="100000" kx="0" ky="0" algn="bl" rotWithShape="0" blurRad="101600" dist="38100" dir="8100000">
              <a:srgbClr val="000000">
                <a:alpha val="20000"/>
              </a:srgbClr>
            </a:outerShdw>
          </a:effectLst>
        </p:spPr>
      </p:sp>
      <p:sp>
        <p:nvSpPr>
          <p:cNvPr id="15" name="Shape 12"/>
          <p:cNvSpPr/>
          <p:nvPr/>
        </p:nvSpPr>
        <p:spPr>
          <a:xfrm>
            <a:off x="228600" y="2322576"/>
            <a:ext cx="4114800" cy="329184"/>
          </a:xfrm>
          <a:prstGeom prst="rect">
            <a:avLst/>
          </a:prstGeom>
          <a:solidFill>
            <a:srgbClr val="F59E0B"/>
          </a:solidFill>
          <a:ln w="12700">
            <a:solidFill>
              <a:srgbClr val="F59E0B"/>
            </a:solidFill>
            <a:prstDash val="solid"/>
          </a:ln>
        </p:spPr>
      </p:sp>
      <p:sp>
        <p:nvSpPr>
          <p:cNvPr id="16" name="Text 13"/>
          <p:cNvSpPr/>
          <p:nvPr/>
        </p:nvSpPr>
        <p:spPr>
          <a:xfrm>
            <a:off x="301752" y="2359152"/>
            <a:ext cx="3977640" cy="274320"/>
          </a:xfrm>
          <a:prstGeom prst="rect">
            <a:avLst/>
          </a:prstGeom>
          <a:noFill/>
          <a:ln/>
        </p:spPr>
        <p:txBody>
          <a:bodyPr wrap="square" lIns="25400" tIns="25400" rIns="25400" bIns="2540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Multi-Head Attention</a:t>
            </a:r>
            <a:endParaRPr lang="en-US" sz="1200" dirty="0"/>
          </a:p>
        </p:txBody>
      </p:sp>
      <p:sp>
        <p:nvSpPr>
          <p:cNvPr id="17" name="Text 14"/>
          <p:cNvSpPr/>
          <p:nvPr/>
        </p:nvSpPr>
        <p:spPr>
          <a:xfrm>
            <a:off x="320040" y="2706624"/>
            <a:ext cx="3931920" cy="713232"/>
          </a:xfrm>
          <a:prstGeom prst="rect">
            <a:avLst/>
          </a:prstGeom>
          <a:noFill/>
          <a:ln/>
        </p:spPr>
        <p:txBody>
          <a:bodyPr wrap="square" lIns="50800" tIns="50800" rIns="50800" bIns="50800" rtlCol="0" anchor="ctr"/>
          <a:lstStyle/>
          <a:p>
            <a:pPr indent="0" marL="0">
              <a:buNone/>
            </a:pPr>
            <a:r>
              <a:rPr lang="en-US" sz="1050" dirty="0">
                <a:solidFill>
                  <a:srgbClr val="1E2D4E"/>
                </a:solidFill>
                <a:latin typeface="Calibri" pitchFamily="34" charset="0"/>
                <a:ea typeface="Calibri" pitchFamily="34" charset="-122"/>
                <a:cs typeface="Calibri" pitchFamily="34" charset="-120"/>
              </a:rPr>
              <a:t>Multiple attention heads learn different relationships simultaneously</a:t>
            </a:r>
            <a:endParaRPr lang="en-US" sz="1050" dirty="0"/>
          </a:p>
        </p:txBody>
      </p:sp>
      <p:sp>
        <p:nvSpPr>
          <p:cNvPr id="18" name="Shape 15"/>
          <p:cNvSpPr/>
          <p:nvPr/>
        </p:nvSpPr>
        <p:spPr>
          <a:xfrm>
            <a:off x="4572000" y="2322576"/>
            <a:ext cx="4114800" cy="1170432"/>
          </a:xfrm>
          <a:prstGeom prst="rect">
            <a:avLst/>
          </a:prstGeom>
          <a:solidFill>
            <a:srgbClr val="FFFFFF"/>
          </a:solidFill>
          <a:ln w="25400">
            <a:solidFill>
              <a:srgbClr val="8B5CF6"/>
            </a:solidFill>
            <a:prstDash val="solid"/>
          </a:ln>
          <a:effectLst>
            <a:outerShdw sx="100000" sy="100000" kx="0" ky="0" algn="bl" rotWithShape="0" blurRad="101600" dist="38100" dir="8100000">
              <a:srgbClr val="000000">
                <a:alpha val="20000"/>
              </a:srgbClr>
            </a:outerShdw>
          </a:effectLst>
        </p:spPr>
      </p:sp>
      <p:sp>
        <p:nvSpPr>
          <p:cNvPr id="19" name="Shape 16"/>
          <p:cNvSpPr/>
          <p:nvPr/>
        </p:nvSpPr>
        <p:spPr>
          <a:xfrm>
            <a:off x="4572000" y="2322576"/>
            <a:ext cx="4114800" cy="329184"/>
          </a:xfrm>
          <a:prstGeom prst="rect">
            <a:avLst/>
          </a:prstGeom>
          <a:solidFill>
            <a:srgbClr val="8B5CF6"/>
          </a:solidFill>
          <a:ln w="12700">
            <a:solidFill>
              <a:srgbClr val="8B5CF6"/>
            </a:solidFill>
            <a:prstDash val="solid"/>
          </a:ln>
        </p:spPr>
      </p:sp>
      <p:sp>
        <p:nvSpPr>
          <p:cNvPr id="20" name="Text 17"/>
          <p:cNvSpPr/>
          <p:nvPr/>
        </p:nvSpPr>
        <p:spPr>
          <a:xfrm>
            <a:off x="4645152" y="2359152"/>
            <a:ext cx="3977640" cy="274320"/>
          </a:xfrm>
          <a:prstGeom prst="rect">
            <a:avLst/>
          </a:prstGeom>
          <a:noFill/>
          <a:ln/>
        </p:spPr>
        <p:txBody>
          <a:bodyPr wrap="square" lIns="25400" tIns="25400" rIns="25400" bIns="2540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Feed-Forward Network</a:t>
            </a:r>
            <a:endParaRPr lang="en-US" sz="1200" dirty="0"/>
          </a:p>
        </p:txBody>
      </p:sp>
      <p:sp>
        <p:nvSpPr>
          <p:cNvPr id="21" name="Text 18"/>
          <p:cNvSpPr/>
          <p:nvPr/>
        </p:nvSpPr>
        <p:spPr>
          <a:xfrm>
            <a:off x="4663440" y="2706624"/>
            <a:ext cx="3931920" cy="713232"/>
          </a:xfrm>
          <a:prstGeom prst="rect">
            <a:avLst/>
          </a:prstGeom>
          <a:noFill/>
          <a:ln/>
        </p:spPr>
        <p:txBody>
          <a:bodyPr wrap="square" lIns="50800" tIns="50800" rIns="50800" bIns="50800" rtlCol="0" anchor="ctr"/>
          <a:lstStyle/>
          <a:p>
            <a:pPr indent="0" marL="0">
              <a:buNone/>
            </a:pPr>
            <a:r>
              <a:rPr lang="en-US" sz="1050" dirty="0">
                <a:solidFill>
                  <a:srgbClr val="1E2D4E"/>
                </a:solidFill>
                <a:latin typeface="Calibri" pitchFamily="34" charset="0"/>
                <a:ea typeface="Calibri" pitchFamily="34" charset="-122"/>
                <a:cs typeface="Calibri" pitchFamily="34" charset="-120"/>
              </a:rPr>
              <a:t>2-layer MLP applied position-wise. ReLU/GELU activation. Expands knowledge</a:t>
            </a:r>
            <a:endParaRPr lang="en-US" sz="1050" dirty="0"/>
          </a:p>
        </p:txBody>
      </p:sp>
      <p:sp>
        <p:nvSpPr>
          <p:cNvPr id="22" name="Shape 19"/>
          <p:cNvSpPr/>
          <p:nvPr/>
        </p:nvSpPr>
        <p:spPr>
          <a:xfrm>
            <a:off x="228600" y="3621024"/>
            <a:ext cx="4114800" cy="1170432"/>
          </a:xfrm>
          <a:prstGeom prst="rect">
            <a:avLst/>
          </a:prstGeom>
          <a:solidFill>
            <a:srgbClr val="FFFFFF"/>
          </a:solidFill>
          <a:ln w="25400">
            <a:solidFill>
              <a:srgbClr val="10B981"/>
            </a:solidFill>
            <a:prstDash val="solid"/>
          </a:ln>
          <a:effectLst>
            <a:outerShdw sx="100000" sy="100000" kx="0" ky="0" algn="bl" rotWithShape="0" blurRad="101600" dist="38100" dir="8100000">
              <a:srgbClr val="000000">
                <a:alpha val="20000"/>
              </a:srgbClr>
            </a:outerShdw>
          </a:effectLst>
        </p:spPr>
      </p:sp>
      <p:sp>
        <p:nvSpPr>
          <p:cNvPr id="23" name="Shape 20"/>
          <p:cNvSpPr/>
          <p:nvPr/>
        </p:nvSpPr>
        <p:spPr>
          <a:xfrm>
            <a:off x="228600" y="3621024"/>
            <a:ext cx="4114800" cy="329184"/>
          </a:xfrm>
          <a:prstGeom prst="rect">
            <a:avLst/>
          </a:prstGeom>
          <a:solidFill>
            <a:srgbClr val="10B981"/>
          </a:solidFill>
          <a:ln w="12700">
            <a:solidFill>
              <a:srgbClr val="10B981"/>
            </a:solidFill>
            <a:prstDash val="solid"/>
          </a:ln>
        </p:spPr>
      </p:sp>
      <p:sp>
        <p:nvSpPr>
          <p:cNvPr id="24" name="Text 21"/>
          <p:cNvSpPr/>
          <p:nvPr/>
        </p:nvSpPr>
        <p:spPr>
          <a:xfrm>
            <a:off x="301752" y="3657600"/>
            <a:ext cx="3977640" cy="274320"/>
          </a:xfrm>
          <a:prstGeom prst="rect">
            <a:avLst/>
          </a:prstGeom>
          <a:noFill/>
          <a:ln/>
        </p:spPr>
        <p:txBody>
          <a:bodyPr wrap="square" lIns="25400" tIns="25400" rIns="25400" bIns="2540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Layer Normalization</a:t>
            </a:r>
            <a:endParaRPr lang="en-US" sz="1200" dirty="0"/>
          </a:p>
        </p:txBody>
      </p:sp>
      <p:sp>
        <p:nvSpPr>
          <p:cNvPr id="25" name="Text 22"/>
          <p:cNvSpPr/>
          <p:nvPr/>
        </p:nvSpPr>
        <p:spPr>
          <a:xfrm>
            <a:off x="320040" y="4005072"/>
            <a:ext cx="3931920" cy="713232"/>
          </a:xfrm>
          <a:prstGeom prst="rect">
            <a:avLst/>
          </a:prstGeom>
          <a:noFill/>
          <a:ln/>
        </p:spPr>
        <p:txBody>
          <a:bodyPr wrap="square" lIns="50800" tIns="50800" rIns="50800" bIns="50800" rtlCol="0" anchor="ctr"/>
          <a:lstStyle/>
          <a:p>
            <a:pPr indent="0" marL="0">
              <a:buNone/>
            </a:pPr>
            <a:r>
              <a:rPr lang="en-US" sz="1050" dirty="0">
                <a:solidFill>
                  <a:srgbClr val="1E2D4E"/>
                </a:solidFill>
                <a:latin typeface="Calibri" pitchFamily="34" charset="0"/>
                <a:ea typeface="Calibri" pitchFamily="34" charset="-122"/>
                <a:cs typeface="Calibri" pitchFamily="34" charset="-120"/>
              </a:rPr>
              <a:t>Stabilizes training. Applied before (Pre-LN) or after (Post-LN) sub-layers</a:t>
            </a:r>
            <a:endParaRPr lang="en-US" sz="1050" dirty="0"/>
          </a:p>
        </p:txBody>
      </p:sp>
      <p:sp>
        <p:nvSpPr>
          <p:cNvPr id="26" name="Shape 23"/>
          <p:cNvSpPr/>
          <p:nvPr/>
        </p:nvSpPr>
        <p:spPr>
          <a:xfrm>
            <a:off x="4572000" y="3621024"/>
            <a:ext cx="4114800" cy="1170432"/>
          </a:xfrm>
          <a:prstGeom prst="rect">
            <a:avLst/>
          </a:prstGeom>
          <a:solidFill>
            <a:srgbClr val="FFFFFF"/>
          </a:solidFill>
          <a:ln w="25400">
            <a:solidFill>
              <a:srgbClr val="EF4444"/>
            </a:solidFill>
            <a:prstDash val="solid"/>
          </a:ln>
          <a:effectLst>
            <a:outerShdw sx="100000" sy="100000" kx="0" ky="0" algn="bl" rotWithShape="0" blurRad="101600" dist="38100" dir="8100000">
              <a:srgbClr val="000000">
                <a:alpha val="20000"/>
              </a:srgbClr>
            </a:outerShdw>
          </a:effectLst>
        </p:spPr>
      </p:sp>
      <p:sp>
        <p:nvSpPr>
          <p:cNvPr id="27" name="Shape 24"/>
          <p:cNvSpPr/>
          <p:nvPr/>
        </p:nvSpPr>
        <p:spPr>
          <a:xfrm>
            <a:off x="4572000" y="3621024"/>
            <a:ext cx="4114800" cy="329184"/>
          </a:xfrm>
          <a:prstGeom prst="rect">
            <a:avLst/>
          </a:prstGeom>
          <a:solidFill>
            <a:srgbClr val="EF4444"/>
          </a:solidFill>
          <a:ln w="12700">
            <a:solidFill>
              <a:srgbClr val="EF4444"/>
            </a:solidFill>
            <a:prstDash val="solid"/>
          </a:ln>
        </p:spPr>
      </p:sp>
      <p:sp>
        <p:nvSpPr>
          <p:cNvPr id="28" name="Text 25"/>
          <p:cNvSpPr/>
          <p:nvPr/>
        </p:nvSpPr>
        <p:spPr>
          <a:xfrm>
            <a:off x="4645152" y="3657600"/>
            <a:ext cx="3977640" cy="274320"/>
          </a:xfrm>
          <a:prstGeom prst="rect">
            <a:avLst/>
          </a:prstGeom>
          <a:noFill/>
          <a:ln/>
        </p:spPr>
        <p:txBody>
          <a:bodyPr wrap="square" lIns="25400" tIns="25400" rIns="25400" bIns="2540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Output Softmax</a:t>
            </a:r>
            <a:endParaRPr lang="en-US" sz="1200" dirty="0"/>
          </a:p>
        </p:txBody>
      </p:sp>
      <p:sp>
        <p:nvSpPr>
          <p:cNvPr id="29" name="Text 26"/>
          <p:cNvSpPr/>
          <p:nvPr/>
        </p:nvSpPr>
        <p:spPr>
          <a:xfrm>
            <a:off x="4663440" y="4005072"/>
            <a:ext cx="3931920" cy="713232"/>
          </a:xfrm>
          <a:prstGeom prst="rect">
            <a:avLst/>
          </a:prstGeom>
          <a:noFill/>
          <a:ln/>
        </p:spPr>
        <p:txBody>
          <a:bodyPr wrap="square" lIns="50800" tIns="50800" rIns="50800" bIns="50800" rtlCol="0" anchor="ctr"/>
          <a:lstStyle/>
          <a:p>
            <a:pPr indent="0" marL="0">
              <a:buNone/>
            </a:pPr>
            <a:r>
              <a:rPr lang="en-US" sz="1050" dirty="0">
                <a:solidFill>
                  <a:srgbClr val="1E2D4E"/>
                </a:solidFill>
                <a:latin typeface="Calibri" pitchFamily="34" charset="0"/>
                <a:ea typeface="Calibri" pitchFamily="34" charset="-122"/>
                <a:cs typeface="Calibri" pitchFamily="34" charset="-120"/>
              </a:rPr>
              <a:t>Projects hidden state to vocab size. Returns probability over all tokens</a:t>
            </a:r>
            <a:endParaRPr lang="en-US" sz="1050" dirty="0"/>
          </a:p>
        </p:txBody>
      </p:sp>
      <p:sp>
        <p:nvSpPr>
          <p:cNvPr id="30" name="Shape 27"/>
          <p:cNvSpPr/>
          <p:nvPr/>
        </p:nvSpPr>
        <p:spPr>
          <a:xfrm>
            <a:off x="228600" y="4818888"/>
            <a:ext cx="8686800" cy="246888"/>
          </a:xfrm>
          <a:prstGeom prst="rect">
            <a:avLst/>
          </a:prstGeom>
          <a:solidFill>
            <a:srgbClr val="DBEAFE"/>
          </a:solidFill>
          <a:ln w="12700">
            <a:solidFill>
              <a:srgbClr val="8B5CF6"/>
            </a:solidFill>
            <a:prstDash val="solid"/>
          </a:ln>
        </p:spPr>
      </p:sp>
      <p:sp>
        <p:nvSpPr>
          <p:cNvPr id="31" name="Text 28"/>
          <p:cNvSpPr/>
          <p:nvPr/>
        </p:nvSpPr>
        <p:spPr>
          <a:xfrm>
            <a:off x="274320" y="4837176"/>
            <a:ext cx="8595360" cy="201168"/>
          </a:xfrm>
          <a:prstGeom prst="rect">
            <a:avLst/>
          </a:prstGeom>
          <a:noFill/>
          <a:ln/>
        </p:spPr>
        <p:txBody>
          <a:bodyPr wrap="square" lIns="0" tIns="0" rIns="0" bIns="0" rtlCol="0" anchor="ctr"/>
          <a:lstStyle/>
          <a:p>
            <a:pPr algn="ctr" indent="0" marL="0">
              <a:buNone/>
            </a:pPr>
            <a:r>
              <a:rPr lang="en-US" sz="950" b="1" dirty="0">
                <a:solidFill>
                  <a:srgbClr val="0D1B3E"/>
                </a:solidFill>
                <a:latin typeface="Calibri" pitchFamily="34" charset="0"/>
                <a:ea typeface="Calibri" pitchFamily="34" charset="-122"/>
                <a:cs typeface="Calibri" pitchFamily="34" charset="-120"/>
              </a:rPr>
              <a:t>Attention Formula:  Attention(Q,K,V) = softmax(QKᵀ / √d_k) · V   |   Stacked N times (e.g. 96 layers in GPT-4)</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80D1A"/>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41E35"/>
          </a:solidFill>
          <a:ln w="12700">
            <a:solidFill>
              <a:srgbClr val="141E35"/>
            </a:solidFill>
            <a:prstDash val="solid"/>
          </a:ln>
        </p:spPr>
      </p:sp>
      <p:sp>
        <p:nvSpPr>
          <p:cNvPr id="3" name="Shape 1"/>
          <p:cNvSpPr/>
          <p:nvPr/>
        </p:nvSpPr>
        <p:spPr>
          <a:xfrm>
            <a:off x="0" y="914400"/>
            <a:ext cx="9144000" cy="45720"/>
          </a:xfrm>
          <a:prstGeom prst="rect">
            <a:avLst/>
          </a:prstGeom>
          <a:solidFill>
            <a:srgbClr val="06B6D4"/>
          </a:solidFill>
          <a:ln w="12700">
            <a:solidFill>
              <a:srgbClr val="06B6D4"/>
            </a:solidFill>
            <a:prstDash val="solid"/>
          </a:ln>
        </p:spPr>
      </p:sp>
      <p:pic>
        <p:nvPicPr>
          <p:cNvPr id="4" name="Image 0" descr="preencoded.png">    </p:cNvPr>
          <p:cNvPicPr>
            <a:picLocks noChangeAspect="1"/>
          </p:cNvPicPr>
          <p:nvPr/>
        </p:nvPicPr>
        <p:blipFill>
          <a:blip r:embed="rId1"/>
          <a:stretch>
            <a:fillRect/>
          </a:stretch>
        </p:blipFill>
        <p:spPr>
          <a:xfrm>
            <a:off x="228600" y="182880"/>
            <a:ext cx="502920" cy="502920"/>
          </a:xfrm>
          <a:prstGeom prst="rect">
            <a:avLst/>
          </a:prstGeom>
        </p:spPr>
      </p:pic>
      <p:sp>
        <p:nvSpPr>
          <p:cNvPr id="5" name="Text 2"/>
          <p:cNvSpPr/>
          <p:nvPr/>
        </p:nvSpPr>
        <p:spPr>
          <a:xfrm>
            <a:off x="822960" y="137160"/>
            <a:ext cx="8046720" cy="68580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Tokenization &amp; Embeddings</a:t>
            </a:r>
            <a:endParaRPr lang="en-US" sz="2600" dirty="0"/>
          </a:p>
        </p:txBody>
      </p:sp>
      <p:sp>
        <p:nvSpPr>
          <p:cNvPr id="6" name="Shape 3"/>
          <p:cNvSpPr/>
          <p:nvPr/>
        </p:nvSpPr>
        <p:spPr>
          <a:xfrm>
            <a:off x="228600" y="1024128"/>
            <a:ext cx="4114800" cy="3840480"/>
          </a:xfrm>
          <a:prstGeom prst="rect">
            <a:avLst/>
          </a:prstGeom>
          <a:solidFill>
            <a:srgbClr val="141E35"/>
          </a:solidFill>
          <a:ln w="19050">
            <a:solidFill>
              <a:srgbClr val="06B6D4"/>
            </a:solidFill>
            <a:prstDash val="solid"/>
          </a:ln>
          <a:effectLst>
            <a:outerShdw sx="100000" sy="100000" kx="0" ky="0" algn="bl" rotWithShape="0" blurRad="101600" dist="38100" dir="8100000">
              <a:srgbClr val="000000">
                <a:alpha val="20000"/>
              </a:srgbClr>
            </a:outerShdw>
          </a:effectLst>
        </p:spPr>
      </p:sp>
      <p:sp>
        <p:nvSpPr>
          <p:cNvPr id="7" name="Shape 4"/>
          <p:cNvSpPr/>
          <p:nvPr/>
        </p:nvSpPr>
        <p:spPr>
          <a:xfrm>
            <a:off x="228600" y="1024128"/>
            <a:ext cx="4114800" cy="402336"/>
          </a:xfrm>
          <a:prstGeom prst="rect">
            <a:avLst/>
          </a:prstGeom>
          <a:solidFill>
            <a:srgbClr val="06B6D4"/>
          </a:solidFill>
          <a:ln w="12700">
            <a:solidFill>
              <a:srgbClr val="06B6D4"/>
            </a:solidFill>
            <a:prstDash val="solid"/>
          </a:ln>
        </p:spPr>
      </p:sp>
      <p:sp>
        <p:nvSpPr>
          <p:cNvPr id="8" name="Text 5"/>
          <p:cNvSpPr/>
          <p:nvPr/>
        </p:nvSpPr>
        <p:spPr>
          <a:xfrm>
            <a:off x="274320" y="1042416"/>
            <a:ext cx="4023360" cy="365760"/>
          </a:xfrm>
          <a:prstGeom prst="rect">
            <a:avLst/>
          </a:prstGeom>
          <a:noFill/>
          <a:ln/>
        </p:spPr>
        <p:txBody>
          <a:bodyPr wrap="square" lIns="50800" tIns="50800" rIns="50800" bIns="50800" rtlCol="0" anchor="ctr"/>
          <a:lstStyle/>
          <a:p>
            <a:pPr indent="0" marL="0">
              <a:buNone/>
            </a:pPr>
            <a:r>
              <a:rPr lang="en-US" sz="1400" b="1" dirty="0">
                <a:solidFill>
                  <a:srgbClr val="080D1A"/>
                </a:solidFill>
                <a:latin typeface="Calibri" pitchFamily="34" charset="0"/>
                <a:ea typeface="Calibri" pitchFamily="34" charset="-122"/>
                <a:cs typeface="Calibri" pitchFamily="34" charset="-120"/>
              </a:rPr>
              <a:t>Tokenization</a:t>
            </a:r>
            <a:endParaRPr lang="en-US" sz="1400" dirty="0"/>
          </a:p>
        </p:txBody>
      </p:sp>
      <p:sp>
        <p:nvSpPr>
          <p:cNvPr id="9" name="Text 6"/>
          <p:cNvSpPr/>
          <p:nvPr/>
        </p:nvSpPr>
        <p:spPr>
          <a:xfrm>
            <a:off x="320040" y="1481328"/>
            <a:ext cx="3931920" cy="3291840"/>
          </a:xfrm>
          <a:prstGeom prst="rect">
            <a:avLst/>
          </a:prstGeom>
          <a:noFill/>
          <a:ln/>
        </p:spPr>
        <p:txBody>
          <a:bodyPr wrap="square" lIns="76200" tIns="76200" rIns="76200" bIns="76200" rtlCol="0" anchor="ctr"/>
          <a:lstStyle/>
          <a:p>
            <a:pPr marL="342900" indent="-342900">
              <a:spcAft>
                <a:spcPts val="700"/>
              </a:spcAft>
              <a:buSzPct val="100000"/>
              <a:buChar char="•"/>
            </a:pPr>
            <a:r>
              <a:rPr lang="en-US" sz="1100" dirty="0">
                <a:solidFill>
                  <a:srgbClr val="E8F0FE"/>
                </a:solidFill>
                <a:latin typeface="Calibri" pitchFamily="34" charset="0"/>
                <a:ea typeface="Calibri" pitchFamily="34" charset="-122"/>
                <a:cs typeface="Calibri" pitchFamily="34" charset="-120"/>
              </a:rPr>
              <a:t>Text → tokens (words, subwords, chars)</a:t>
            </a:r>
            <a:endParaRPr lang="en-US" sz="1100" dirty="0"/>
          </a:p>
          <a:p>
            <a:pPr marL="342900" indent="-342900">
              <a:spcAft>
                <a:spcPts val="700"/>
              </a:spcAft>
              <a:buSzPct val="100000"/>
              <a:buChar char="•"/>
            </a:pPr>
            <a:r>
              <a:rPr lang="en-US" sz="1100" dirty="0">
                <a:solidFill>
                  <a:srgbClr val="E8F0FE"/>
                </a:solidFill>
                <a:latin typeface="Calibri" pitchFamily="34" charset="0"/>
                <a:ea typeface="Calibri" pitchFamily="34" charset="-122"/>
                <a:cs typeface="Calibri" pitchFamily="34" charset="-120"/>
              </a:rPr>
              <a:t>BPE: Byte Pair Encoding (GPT family)</a:t>
            </a:r>
            <a:endParaRPr lang="en-US" sz="1100" dirty="0"/>
          </a:p>
          <a:p>
            <a:pPr marL="342900" indent="-342900">
              <a:spcAft>
                <a:spcPts val="700"/>
              </a:spcAft>
              <a:buSzPct val="100000"/>
              <a:buChar char="•"/>
            </a:pPr>
            <a:r>
              <a:rPr lang="en-US" sz="1100" dirty="0">
                <a:solidFill>
                  <a:srgbClr val="E8F0FE"/>
                </a:solidFill>
                <a:latin typeface="Calibri" pitchFamily="34" charset="0"/>
                <a:ea typeface="Calibri" pitchFamily="34" charset="-122"/>
                <a:cs typeface="Calibri" pitchFamily="34" charset="-120"/>
              </a:rPr>
              <a:t>WordPiece: Google's BERT approach</a:t>
            </a:r>
            <a:endParaRPr lang="en-US" sz="1100" dirty="0"/>
          </a:p>
          <a:p>
            <a:pPr marL="342900" indent="-342900">
              <a:spcAft>
                <a:spcPts val="700"/>
              </a:spcAft>
              <a:buSzPct val="100000"/>
              <a:buChar char="•"/>
            </a:pPr>
            <a:r>
              <a:rPr lang="en-US" sz="1100" dirty="0">
                <a:solidFill>
                  <a:srgbClr val="E8F0FE"/>
                </a:solidFill>
                <a:latin typeface="Calibri" pitchFamily="34" charset="0"/>
                <a:ea typeface="Calibri" pitchFamily="34" charset="-122"/>
                <a:cs typeface="Calibri" pitchFamily="34" charset="-120"/>
              </a:rPr>
              <a:t>SentencePiece: language-agnostic tokenizer</a:t>
            </a:r>
            <a:endParaRPr lang="en-US" sz="1100" dirty="0"/>
          </a:p>
          <a:p>
            <a:pPr marL="342900" indent="-342900">
              <a:spcAft>
                <a:spcPts val="700"/>
              </a:spcAft>
              <a:buSzPct val="100000"/>
              <a:buChar char="•"/>
            </a:pPr>
            <a:r>
              <a:rPr lang="en-US" sz="1100" dirty="0">
                <a:solidFill>
                  <a:srgbClr val="E8F0FE"/>
                </a:solidFill>
                <a:latin typeface="Calibri" pitchFamily="34" charset="0"/>
                <a:ea typeface="Calibri" pitchFamily="34" charset="-122"/>
                <a:cs typeface="Calibri" pitchFamily="34" charset="-120"/>
              </a:rPr>
              <a:t>Vocab size: 32K–100K unique tokens</a:t>
            </a:r>
            <a:endParaRPr lang="en-US" sz="1100" dirty="0"/>
          </a:p>
          <a:p>
            <a:pPr marL="342900" indent="-342900">
              <a:spcAft>
                <a:spcPts val="700"/>
              </a:spcAft>
              <a:buSzPct val="100000"/>
              <a:buChar char="•"/>
            </a:pPr>
            <a:r>
              <a:rPr lang="en-US" sz="1100" dirty="0">
                <a:solidFill>
                  <a:srgbClr val="E8F0FE"/>
                </a:solidFill>
                <a:latin typeface="Calibri" pitchFamily="34" charset="0"/>
                <a:ea typeface="Calibri" pitchFamily="34" charset="-122"/>
                <a:cs typeface="Calibri" pitchFamily="34" charset="-120"/>
              </a:rPr>
              <a:t>"unhappiness" → ["un", "happi", "ness"]</a:t>
            </a:r>
            <a:endParaRPr lang="en-US" sz="1100" dirty="0"/>
          </a:p>
          <a:p>
            <a:pPr marL="342900" indent="-342900">
              <a:spcAft>
                <a:spcPts val="700"/>
              </a:spcAft>
              <a:buSzPct val="100000"/>
              <a:buChar char="•"/>
            </a:pPr>
            <a:r>
              <a:rPr lang="en-US" sz="1100" dirty="0">
                <a:solidFill>
                  <a:srgbClr val="E8F0FE"/>
                </a:solidFill>
                <a:latin typeface="Calibri" pitchFamily="34" charset="0"/>
                <a:ea typeface="Calibri" pitchFamily="34" charset="-122"/>
                <a:cs typeface="Calibri" pitchFamily="34" charset="-120"/>
              </a:rPr>
              <a:t>Special tokens: [CLS], [SEP], &lt;|endoftext|&gt;</a:t>
            </a:r>
            <a:endParaRPr lang="en-US" sz="1100" dirty="0"/>
          </a:p>
        </p:txBody>
      </p:sp>
      <p:sp>
        <p:nvSpPr>
          <p:cNvPr id="10" name="Shape 7"/>
          <p:cNvSpPr/>
          <p:nvPr/>
        </p:nvSpPr>
        <p:spPr>
          <a:xfrm>
            <a:off x="4663440" y="1024128"/>
            <a:ext cx="4251960" cy="3840480"/>
          </a:xfrm>
          <a:prstGeom prst="rect">
            <a:avLst/>
          </a:prstGeom>
          <a:solidFill>
            <a:srgbClr val="141E35"/>
          </a:solidFill>
          <a:ln w="19050">
            <a:solidFill>
              <a:srgbClr val="F59E0B"/>
            </a:solidFill>
            <a:prstDash val="solid"/>
          </a:ln>
          <a:effectLst>
            <a:outerShdw sx="100000" sy="100000" kx="0" ky="0" algn="bl" rotWithShape="0" blurRad="101600" dist="38100" dir="8100000">
              <a:srgbClr val="000000">
                <a:alpha val="20000"/>
              </a:srgbClr>
            </a:outerShdw>
          </a:effectLst>
        </p:spPr>
      </p:sp>
      <p:sp>
        <p:nvSpPr>
          <p:cNvPr id="11" name="Shape 8"/>
          <p:cNvSpPr/>
          <p:nvPr/>
        </p:nvSpPr>
        <p:spPr>
          <a:xfrm>
            <a:off x="4663440" y="1024128"/>
            <a:ext cx="4251960" cy="402336"/>
          </a:xfrm>
          <a:prstGeom prst="rect">
            <a:avLst/>
          </a:prstGeom>
          <a:solidFill>
            <a:srgbClr val="F59E0B"/>
          </a:solidFill>
          <a:ln w="12700">
            <a:solidFill>
              <a:srgbClr val="F59E0B"/>
            </a:solidFill>
            <a:prstDash val="solid"/>
          </a:ln>
        </p:spPr>
      </p:sp>
      <p:sp>
        <p:nvSpPr>
          <p:cNvPr id="12" name="Text 9"/>
          <p:cNvSpPr/>
          <p:nvPr/>
        </p:nvSpPr>
        <p:spPr>
          <a:xfrm>
            <a:off x="4709160" y="1042416"/>
            <a:ext cx="4160520" cy="365760"/>
          </a:xfrm>
          <a:prstGeom prst="rect">
            <a:avLst/>
          </a:prstGeom>
          <a:noFill/>
          <a:ln/>
        </p:spPr>
        <p:txBody>
          <a:bodyPr wrap="square" lIns="50800" tIns="50800" rIns="50800" bIns="50800" rtlCol="0" anchor="ctr"/>
          <a:lstStyle/>
          <a:p>
            <a:pPr indent="0" marL="0">
              <a:buNone/>
            </a:pPr>
            <a:r>
              <a:rPr lang="en-US" sz="1400" b="1" dirty="0">
                <a:solidFill>
                  <a:srgbClr val="080D1A"/>
                </a:solidFill>
                <a:latin typeface="Calibri" pitchFamily="34" charset="0"/>
                <a:ea typeface="Calibri" pitchFamily="34" charset="-122"/>
                <a:cs typeface="Calibri" pitchFamily="34" charset="-120"/>
              </a:rPr>
              <a:t>Embeddings</a:t>
            </a:r>
            <a:endParaRPr lang="en-US" sz="1400" dirty="0"/>
          </a:p>
        </p:txBody>
      </p:sp>
      <p:sp>
        <p:nvSpPr>
          <p:cNvPr id="13" name="Text 10"/>
          <p:cNvSpPr/>
          <p:nvPr/>
        </p:nvSpPr>
        <p:spPr>
          <a:xfrm>
            <a:off x="4754880" y="1481328"/>
            <a:ext cx="4114800" cy="3291840"/>
          </a:xfrm>
          <a:prstGeom prst="rect">
            <a:avLst/>
          </a:prstGeom>
          <a:noFill/>
          <a:ln/>
        </p:spPr>
        <p:txBody>
          <a:bodyPr wrap="square" lIns="76200" tIns="76200" rIns="76200" bIns="76200" rtlCol="0" anchor="ctr"/>
          <a:lstStyle/>
          <a:p>
            <a:pPr marL="342900" indent="-342900">
              <a:spcAft>
                <a:spcPts val="700"/>
              </a:spcAft>
              <a:buSzPct val="100000"/>
              <a:buChar char="•"/>
            </a:pPr>
            <a:r>
              <a:rPr lang="en-US" sz="1100" dirty="0">
                <a:solidFill>
                  <a:srgbClr val="E8F0FE"/>
                </a:solidFill>
                <a:latin typeface="Calibri" pitchFamily="34" charset="0"/>
                <a:ea typeface="Calibri" pitchFamily="34" charset="-122"/>
                <a:cs typeface="Calibri" pitchFamily="34" charset="-120"/>
              </a:rPr>
              <a:t>Token → dense float vector (512–4096 dims)</a:t>
            </a:r>
            <a:endParaRPr lang="en-US" sz="1100" dirty="0"/>
          </a:p>
          <a:p>
            <a:pPr marL="342900" indent="-342900">
              <a:spcAft>
                <a:spcPts val="700"/>
              </a:spcAft>
              <a:buSzPct val="100000"/>
              <a:buChar char="•"/>
            </a:pPr>
            <a:r>
              <a:rPr lang="en-US" sz="1100" dirty="0">
                <a:solidFill>
                  <a:srgbClr val="E8F0FE"/>
                </a:solidFill>
                <a:latin typeface="Calibri" pitchFamily="34" charset="0"/>
                <a:ea typeface="Calibri" pitchFamily="34" charset="-122"/>
                <a:cs typeface="Calibri" pitchFamily="34" charset="-120"/>
              </a:rPr>
              <a:t>Semantically similar words cluster together</a:t>
            </a:r>
            <a:endParaRPr lang="en-US" sz="1100" dirty="0"/>
          </a:p>
          <a:p>
            <a:pPr marL="342900" indent="-342900">
              <a:spcAft>
                <a:spcPts val="700"/>
              </a:spcAft>
              <a:buSzPct val="100000"/>
              <a:buChar char="•"/>
            </a:pPr>
            <a:r>
              <a:rPr lang="en-US" sz="1100" dirty="0">
                <a:solidFill>
                  <a:srgbClr val="E8F0FE"/>
                </a:solidFill>
                <a:latin typeface="Calibri" pitchFamily="34" charset="0"/>
                <a:ea typeface="Calibri" pitchFamily="34" charset="-122"/>
                <a:cs typeface="Calibri" pitchFamily="34" charset="-120"/>
              </a:rPr>
              <a:t>Famous: King - Man + Woman ≈ Queen</a:t>
            </a:r>
            <a:endParaRPr lang="en-US" sz="1100" dirty="0"/>
          </a:p>
          <a:p>
            <a:pPr marL="342900" indent="-342900">
              <a:spcAft>
                <a:spcPts val="700"/>
              </a:spcAft>
              <a:buSzPct val="100000"/>
              <a:buChar char="•"/>
            </a:pPr>
            <a:r>
              <a:rPr lang="en-US" sz="1100" dirty="0">
                <a:solidFill>
                  <a:srgbClr val="E8F0FE"/>
                </a:solidFill>
                <a:latin typeface="Calibri" pitchFamily="34" charset="0"/>
                <a:ea typeface="Calibri" pitchFamily="34" charset="-122"/>
                <a:cs typeface="Calibri" pitchFamily="34" charset="-120"/>
              </a:rPr>
              <a:t>Learned during training via backprop</a:t>
            </a:r>
            <a:endParaRPr lang="en-US" sz="1100" dirty="0"/>
          </a:p>
          <a:p>
            <a:pPr marL="342900" indent="-342900">
              <a:spcAft>
                <a:spcPts val="700"/>
              </a:spcAft>
              <a:buSzPct val="100000"/>
              <a:buChar char="•"/>
            </a:pPr>
            <a:r>
              <a:rPr lang="en-US" sz="1100" dirty="0">
                <a:solidFill>
                  <a:srgbClr val="E8F0FE"/>
                </a:solidFill>
                <a:latin typeface="Calibri" pitchFamily="34" charset="0"/>
                <a:ea typeface="Calibri" pitchFamily="34" charset="-122"/>
                <a:cs typeface="Calibri" pitchFamily="34" charset="-120"/>
              </a:rPr>
              <a:t>Positional embeddings added to preserve order</a:t>
            </a:r>
            <a:endParaRPr lang="en-US" sz="1100" dirty="0"/>
          </a:p>
          <a:p>
            <a:pPr marL="342900" indent="-342900">
              <a:spcAft>
                <a:spcPts val="700"/>
              </a:spcAft>
              <a:buSzPct val="100000"/>
              <a:buChar char="•"/>
            </a:pPr>
            <a:r>
              <a:rPr lang="en-US" sz="1100" dirty="0">
                <a:solidFill>
                  <a:srgbClr val="E8F0FE"/>
                </a:solidFill>
                <a:latin typeface="Calibri" pitchFamily="34" charset="0"/>
                <a:ea typeface="Calibri" pitchFamily="34" charset="-122"/>
                <a:cs typeface="Calibri" pitchFamily="34" charset="-120"/>
              </a:rPr>
              <a:t>RoPE (Rotary) used in LLaMA, GPT-NeoX</a:t>
            </a:r>
            <a:endParaRPr lang="en-US" sz="1100" dirty="0"/>
          </a:p>
          <a:p>
            <a:pPr marL="342900" indent="-342900">
              <a:spcAft>
                <a:spcPts val="700"/>
              </a:spcAft>
              <a:buSzPct val="100000"/>
              <a:buChar char="•"/>
            </a:pPr>
            <a:r>
              <a:rPr lang="en-US" sz="1100" dirty="0">
                <a:solidFill>
                  <a:srgbClr val="E8F0FE"/>
                </a:solidFill>
                <a:latin typeface="Calibri" pitchFamily="34" charset="0"/>
                <a:ea typeface="Calibri" pitchFamily="34" charset="-122"/>
                <a:cs typeface="Calibri" pitchFamily="34" charset="-120"/>
              </a:rPr>
              <a:t>ALiBi: attention linear biases for long context</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0F6FF"/>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D1B3E"/>
          </a:solidFill>
          <a:ln w="12700">
            <a:solidFill>
              <a:srgbClr val="0D1B3E"/>
            </a:solidFill>
            <a:prstDash val="solid"/>
          </a:ln>
        </p:spPr>
      </p:sp>
      <p:sp>
        <p:nvSpPr>
          <p:cNvPr id="3" name="Shape 1"/>
          <p:cNvSpPr/>
          <p:nvPr/>
        </p:nvSpPr>
        <p:spPr>
          <a:xfrm>
            <a:off x="0" y="914400"/>
            <a:ext cx="9144000" cy="45720"/>
          </a:xfrm>
          <a:prstGeom prst="rect">
            <a:avLst/>
          </a:prstGeom>
          <a:solidFill>
            <a:srgbClr val="10B981"/>
          </a:solidFill>
          <a:ln w="12700">
            <a:solidFill>
              <a:srgbClr val="10B981"/>
            </a:solidFill>
            <a:prstDash val="solid"/>
          </a:ln>
        </p:spPr>
      </p:sp>
      <p:pic>
        <p:nvPicPr>
          <p:cNvPr id="4" name="Image 0" descr="preencoded.png">    </p:cNvPr>
          <p:cNvPicPr>
            <a:picLocks noChangeAspect="1"/>
          </p:cNvPicPr>
          <p:nvPr/>
        </p:nvPicPr>
        <p:blipFill>
          <a:blip r:embed="rId1"/>
          <a:stretch>
            <a:fillRect/>
          </a:stretch>
        </p:blipFill>
        <p:spPr>
          <a:xfrm>
            <a:off x="228600" y="182880"/>
            <a:ext cx="502920" cy="502920"/>
          </a:xfrm>
          <a:prstGeom prst="rect">
            <a:avLst/>
          </a:prstGeom>
        </p:spPr>
      </p:pic>
      <p:sp>
        <p:nvSpPr>
          <p:cNvPr id="5" name="Text 2"/>
          <p:cNvSpPr/>
          <p:nvPr/>
        </p:nvSpPr>
        <p:spPr>
          <a:xfrm>
            <a:off x="822960" y="137160"/>
            <a:ext cx="8046720" cy="68580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Pre-Training: Teaching LLMs from Raw Text</a:t>
            </a:r>
            <a:endParaRPr lang="en-US" sz="2600" dirty="0"/>
          </a:p>
        </p:txBody>
      </p:sp>
      <p:sp>
        <p:nvSpPr>
          <p:cNvPr id="6" name="Shape 3"/>
          <p:cNvSpPr/>
          <p:nvPr/>
        </p:nvSpPr>
        <p:spPr>
          <a:xfrm>
            <a:off x="228600" y="1024128"/>
            <a:ext cx="2788920" cy="3749040"/>
          </a:xfrm>
          <a:prstGeom prst="rect">
            <a:avLst/>
          </a:prstGeom>
          <a:solidFill>
            <a:srgbClr val="FFFFFF"/>
          </a:solidFill>
          <a:ln w="25400">
            <a:solidFill>
              <a:srgbClr val="1A56DB"/>
            </a:solidFill>
            <a:prstDash val="solid"/>
          </a:ln>
          <a:effectLst>
            <a:outerShdw sx="100000" sy="100000" kx="0" ky="0" algn="bl" rotWithShape="0" blurRad="101600" dist="38100" dir="8100000">
              <a:srgbClr val="000000">
                <a:alpha val="20000"/>
              </a:srgbClr>
            </a:outerShdw>
          </a:effectLst>
        </p:spPr>
      </p:sp>
      <p:sp>
        <p:nvSpPr>
          <p:cNvPr id="7" name="Shape 4"/>
          <p:cNvSpPr/>
          <p:nvPr/>
        </p:nvSpPr>
        <p:spPr>
          <a:xfrm>
            <a:off x="228600" y="1024128"/>
            <a:ext cx="2788920" cy="402336"/>
          </a:xfrm>
          <a:prstGeom prst="rect">
            <a:avLst/>
          </a:prstGeom>
          <a:solidFill>
            <a:srgbClr val="1A56DB"/>
          </a:solidFill>
          <a:ln w="12700">
            <a:solidFill>
              <a:srgbClr val="1A56DB"/>
            </a:solidFill>
            <a:prstDash val="solid"/>
          </a:ln>
        </p:spPr>
      </p:sp>
      <p:sp>
        <p:nvSpPr>
          <p:cNvPr id="8" name="Text 5"/>
          <p:cNvSpPr/>
          <p:nvPr/>
        </p:nvSpPr>
        <p:spPr>
          <a:xfrm>
            <a:off x="301752" y="1042416"/>
            <a:ext cx="2651760" cy="365760"/>
          </a:xfrm>
          <a:prstGeom prst="rect">
            <a:avLst/>
          </a:prstGeom>
          <a:noFill/>
          <a:ln/>
        </p:spPr>
        <p:txBody>
          <a:bodyPr wrap="square" lIns="50800" tIns="50800" rIns="50800" bIns="5080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Data Collection</a:t>
            </a:r>
            <a:endParaRPr lang="en-US" sz="1300" dirty="0"/>
          </a:p>
        </p:txBody>
      </p:sp>
      <p:sp>
        <p:nvSpPr>
          <p:cNvPr id="9" name="Text 6"/>
          <p:cNvSpPr/>
          <p:nvPr/>
        </p:nvSpPr>
        <p:spPr>
          <a:xfrm>
            <a:off x="320040" y="1481328"/>
            <a:ext cx="2606040" cy="3200400"/>
          </a:xfrm>
          <a:prstGeom prst="rect">
            <a:avLst/>
          </a:prstGeom>
          <a:noFill/>
          <a:ln/>
        </p:spPr>
        <p:txBody>
          <a:bodyPr wrap="square" lIns="76200" tIns="76200" rIns="76200" bIns="76200" rtlCol="0" anchor="ctr"/>
          <a:lstStyle/>
          <a:p>
            <a:pPr marL="342900" indent="-342900">
              <a:spcAft>
                <a:spcPts val="500"/>
              </a:spcAft>
              <a:buSzPct val="100000"/>
              <a:buChar char="•"/>
            </a:pPr>
            <a:r>
              <a:rPr lang="en-US" sz="1100" dirty="0">
                <a:solidFill>
                  <a:srgbClr val="1E2D4E"/>
                </a:solidFill>
                <a:latin typeface="Calibri" pitchFamily="34" charset="0"/>
                <a:ea typeface="Calibri" pitchFamily="34" charset="-122"/>
                <a:cs typeface="Calibri" pitchFamily="34" charset="-120"/>
              </a:rPr>
              <a:t>Common Crawl (web pages)</a:t>
            </a:r>
            <a:endParaRPr lang="en-US" sz="1100" dirty="0"/>
          </a:p>
          <a:p>
            <a:pPr marL="342900" indent="-342900">
              <a:spcAft>
                <a:spcPts val="500"/>
              </a:spcAft>
              <a:buSzPct val="100000"/>
              <a:buChar char="•"/>
            </a:pPr>
            <a:r>
              <a:rPr lang="en-US" sz="1100" dirty="0">
                <a:solidFill>
                  <a:srgbClr val="1E2D4E"/>
                </a:solidFill>
                <a:latin typeface="Calibri" pitchFamily="34" charset="0"/>
                <a:ea typeface="Calibri" pitchFamily="34" charset="-122"/>
                <a:cs typeface="Calibri" pitchFamily="34" charset="-120"/>
              </a:rPr>
              <a:t>Books3, Project Gutenberg</a:t>
            </a:r>
            <a:endParaRPr lang="en-US" sz="1100" dirty="0"/>
          </a:p>
          <a:p>
            <a:pPr marL="342900" indent="-342900">
              <a:spcAft>
                <a:spcPts val="500"/>
              </a:spcAft>
              <a:buSzPct val="100000"/>
              <a:buChar char="•"/>
            </a:pPr>
            <a:r>
              <a:rPr lang="en-US" sz="1100" dirty="0">
                <a:solidFill>
                  <a:srgbClr val="1E2D4E"/>
                </a:solidFill>
                <a:latin typeface="Calibri" pitchFamily="34" charset="0"/>
                <a:ea typeface="Calibri" pitchFamily="34" charset="-122"/>
                <a:cs typeface="Calibri" pitchFamily="34" charset="-120"/>
              </a:rPr>
              <a:t>GitHub code repositories</a:t>
            </a:r>
            <a:endParaRPr lang="en-US" sz="1100" dirty="0"/>
          </a:p>
          <a:p>
            <a:pPr marL="342900" indent="-342900">
              <a:spcAft>
                <a:spcPts val="500"/>
              </a:spcAft>
              <a:buSzPct val="100000"/>
              <a:buChar char="•"/>
            </a:pPr>
            <a:r>
              <a:rPr lang="en-US" sz="1100" dirty="0">
                <a:solidFill>
                  <a:srgbClr val="1E2D4E"/>
                </a:solidFill>
                <a:latin typeface="Calibri" pitchFamily="34" charset="0"/>
                <a:ea typeface="Calibri" pitchFamily="34" charset="-122"/>
                <a:cs typeface="Calibri" pitchFamily="34" charset="-120"/>
              </a:rPr>
              <a:t>Wikipedia (multilingual)</a:t>
            </a:r>
            <a:endParaRPr lang="en-US" sz="1100" dirty="0"/>
          </a:p>
          <a:p>
            <a:pPr marL="342900" indent="-342900">
              <a:spcAft>
                <a:spcPts val="500"/>
              </a:spcAft>
              <a:buSzPct val="100000"/>
              <a:buChar char="•"/>
            </a:pPr>
            <a:r>
              <a:rPr lang="en-US" sz="1100" dirty="0">
                <a:solidFill>
                  <a:srgbClr val="1E2D4E"/>
                </a:solidFill>
                <a:latin typeface="Calibri" pitchFamily="34" charset="0"/>
                <a:ea typeface="Calibri" pitchFamily="34" charset="-122"/>
                <a:cs typeface="Calibri" pitchFamily="34" charset="-120"/>
              </a:rPr>
              <a:t>ArXiv scientific papers</a:t>
            </a:r>
            <a:endParaRPr lang="en-US" sz="1100" dirty="0"/>
          </a:p>
          <a:p>
            <a:pPr marL="342900" indent="-342900">
              <a:spcAft>
                <a:spcPts val="500"/>
              </a:spcAft>
              <a:buSzPct val="100000"/>
              <a:buChar char="•"/>
            </a:pPr>
            <a:r>
              <a:rPr lang="en-US" sz="1100" dirty="0">
                <a:solidFill>
                  <a:srgbClr val="1E2D4E"/>
                </a:solidFill>
                <a:latin typeface="Calibri" pitchFamily="34" charset="0"/>
                <a:ea typeface="Calibri" pitchFamily="34" charset="-122"/>
                <a:cs typeface="Calibri" pitchFamily="34" charset="-120"/>
              </a:rPr>
              <a:t>Filtered for quality &amp; deduped</a:t>
            </a:r>
            <a:endParaRPr lang="en-US" sz="1100" dirty="0"/>
          </a:p>
          <a:p>
            <a:pPr marL="342900" indent="-342900">
              <a:spcAft>
                <a:spcPts val="500"/>
              </a:spcAft>
              <a:buSzPct val="100000"/>
              <a:buChar char="•"/>
            </a:pPr>
            <a:r>
              <a:rPr lang="en-US" sz="1100" dirty="0">
                <a:solidFill>
                  <a:srgbClr val="1E2D4E"/>
                </a:solidFill>
                <a:latin typeface="Calibri" pitchFamily="34" charset="0"/>
                <a:ea typeface="Calibri" pitchFamily="34" charset="-122"/>
                <a:cs typeface="Calibri" pitchFamily="34" charset="-120"/>
              </a:rPr>
              <a:t>15 trillion+ tokens (GPT-4)</a:t>
            </a:r>
            <a:endParaRPr lang="en-US" sz="1100" dirty="0"/>
          </a:p>
        </p:txBody>
      </p:sp>
      <p:sp>
        <p:nvSpPr>
          <p:cNvPr id="10" name="Shape 7"/>
          <p:cNvSpPr/>
          <p:nvPr/>
        </p:nvSpPr>
        <p:spPr>
          <a:xfrm>
            <a:off x="3200400" y="1024128"/>
            <a:ext cx="2788920" cy="3749040"/>
          </a:xfrm>
          <a:prstGeom prst="rect">
            <a:avLst/>
          </a:prstGeom>
          <a:solidFill>
            <a:srgbClr val="FFFFFF"/>
          </a:solidFill>
          <a:ln w="25400">
            <a:solidFill>
              <a:srgbClr val="0D9488"/>
            </a:solidFill>
            <a:prstDash val="solid"/>
          </a:ln>
          <a:effectLst>
            <a:outerShdw sx="100000" sy="100000" kx="0" ky="0" algn="bl" rotWithShape="0" blurRad="101600" dist="38100" dir="8100000">
              <a:srgbClr val="000000">
                <a:alpha val="20000"/>
              </a:srgbClr>
            </a:outerShdw>
          </a:effectLst>
        </p:spPr>
      </p:sp>
      <p:sp>
        <p:nvSpPr>
          <p:cNvPr id="11" name="Shape 8"/>
          <p:cNvSpPr/>
          <p:nvPr/>
        </p:nvSpPr>
        <p:spPr>
          <a:xfrm>
            <a:off x="3200400" y="1024128"/>
            <a:ext cx="2788920" cy="402336"/>
          </a:xfrm>
          <a:prstGeom prst="rect">
            <a:avLst/>
          </a:prstGeom>
          <a:solidFill>
            <a:srgbClr val="0D9488"/>
          </a:solidFill>
          <a:ln w="12700">
            <a:solidFill>
              <a:srgbClr val="0D9488"/>
            </a:solidFill>
            <a:prstDash val="solid"/>
          </a:ln>
        </p:spPr>
      </p:sp>
      <p:sp>
        <p:nvSpPr>
          <p:cNvPr id="12" name="Text 9"/>
          <p:cNvSpPr/>
          <p:nvPr/>
        </p:nvSpPr>
        <p:spPr>
          <a:xfrm>
            <a:off x="3273552" y="1042416"/>
            <a:ext cx="2651760" cy="365760"/>
          </a:xfrm>
          <a:prstGeom prst="rect">
            <a:avLst/>
          </a:prstGeom>
          <a:noFill/>
          <a:ln/>
        </p:spPr>
        <p:txBody>
          <a:bodyPr wrap="square" lIns="50800" tIns="50800" rIns="50800" bIns="5080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Training Objective</a:t>
            </a:r>
            <a:endParaRPr lang="en-US" sz="1300" dirty="0"/>
          </a:p>
        </p:txBody>
      </p:sp>
      <p:sp>
        <p:nvSpPr>
          <p:cNvPr id="13" name="Text 10"/>
          <p:cNvSpPr/>
          <p:nvPr/>
        </p:nvSpPr>
        <p:spPr>
          <a:xfrm>
            <a:off x="3291840" y="1481328"/>
            <a:ext cx="2606040" cy="3200400"/>
          </a:xfrm>
          <a:prstGeom prst="rect">
            <a:avLst/>
          </a:prstGeom>
          <a:noFill/>
          <a:ln/>
        </p:spPr>
        <p:txBody>
          <a:bodyPr wrap="square" lIns="76200" tIns="76200" rIns="76200" bIns="76200" rtlCol="0" anchor="ctr"/>
          <a:lstStyle/>
          <a:p>
            <a:pPr marL="342900" indent="-342900">
              <a:spcAft>
                <a:spcPts val="500"/>
              </a:spcAft>
              <a:buSzPct val="100000"/>
              <a:buChar char="•"/>
            </a:pPr>
            <a:r>
              <a:rPr lang="en-US" sz="1100" dirty="0">
                <a:solidFill>
                  <a:srgbClr val="1E2D4E"/>
                </a:solidFill>
                <a:latin typeface="Calibri" pitchFamily="34" charset="0"/>
                <a:ea typeface="Calibri" pitchFamily="34" charset="-122"/>
                <a:cs typeface="Calibri" pitchFamily="34" charset="-120"/>
              </a:rPr>
              <a:t>Causal LM: predict next token</a:t>
            </a:r>
            <a:endParaRPr lang="en-US" sz="1100" dirty="0"/>
          </a:p>
          <a:p>
            <a:pPr marL="342900" indent="-342900">
              <a:spcAft>
                <a:spcPts val="500"/>
              </a:spcAft>
              <a:buSzPct val="100000"/>
              <a:buChar char="•"/>
            </a:pPr>
            <a:r>
              <a:rPr lang="en-US" sz="1100" dirty="0">
                <a:solidFill>
                  <a:srgbClr val="1E2D4E"/>
                </a:solidFill>
                <a:latin typeface="Calibri" pitchFamily="34" charset="0"/>
                <a:ea typeface="Calibri" pitchFamily="34" charset="-122"/>
                <a:cs typeface="Calibri" pitchFamily="34" charset="-120"/>
              </a:rPr>
              <a:t>Masked LM: fill [MASK] (BERT)</a:t>
            </a:r>
            <a:endParaRPr lang="en-US" sz="1100" dirty="0"/>
          </a:p>
          <a:p>
            <a:pPr marL="342900" indent="-342900">
              <a:spcAft>
                <a:spcPts val="500"/>
              </a:spcAft>
              <a:buSzPct val="100000"/>
              <a:buChar char="•"/>
            </a:pPr>
            <a:r>
              <a:rPr lang="en-US" sz="1100" dirty="0">
                <a:solidFill>
                  <a:srgbClr val="1E2D4E"/>
                </a:solidFill>
                <a:latin typeface="Calibri" pitchFamily="34" charset="0"/>
                <a:ea typeface="Calibri" pitchFamily="34" charset="-122"/>
                <a:cs typeface="Calibri" pitchFamily="34" charset="-120"/>
              </a:rPr>
              <a:t>Span corruption (T5 style)</a:t>
            </a:r>
            <a:endParaRPr lang="en-US" sz="1100" dirty="0"/>
          </a:p>
          <a:p>
            <a:pPr marL="342900" indent="-342900">
              <a:spcAft>
                <a:spcPts val="500"/>
              </a:spcAft>
              <a:buSzPct val="100000"/>
              <a:buChar char="•"/>
            </a:pPr>
            <a:r>
              <a:rPr lang="en-US" sz="1100" dirty="0">
                <a:solidFill>
                  <a:srgbClr val="1E2D4E"/>
                </a:solidFill>
                <a:latin typeface="Calibri" pitchFamily="34" charset="0"/>
                <a:ea typeface="Calibri" pitchFamily="34" charset="-122"/>
                <a:cs typeface="Calibri" pitchFamily="34" charset="-120"/>
              </a:rPr>
              <a:t>Loss = Cross Entropy over vocab</a:t>
            </a:r>
            <a:endParaRPr lang="en-US" sz="1100" dirty="0"/>
          </a:p>
          <a:p>
            <a:pPr marL="342900" indent="-342900">
              <a:spcAft>
                <a:spcPts val="500"/>
              </a:spcAft>
              <a:buSzPct val="100000"/>
              <a:buChar char="•"/>
            </a:pPr>
            <a:r>
              <a:rPr lang="en-US" sz="1100" dirty="0">
                <a:solidFill>
                  <a:srgbClr val="1E2D4E"/>
                </a:solidFill>
                <a:latin typeface="Calibri" pitchFamily="34" charset="0"/>
                <a:ea typeface="Calibri" pitchFamily="34" charset="-122"/>
                <a:cs typeface="Calibri" pitchFamily="34" charset="-120"/>
              </a:rPr>
              <a:t>Backpropagation through layers</a:t>
            </a:r>
            <a:endParaRPr lang="en-US" sz="1100" dirty="0"/>
          </a:p>
          <a:p>
            <a:pPr marL="342900" indent="-342900">
              <a:spcAft>
                <a:spcPts val="500"/>
              </a:spcAft>
              <a:buSzPct val="100000"/>
              <a:buChar char="•"/>
            </a:pPr>
            <a:r>
              <a:rPr lang="en-US" sz="1100" dirty="0">
                <a:solidFill>
                  <a:srgbClr val="1E2D4E"/>
                </a:solidFill>
                <a:latin typeface="Calibri" pitchFamily="34" charset="0"/>
                <a:ea typeface="Calibri" pitchFamily="34" charset="-122"/>
                <a:cs typeface="Calibri" pitchFamily="34" charset="-120"/>
              </a:rPr>
              <a:t>AdamW optimizer with warmup</a:t>
            </a:r>
            <a:endParaRPr lang="en-US" sz="1100" dirty="0"/>
          </a:p>
          <a:p>
            <a:pPr marL="342900" indent="-342900">
              <a:spcAft>
                <a:spcPts val="500"/>
              </a:spcAft>
              <a:buSzPct val="100000"/>
              <a:buChar char="•"/>
            </a:pPr>
            <a:r>
              <a:rPr lang="en-US" sz="1100" dirty="0">
                <a:solidFill>
                  <a:srgbClr val="1E2D4E"/>
                </a:solidFill>
                <a:latin typeface="Calibri" pitchFamily="34" charset="0"/>
                <a:ea typeface="Calibri" pitchFamily="34" charset="-122"/>
                <a:cs typeface="Calibri" pitchFamily="34" charset="-120"/>
              </a:rPr>
              <a:t>Gradient clipping for stability</a:t>
            </a:r>
            <a:endParaRPr lang="en-US" sz="1100" dirty="0"/>
          </a:p>
        </p:txBody>
      </p:sp>
      <p:sp>
        <p:nvSpPr>
          <p:cNvPr id="14" name="Shape 11"/>
          <p:cNvSpPr/>
          <p:nvPr/>
        </p:nvSpPr>
        <p:spPr>
          <a:xfrm>
            <a:off x="6172200" y="1024128"/>
            <a:ext cx="2788920" cy="3749040"/>
          </a:xfrm>
          <a:prstGeom prst="rect">
            <a:avLst/>
          </a:prstGeom>
          <a:solidFill>
            <a:srgbClr val="FFFFFF"/>
          </a:solidFill>
          <a:ln w="25400">
            <a:solidFill>
              <a:srgbClr val="F59E0B"/>
            </a:solidFill>
            <a:prstDash val="solid"/>
          </a:ln>
          <a:effectLst>
            <a:outerShdw sx="100000" sy="100000" kx="0" ky="0" algn="bl" rotWithShape="0" blurRad="101600" dist="38100" dir="8100000">
              <a:srgbClr val="000000">
                <a:alpha val="20000"/>
              </a:srgbClr>
            </a:outerShdw>
          </a:effectLst>
        </p:spPr>
      </p:sp>
      <p:sp>
        <p:nvSpPr>
          <p:cNvPr id="15" name="Shape 12"/>
          <p:cNvSpPr/>
          <p:nvPr/>
        </p:nvSpPr>
        <p:spPr>
          <a:xfrm>
            <a:off x="6172200" y="1024128"/>
            <a:ext cx="2788920" cy="402336"/>
          </a:xfrm>
          <a:prstGeom prst="rect">
            <a:avLst/>
          </a:prstGeom>
          <a:solidFill>
            <a:srgbClr val="F59E0B"/>
          </a:solidFill>
          <a:ln w="12700">
            <a:solidFill>
              <a:srgbClr val="F59E0B"/>
            </a:solidFill>
            <a:prstDash val="solid"/>
          </a:ln>
        </p:spPr>
      </p:sp>
      <p:sp>
        <p:nvSpPr>
          <p:cNvPr id="16" name="Text 13"/>
          <p:cNvSpPr/>
          <p:nvPr/>
        </p:nvSpPr>
        <p:spPr>
          <a:xfrm>
            <a:off x="6245352" y="1042416"/>
            <a:ext cx="2651760" cy="365760"/>
          </a:xfrm>
          <a:prstGeom prst="rect">
            <a:avLst/>
          </a:prstGeom>
          <a:noFill/>
          <a:ln/>
        </p:spPr>
        <p:txBody>
          <a:bodyPr wrap="square" lIns="50800" tIns="50800" rIns="50800" bIns="5080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Compute Scale</a:t>
            </a:r>
            <a:endParaRPr lang="en-US" sz="1300" dirty="0"/>
          </a:p>
        </p:txBody>
      </p:sp>
      <p:sp>
        <p:nvSpPr>
          <p:cNvPr id="17" name="Text 14"/>
          <p:cNvSpPr/>
          <p:nvPr/>
        </p:nvSpPr>
        <p:spPr>
          <a:xfrm>
            <a:off x="6263640" y="1481328"/>
            <a:ext cx="2606040" cy="3200400"/>
          </a:xfrm>
          <a:prstGeom prst="rect">
            <a:avLst/>
          </a:prstGeom>
          <a:noFill/>
          <a:ln/>
        </p:spPr>
        <p:txBody>
          <a:bodyPr wrap="square" lIns="76200" tIns="76200" rIns="76200" bIns="76200" rtlCol="0" anchor="ctr"/>
          <a:lstStyle/>
          <a:p>
            <a:pPr marL="342900" indent="-342900">
              <a:spcAft>
                <a:spcPts val="500"/>
              </a:spcAft>
              <a:buSzPct val="100000"/>
              <a:buChar char="•"/>
            </a:pPr>
            <a:r>
              <a:rPr lang="en-US" sz="1100" dirty="0">
                <a:solidFill>
                  <a:srgbClr val="1E2D4E"/>
                </a:solidFill>
                <a:latin typeface="Calibri" pitchFamily="34" charset="0"/>
                <a:ea typeface="Calibri" pitchFamily="34" charset="-122"/>
                <a:cs typeface="Calibri" pitchFamily="34" charset="-120"/>
              </a:rPr>
              <a:t>10K–100K A100/H100 GPUs</a:t>
            </a:r>
            <a:endParaRPr lang="en-US" sz="1100" dirty="0"/>
          </a:p>
          <a:p>
            <a:pPr marL="342900" indent="-342900">
              <a:spcAft>
                <a:spcPts val="500"/>
              </a:spcAft>
              <a:buSzPct val="100000"/>
              <a:buChar char="•"/>
            </a:pPr>
            <a:r>
              <a:rPr lang="en-US" sz="1100" dirty="0">
                <a:solidFill>
                  <a:srgbClr val="1E2D4E"/>
                </a:solidFill>
                <a:latin typeface="Calibri" pitchFamily="34" charset="0"/>
                <a:ea typeface="Calibri" pitchFamily="34" charset="-122"/>
                <a:cs typeface="Calibri" pitchFamily="34" charset="-120"/>
              </a:rPr>
              <a:t>Training: weeks to months</a:t>
            </a:r>
            <a:endParaRPr lang="en-US" sz="1100" dirty="0"/>
          </a:p>
          <a:p>
            <a:pPr marL="342900" indent="-342900">
              <a:spcAft>
                <a:spcPts val="500"/>
              </a:spcAft>
              <a:buSzPct val="100000"/>
              <a:buChar char="•"/>
            </a:pPr>
            <a:r>
              <a:rPr lang="en-US" sz="1100" dirty="0">
                <a:solidFill>
                  <a:srgbClr val="1E2D4E"/>
                </a:solidFill>
                <a:latin typeface="Calibri" pitchFamily="34" charset="0"/>
                <a:ea typeface="Calibri" pitchFamily="34" charset="-122"/>
                <a:cs typeface="Calibri" pitchFamily="34" charset="-120"/>
              </a:rPr>
              <a:t>Cost: $5M–$100M per run</a:t>
            </a:r>
            <a:endParaRPr lang="en-US" sz="1100" dirty="0"/>
          </a:p>
          <a:p>
            <a:pPr marL="342900" indent="-342900">
              <a:spcAft>
                <a:spcPts val="500"/>
              </a:spcAft>
              <a:buSzPct val="100000"/>
              <a:buChar char="•"/>
            </a:pPr>
            <a:r>
              <a:rPr lang="en-US" sz="1100" dirty="0">
                <a:solidFill>
                  <a:srgbClr val="1E2D4E"/>
                </a:solidFill>
                <a:latin typeface="Calibri" pitchFamily="34" charset="0"/>
                <a:ea typeface="Calibri" pitchFamily="34" charset="-122"/>
                <a:cs typeface="Calibri" pitchFamily="34" charset="-120"/>
              </a:rPr>
              <a:t>Mixed precision (bfloat16)</a:t>
            </a:r>
            <a:endParaRPr lang="en-US" sz="1100" dirty="0"/>
          </a:p>
          <a:p>
            <a:pPr marL="342900" indent="-342900">
              <a:spcAft>
                <a:spcPts val="500"/>
              </a:spcAft>
              <a:buSzPct val="100000"/>
              <a:buChar char="•"/>
            </a:pPr>
            <a:r>
              <a:rPr lang="en-US" sz="1100" dirty="0">
                <a:solidFill>
                  <a:srgbClr val="1E2D4E"/>
                </a:solidFill>
                <a:latin typeface="Calibri" pitchFamily="34" charset="0"/>
                <a:ea typeface="Calibri" pitchFamily="34" charset="-122"/>
                <a:cs typeface="Calibri" pitchFamily="34" charset="-120"/>
              </a:rPr>
              <a:t>Tensor &amp; pipeline parallelism</a:t>
            </a:r>
            <a:endParaRPr lang="en-US" sz="1100" dirty="0"/>
          </a:p>
          <a:p>
            <a:pPr marL="342900" indent="-342900">
              <a:spcAft>
                <a:spcPts val="500"/>
              </a:spcAft>
              <a:buSzPct val="100000"/>
              <a:buChar char="•"/>
            </a:pPr>
            <a:r>
              <a:rPr lang="en-US" sz="1100" dirty="0">
                <a:solidFill>
                  <a:srgbClr val="1E2D4E"/>
                </a:solidFill>
                <a:latin typeface="Calibri" pitchFamily="34" charset="0"/>
                <a:ea typeface="Calibri" pitchFamily="34" charset="-122"/>
                <a:cs typeface="Calibri" pitchFamily="34" charset="-120"/>
              </a:rPr>
              <a:t>Gradient checkpointing</a:t>
            </a:r>
            <a:endParaRPr lang="en-US" sz="1100" dirty="0"/>
          </a:p>
          <a:p>
            <a:pPr marL="342900" indent="-342900">
              <a:spcAft>
                <a:spcPts val="500"/>
              </a:spcAft>
              <a:buSzPct val="100000"/>
              <a:buChar char="•"/>
            </a:pPr>
            <a:r>
              <a:rPr lang="en-US" sz="1100" dirty="0">
                <a:solidFill>
                  <a:srgbClr val="1E2D4E"/>
                </a:solidFill>
                <a:latin typeface="Calibri" pitchFamily="34" charset="0"/>
                <a:ea typeface="Calibri" pitchFamily="34" charset="-122"/>
                <a:cs typeface="Calibri" pitchFamily="34" charset="-120"/>
              </a:rPr>
              <a:t>ZeRO optimizer (DeepSpeed)</a:t>
            </a:r>
            <a:endParaRPr lang="en-US" sz="1100" dirty="0"/>
          </a:p>
        </p:txBody>
      </p:sp>
      <p:sp>
        <p:nvSpPr>
          <p:cNvPr id="18" name="Shape 15"/>
          <p:cNvSpPr/>
          <p:nvPr/>
        </p:nvSpPr>
        <p:spPr>
          <a:xfrm>
            <a:off x="228600" y="4818888"/>
            <a:ext cx="8686800" cy="246888"/>
          </a:xfrm>
          <a:prstGeom prst="rect">
            <a:avLst/>
          </a:prstGeom>
          <a:solidFill>
            <a:srgbClr val="D1FAE5"/>
          </a:solidFill>
          <a:ln w="12700">
            <a:solidFill>
              <a:srgbClr val="10B981"/>
            </a:solidFill>
            <a:prstDash val="solid"/>
          </a:ln>
        </p:spPr>
      </p:sp>
      <p:sp>
        <p:nvSpPr>
          <p:cNvPr id="19" name="Text 16"/>
          <p:cNvSpPr/>
          <p:nvPr/>
        </p:nvSpPr>
        <p:spPr>
          <a:xfrm>
            <a:off x="274320" y="4837176"/>
            <a:ext cx="8595360" cy="201168"/>
          </a:xfrm>
          <a:prstGeom prst="rect">
            <a:avLst/>
          </a:prstGeom>
          <a:noFill/>
          <a:ln/>
        </p:spPr>
        <p:txBody>
          <a:bodyPr wrap="square" lIns="0" tIns="0" rIns="0" bIns="0" rtlCol="0" anchor="ctr"/>
          <a:lstStyle/>
          <a:p>
            <a:pPr algn="ctr" indent="0" marL="0">
              <a:buNone/>
            </a:pPr>
            <a:r>
              <a:rPr lang="en-US" sz="950" b="1" dirty="0">
                <a:solidFill>
                  <a:srgbClr val="0D1B3E"/>
                </a:solidFill>
                <a:latin typeface="Calibri" pitchFamily="34" charset="0"/>
                <a:ea typeface="Calibri" pitchFamily="34" charset="-122"/>
                <a:cs typeface="Calibri" pitchFamily="34" charset="-120"/>
              </a:rPr>
              <a:t>📊  GPT-3: 300B tokens, $4.6M | GPT-4: est. $100M | LLaMA 3 405B: 15T tokens | Mistral 7B: 1T tokens</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80D1A"/>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41E35"/>
          </a:solidFill>
          <a:ln w="12700">
            <a:solidFill>
              <a:srgbClr val="141E35"/>
            </a:solidFill>
            <a:prstDash val="solid"/>
          </a:ln>
        </p:spPr>
      </p:sp>
      <p:sp>
        <p:nvSpPr>
          <p:cNvPr id="3" name="Shape 1"/>
          <p:cNvSpPr/>
          <p:nvPr/>
        </p:nvSpPr>
        <p:spPr>
          <a:xfrm>
            <a:off x="0" y="914400"/>
            <a:ext cx="9144000" cy="45720"/>
          </a:xfrm>
          <a:prstGeom prst="rect">
            <a:avLst/>
          </a:prstGeom>
          <a:solidFill>
            <a:srgbClr val="8B5CF6"/>
          </a:solidFill>
          <a:ln w="12700">
            <a:solidFill>
              <a:srgbClr val="8B5CF6"/>
            </a:solidFill>
            <a:prstDash val="solid"/>
          </a:ln>
        </p:spPr>
      </p:sp>
      <p:pic>
        <p:nvPicPr>
          <p:cNvPr id="4" name="Image 0" descr="preencoded.png">    </p:cNvPr>
          <p:cNvPicPr>
            <a:picLocks noChangeAspect="1"/>
          </p:cNvPicPr>
          <p:nvPr/>
        </p:nvPicPr>
        <p:blipFill>
          <a:blip r:embed="rId1"/>
          <a:stretch>
            <a:fillRect/>
          </a:stretch>
        </p:blipFill>
        <p:spPr>
          <a:xfrm>
            <a:off x="228600" y="182880"/>
            <a:ext cx="502920" cy="502920"/>
          </a:xfrm>
          <a:prstGeom prst="rect">
            <a:avLst/>
          </a:prstGeom>
        </p:spPr>
      </p:pic>
      <p:sp>
        <p:nvSpPr>
          <p:cNvPr id="5" name="Text 2"/>
          <p:cNvSpPr/>
          <p:nvPr/>
        </p:nvSpPr>
        <p:spPr>
          <a:xfrm>
            <a:off x="822960" y="137160"/>
            <a:ext cx="8046720" cy="68580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Fine-Tuning, RLHF &amp; Alignment</a:t>
            </a:r>
            <a:endParaRPr lang="en-US" sz="2600" dirty="0"/>
          </a:p>
        </p:txBody>
      </p:sp>
      <p:sp>
        <p:nvSpPr>
          <p:cNvPr id="6" name="Shape 3"/>
          <p:cNvSpPr/>
          <p:nvPr/>
        </p:nvSpPr>
        <p:spPr>
          <a:xfrm>
            <a:off x="228600" y="1024128"/>
            <a:ext cx="2788920" cy="3840480"/>
          </a:xfrm>
          <a:prstGeom prst="rect">
            <a:avLst/>
          </a:prstGeom>
          <a:solidFill>
            <a:srgbClr val="141E35"/>
          </a:solidFill>
          <a:ln w="25400">
            <a:solidFill>
              <a:srgbClr val="1A56DB"/>
            </a:solidFill>
            <a:prstDash val="solid"/>
          </a:ln>
          <a:effectLst>
            <a:outerShdw sx="100000" sy="100000" kx="0" ky="0" algn="bl" rotWithShape="0" blurRad="101600" dist="38100" dir="8100000">
              <a:srgbClr val="000000">
                <a:alpha val="20000"/>
              </a:srgbClr>
            </a:outerShdw>
          </a:effectLst>
        </p:spPr>
      </p:sp>
      <p:sp>
        <p:nvSpPr>
          <p:cNvPr id="7" name="Shape 4"/>
          <p:cNvSpPr/>
          <p:nvPr/>
        </p:nvSpPr>
        <p:spPr>
          <a:xfrm>
            <a:off x="228600" y="1024128"/>
            <a:ext cx="2788920" cy="502920"/>
          </a:xfrm>
          <a:prstGeom prst="rect">
            <a:avLst/>
          </a:prstGeom>
          <a:solidFill>
            <a:srgbClr val="1A56DB"/>
          </a:solidFill>
          <a:ln w="12700">
            <a:solidFill>
              <a:srgbClr val="1A56DB"/>
            </a:solidFill>
            <a:prstDash val="solid"/>
          </a:ln>
        </p:spPr>
      </p:sp>
      <p:sp>
        <p:nvSpPr>
          <p:cNvPr id="8" name="Text 5"/>
          <p:cNvSpPr/>
          <p:nvPr/>
        </p:nvSpPr>
        <p:spPr>
          <a:xfrm>
            <a:off x="301752" y="1042416"/>
            <a:ext cx="347472" cy="420624"/>
          </a:xfrm>
          <a:prstGeom prst="rect">
            <a:avLst/>
          </a:prstGeom>
          <a:noFill/>
          <a:ln/>
        </p:spPr>
        <p:txBody>
          <a:bodyPr wrap="square" lIns="0" tIns="0" rIns="0" bIns="0" rtlCol="0" anchor="ctr"/>
          <a:lstStyle/>
          <a:p>
            <a:pPr indent="0" marL="0">
              <a:buNone/>
            </a:pPr>
            <a:r>
              <a:rPr lang="en-US" sz="2000" b="1" dirty="0">
                <a:solidFill>
                  <a:srgbClr val="FFFFFF"/>
                </a:solidFill>
                <a:latin typeface="Arial Black" pitchFamily="34" charset="0"/>
                <a:ea typeface="Arial Black" pitchFamily="34" charset="-122"/>
                <a:cs typeface="Arial Black" pitchFamily="34" charset="-120"/>
              </a:rPr>
              <a:t>01</a:t>
            </a:r>
            <a:endParaRPr lang="en-US" sz="2000" dirty="0"/>
          </a:p>
        </p:txBody>
      </p:sp>
      <p:sp>
        <p:nvSpPr>
          <p:cNvPr id="9" name="Text 6"/>
          <p:cNvSpPr/>
          <p:nvPr/>
        </p:nvSpPr>
        <p:spPr>
          <a:xfrm>
            <a:off x="685800" y="1060704"/>
            <a:ext cx="2286000" cy="420624"/>
          </a:xfrm>
          <a:prstGeom prst="rect">
            <a:avLst/>
          </a:prstGeom>
          <a:noFill/>
          <a:ln/>
        </p:spPr>
        <p:txBody>
          <a:bodyPr wrap="square" lIns="25400" tIns="25400" rIns="25400" bIns="2540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Supervised Fine-Tuning (SFT)</a:t>
            </a:r>
            <a:endParaRPr lang="en-US" sz="1150" dirty="0"/>
          </a:p>
        </p:txBody>
      </p:sp>
      <p:sp>
        <p:nvSpPr>
          <p:cNvPr id="10" name="Text 7"/>
          <p:cNvSpPr/>
          <p:nvPr/>
        </p:nvSpPr>
        <p:spPr>
          <a:xfrm>
            <a:off x="338328" y="1591056"/>
            <a:ext cx="2606040" cy="3154680"/>
          </a:xfrm>
          <a:prstGeom prst="rect">
            <a:avLst/>
          </a:prstGeom>
          <a:noFill/>
          <a:ln/>
        </p:spPr>
        <p:txBody>
          <a:bodyPr wrap="square" lIns="76200" tIns="76200" rIns="76200" bIns="76200" rtlCol="0" anchor="ctr"/>
          <a:lstStyle/>
          <a:p>
            <a:pPr marL="342900" indent="-342900">
              <a:spcAft>
                <a:spcPts val="700"/>
              </a:spcAft>
              <a:buSzPct val="100000"/>
              <a:buChar char="•"/>
            </a:pPr>
            <a:r>
              <a:rPr lang="en-US" sz="1100" dirty="0">
                <a:solidFill>
                  <a:srgbClr val="E8F0FE"/>
                </a:solidFill>
                <a:latin typeface="Calibri" pitchFamily="34" charset="0"/>
                <a:ea typeface="Calibri" pitchFamily="34" charset="-122"/>
                <a:cs typeface="Calibri" pitchFamily="34" charset="-120"/>
              </a:rPr>
              <a:t>Curated instruction-following datasets</a:t>
            </a:r>
            <a:endParaRPr lang="en-US" sz="1100" dirty="0"/>
          </a:p>
          <a:p>
            <a:pPr marL="342900" indent="-342900">
              <a:spcAft>
                <a:spcPts val="700"/>
              </a:spcAft>
              <a:buSzPct val="100000"/>
              <a:buChar char="•"/>
            </a:pPr>
            <a:r>
              <a:rPr lang="en-US" sz="1100" dirty="0">
                <a:solidFill>
                  <a:srgbClr val="E8F0FE"/>
                </a:solidFill>
                <a:latin typeface="Calibri" pitchFamily="34" charset="0"/>
                <a:ea typeface="Calibri" pitchFamily="34" charset="-122"/>
                <a:cs typeface="Calibri" pitchFamily="34" charset="-120"/>
              </a:rPr>
              <a:t>Human-written prompt → response pairs</a:t>
            </a:r>
            <a:endParaRPr lang="en-US" sz="1100" dirty="0"/>
          </a:p>
          <a:p>
            <a:pPr marL="342900" indent="-342900">
              <a:spcAft>
                <a:spcPts val="700"/>
              </a:spcAft>
              <a:buSzPct val="100000"/>
              <a:buChar char="•"/>
            </a:pPr>
            <a:r>
              <a:rPr lang="en-US" sz="1100" dirty="0">
                <a:solidFill>
                  <a:srgbClr val="E8F0FE"/>
                </a:solidFill>
                <a:latin typeface="Calibri" pitchFamily="34" charset="0"/>
                <a:ea typeface="Calibri" pitchFamily="34" charset="-122"/>
                <a:cs typeface="Calibri" pitchFamily="34" charset="-120"/>
              </a:rPr>
              <a:t>Teaches model to follow instructions</a:t>
            </a:r>
            <a:endParaRPr lang="en-US" sz="1100" dirty="0"/>
          </a:p>
          <a:p>
            <a:pPr marL="342900" indent="-342900">
              <a:spcAft>
                <a:spcPts val="700"/>
              </a:spcAft>
              <a:buSzPct val="100000"/>
              <a:buChar char="•"/>
            </a:pPr>
            <a:r>
              <a:rPr lang="en-US" sz="1100" dirty="0">
                <a:solidFill>
                  <a:srgbClr val="E8F0FE"/>
                </a:solidFill>
                <a:latin typeface="Calibri" pitchFamily="34" charset="0"/>
                <a:ea typeface="Calibri" pitchFamily="34" charset="-122"/>
                <a:cs typeface="Calibri" pitchFamily="34" charset="-120"/>
              </a:rPr>
              <a:t>Domain-specific: medical, legal, code</a:t>
            </a:r>
            <a:endParaRPr lang="en-US" sz="1100" dirty="0"/>
          </a:p>
          <a:p>
            <a:pPr marL="342900" indent="-342900">
              <a:spcAft>
                <a:spcPts val="700"/>
              </a:spcAft>
              <a:buSzPct val="100000"/>
              <a:buChar char="•"/>
            </a:pPr>
            <a:r>
              <a:rPr lang="en-US" sz="1100" dirty="0">
                <a:solidFill>
                  <a:srgbClr val="E8F0FE"/>
                </a:solidFill>
                <a:latin typeface="Calibri" pitchFamily="34" charset="0"/>
                <a:ea typeface="Calibri" pitchFamily="34" charset="-122"/>
                <a:cs typeface="Calibri" pitchFamily="34" charset="-120"/>
              </a:rPr>
              <a:t>Requires far less compute than pretraining</a:t>
            </a:r>
            <a:endParaRPr lang="en-US" sz="1100" dirty="0"/>
          </a:p>
        </p:txBody>
      </p:sp>
      <p:sp>
        <p:nvSpPr>
          <p:cNvPr id="11" name="Shape 8"/>
          <p:cNvSpPr/>
          <p:nvPr/>
        </p:nvSpPr>
        <p:spPr>
          <a:xfrm>
            <a:off x="3200400" y="1024128"/>
            <a:ext cx="2788920" cy="3840480"/>
          </a:xfrm>
          <a:prstGeom prst="rect">
            <a:avLst/>
          </a:prstGeom>
          <a:solidFill>
            <a:srgbClr val="141E35"/>
          </a:solidFill>
          <a:ln w="25400">
            <a:solidFill>
              <a:srgbClr val="F59E0B"/>
            </a:solidFill>
            <a:prstDash val="solid"/>
          </a:ln>
          <a:effectLst>
            <a:outerShdw sx="100000" sy="100000" kx="0" ky="0" algn="bl" rotWithShape="0" blurRad="101600" dist="38100" dir="8100000">
              <a:srgbClr val="000000">
                <a:alpha val="20000"/>
              </a:srgbClr>
            </a:outerShdw>
          </a:effectLst>
        </p:spPr>
      </p:sp>
      <p:sp>
        <p:nvSpPr>
          <p:cNvPr id="12" name="Shape 9"/>
          <p:cNvSpPr/>
          <p:nvPr/>
        </p:nvSpPr>
        <p:spPr>
          <a:xfrm>
            <a:off x="3200400" y="1024128"/>
            <a:ext cx="2788920" cy="502920"/>
          </a:xfrm>
          <a:prstGeom prst="rect">
            <a:avLst/>
          </a:prstGeom>
          <a:solidFill>
            <a:srgbClr val="F59E0B"/>
          </a:solidFill>
          <a:ln w="12700">
            <a:solidFill>
              <a:srgbClr val="F59E0B"/>
            </a:solidFill>
            <a:prstDash val="solid"/>
          </a:ln>
        </p:spPr>
      </p:sp>
      <p:sp>
        <p:nvSpPr>
          <p:cNvPr id="13" name="Text 10"/>
          <p:cNvSpPr/>
          <p:nvPr/>
        </p:nvSpPr>
        <p:spPr>
          <a:xfrm>
            <a:off x="3273552" y="1042416"/>
            <a:ext cx="347472" cy="420624"/>
          </a:xfrm>
          <a:prstGeom prst="rect">
            <a:avLst/>
          </a:prstGeom>
          <a:noFill/>
          <a:ln/>
        </p:spPr>
        <p:txBody>
          <a:bodyPr wrap="square" lIns="0" tIns="0" rIns="0" bIns="0" rtlCol="0" anchor="ctr"/>
          <a:lstStyle/>
          <a:p>
            <a:pPr indent="0" marL="0">
              <a:buNone/>
            </a:pPr>
            <a:r>
              <a:rPr lang="en-US" sz="2000" b="1" dirty="0">
                <a:solidFill>
                  <a:srgbClr val="FFFFFF"/>
                </a:solidFill>
                <a:latin typeface="Arial Black" pitchFamily="34" charset="0"/>
                <a:ea typeface="Arial Black" pitchFamily="34" charset="-122"/>
                <a:cs typeface="Arial Black" pitchFamily="34" charset="-120"/>
              </a:rPr>
              <a:t>02</a:t>
            </a:r>
            <a:endParaRPr lang="en-US" sz="2000" dirty="0"/>
          </a:p>
        </p:txBody>
      </p:sp>
      <p:sp>
        <p:nvSpPr>
          <p:cNvPr id="14" name="Text 11"/>
          <p:cNvSpPr/>
          <p:nvPr/>
        </p:nvSpPr>
        <p:spPr>
          <a:xfrm>
            <a:off x="3657600" y="1060704"/>
            <a:ext cx="2286000" cy="420624"/>
          </a:xfrm>
          <a:prstGeom prst="rect">
            <a:avLst/>
          </a:prstGeom>
          <a:noFill/>
          <a:ln/>
        </p:spPr>
        <p:txBody>
          <a:bodyPr wrap="square" lIns="25400" tIns="25400" rIns="25400" bIns="2540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Reward Modeling (RM)</a:t>
            </a:r>
            <a:endParaRPr lang="en-US" sz="1150" dirty="0"/>
          </a:p>
        </p:txBody>
      </p:sp>
      <p:sp>
        <p:nvSpPr>
          <p:cNvPr id="15" name="Text 12"/>
          <p:cNvSpPr/>
          <p:nvPr/>
        </p:nvSpPr>
        <p:spPr>
          <a:xfrm>
            <a:off x="3310128" y="1591056"/>
            <a:ext cx="2606040" cy="3154680"/>
          </a:xfrm>
          <a:prstGeom prst="rect">
            <a:avLst/>
          </a:prstGeom>
          <a:noFill/>
          <a:ln/>
        </p:spPr>
        <p:txBody>
          <a:bodyPr wrap="square" lIns="76200" tIns="76200" rIns="76200" bIns="76200" rtlCol="0" anchor="ctr"/>
          <a:lstStyle/>
          <a:p>
            <a:pPr marL="342900" indent="-342900">
              <a:spcAft>
                <a:spcPts val="700"/>
              </a:spcAft>
              <a:buSzPct val="100000"/>
              <a:buChar char="•"/>
            </a:pPr>
            <a:r>
              <a:rPr lang="en-US" sz="1100" dirty="0">
                <a:solidFill>
                  <a:srgbClr val="E8F0FE"/>
                </a:solidFill>
                <a:latin typeface="Calibri" pitchFamily="34" charset="0"/>
                <a:ea typeface="Calibri" pitchFamily="34" charset="-122"/>
                <a:cs typeface="Calibri" pitchFamily="34" charset="-120"/>
              </a:rPr>
              <a:t>Humans rank multiple model responses</a:t>
            </a:r>
            <a:endParaRPr lang="en-US" sz="1100" dirty="0"/>
          </a:p>
          <a:p>
            <a:pPr marL="342900" indent="-342900">
              <a:spcAft>
                <a:spcPts val="700"/>
              </a:spcAft>
              <a:buSzPct val="100000"/>
              <a:buChar char="•"/>
            </a:pPr>
            <a:r>
              <a:rPr lang="en-US" sz="1100" dirty="0">
                <a:solidFill>
                  <a:srgbClr val="E8F0FE"/>
                </a:solidFill>
                <a:latin typeface="Calibri" pitchFamily="34" charset="0"/>
                <a:ea typeface="Calibri" pitchFamily="34" charset="-122"/>
                <a:cs typeface="Calibri" pitchFamily="34" charset="-120"/>
              </a:rPr>
              <a:t>Reward model trained on rankings</a:t>
            </a:r>
            <a:endParaRPr lang="en-US" sz="1100" dirty="0"/>
          </a:p>
          <a:p>
            <a:pPr marL="342900" indent="-342900">
              <a:spcAft>
                <a:spcPts val="700"/>
              </a:spcAft>
              <a:buSzPct val="100000"/>
              <a:buChar char="•"/>
            </a:pPr>
            <a:r>
              <a:rPr lang="en-US" sz="1100" dirty="0">
                <a:solidFill>
                  <a:srgbClr val="E8F0FE"/>
                </a:solidFill>
                <a:latin typeface="Calibri" pitchFamily="34" charset="0"/>
                <a:ea typeface="Calibri" pitchFamily="34" charset="-122"/>
                <a:cs typeface="Calibri" pitchFamily="34" charset="-120"/>
              </a:rPr>
              <a:t>Predicts human preference score</a:t>
            </a:r>
            <a:endParaRPr lang="en-US" sz="1100" dirty="0"/>
          </a:p>
          <a:p>
            <a:pPr marL="342900" indent="-342900">
              <a:spcAft>
                <a:spcPts val="700"/>
              </a:spcAft>
              <a:buSzPct val="100000"/>
              <a:buChar char="•"/>
            </a:pPr>
            <a:r>
              <a:rPr lang="en-US" sz="1100" dirty="0">
                <a:solidFill>
                  <a:srgbClr val="E8F0FE"/>
                </a:solidFill>
                <a:latin typeface="Calibri" pitchFamily="34" charset="0"/>
                <a:ea typeface="Calibri" pitchFamily="34" charset="-122"/>
                <a:cs typeface="Calibri" pitchFamily="34" charset="-120"/>
              </a:rPr>
              <a:t>Separates quality from helpfulness</a:t>
            </a:r>
            <a:endParaRPr lang="en-US" sz="1100" dirty="0"/>
          </a:p>
          <a:p>
            <a:pPr marL="342900" indent="-342900">
              <a:spcAft>
                <a:spcPts val="700"/>
              </a:spcAft>
              <a:buSzPct val="100000"/>
              <a:buChar char="•"/>
            </a:pPr>
            <a:r>
              <a:rPr lang="en-US" sz="1100" dirty="0">
                <a:solidFill>
                  <a:srgbClr val="E8F0FE"/>
                </a:solidFill>
                <a:latin typeface="Calibri" pitchFamily="34" charset="0"/>
                <a:ea typeface="Calibri" pitchFamily="34" charset="-122"/>
                <a:cs typeface="Calibri" pitchFamily="34" charset="-120"/>
              </a:rPr>
              <a:t>Acts as proxy for human judgment</a:t>
            </a:r>
            <a:endParaRPr lang="en-US" sz="1100" dirty="0"/>
          </a:p>
        </p:txBody>
      </p:sp>
      <p:sp>
        <p:nvSpPr>
          <p:cNvPr id="16" name="Shape 13"/>
          <p:cNvSpPr/>
          <p:nvPr/>
        </p:nvSpPr>
        <p:spPr>
          <a:xfrm>
            <a:off x="6172200" y="1024128"/>
            <a:ext cx="2788920" cy="3840480"/>
          </a:xfrm>
          <a:prstGeom prst="rect">
            <a:avLst/>
          </a:prstGeom>
          <a:solidFill>
            <a:srgbClr val="141E35"/>
          </a:solidFill>
          <a:ln w="25400">
            <a:solidFill>
              <a:srgbClr val="8B5CF6"/>
            </a:solidFill>
            <a:prstDash val="solid"/>
          </a:ln>
          <a:effectLst>
            <a:outerShdw sx="100000" sy="100000" kx="0" ky="0" algn="bl" rotWithShape="0" blurRad="101600" dist="38100" dir="8100000">
              <a:srgbClr val="000000">
                <a:alpha val="20000"/>
              </a:srgbClr>
            </a:outerShdw>
          </a:effectLst>
        </p:spPr>
      </p:sp>
      <p:sp>
        <p:nvSpPr>
          <p:cNvPr id="17" name="Shape 14"/>
          <p:cNvSpPr/>
          <p:nvPr/>
        </p:nvSpPr>
        <p:spPr>
          <a:xfrm>
            <a:off x="6172200" y="1024128"/>
            <a:ext cx="2788920" cy="502920"/>
          </a:xfrm>
          <a:prstGeom prst="rect">
            <a:avLst/>
          </a:prstGeom>
          <a:solidFill>
            <a:srgbClr val="8B5CF6"/>
          </a:solidFill>
          <a:ln w="12700">
            <a:solidFill>
              <a:srgbClr val="8B5CF6"/>
            </a:solidFill>
            <a:prstDash val="solid"/>
          </a:ln>
        </p:spPr>
      </p:sp>
      <p:sp>
        <p:nvSpPr>
          <p:cNvPr id="18" name="Text 15"/>
          <p:cNvSpPr/>
          <p:nvPr/>
        </p:nvSpPr>
        <p:spPr>
          <a:xfrm>
            <a:off x="6245352" y="1042416"/>
            <a:ext cx="347472" cy="420624"/>
          </a:xfrm>
          <a:prstGeom prst="rect">
            <a:avLst/>
          </a:prstGeom>
          <a:noFill/>
          <a:ln/>
        </p:spPr>
        <p:txBody>
          <a:bodyPr wrap="square" lIns="0" tIns="0" rIns="0" bIns="0" rtlCol="0" anchor="ctr"/>
          <a:lstStyle/>
          <a:p>
            <a:pPr indent="0" marL="0">
              <a:buNone/>
            </a:pPr>
            <a:r>
              <a:rPr lang="en-US" sz="2000" b="1" dirty="0">
                <a:solidFill>
                  <a:srgbClr val="FFFFFF"/>
                </a:solidFill>
                <a:latin typeface="Arial Black" pitchFamily="34" charset="0"/>
                <a:ea typeface="Arial Black" pitchFamily="34" charset="-122"/>
                <a:cs typeface="Arial Black" pitchFamily="34" charset="-120"/>
              </a:rPr>
              <a:t>03</a:t>
            </a:r>
            <a:endParaRPr lang="en-US" sz="2000" dirty="0"/>
          </a:p>
        </p:txBody>
      </p:sp>
      <p:sp>
        <p:nvSpPr>
          <p:cNvPr id="19" name="Text 16"/>
          <p:cNvSpPr/>
          <p:nvPr/>
        </p:nvSpPr>
        <p:spPr>
          <a:xfrm>
            <a:off x="6629400" y="1060704"/>
            <a:ext cx="2286000" cy="420624"/>
          </a:xfrm>
          <a:prstGeom prst="rect">
            <a:avLst/>
          </a:prstGeom>
          <a:noFill/>
          <a:ln/>
        </p:spPr>
        <p:txBody>
          <a:bodyPr wrap="square" lIns="25400" tIns="25400" rIns="25400" bIns="2540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RLHF with PPO</a:t>
            </a:r>
            <a:endParaRPr lang="en-US" sz="1150" dirty="0"/>
          </a:p>
        </p:txBody>
      </p:sp>
      <p:sp>
        <p:nvSpPr>
          <p:cNvPr id="20" name="Text 17"/>
          <p:cNvSpPr/>
          <p:nvPr/>
        </p:nvSpPr>
        <p:spPr>
          <a:xfrm>
            <a:off x="6281928" y="1591056"/>
            <a:ext cx="2606040" cy="3154680"/>
          </a:xfrm>
          <a:prstGeom prst="rect">
            <a:avLst/>
          </a:prstGeom>
          <a:noFill/>
          <a:ln/>
        </p:spPr>
        <p:txBody>
          <a:bodyPr wrap="square" lIns="76200" tIns="76200" rIns="76200" bIns="76200" rtlCol="0" anchor="ctr"/>
          <a:lstStyle/>
          <a:p>
            <a:pPr marL="342900" indent="-342900">
              <a:spcAft>
                <a:spcPts val="700"/>
              </a:spcAft>
              <a:buSzPct val="100000"/>
              <a:buChar char="•"/>
            </a:pPr>
            <a:r>
              <a:rPr lang="en-US" sz="1100" dirty="0">
                <a:solidFill>
                  <a:srgbClr val="E8F0FE"/>
                </a:solidFill>
                <a:latin typeface="Calibri" pitchFamily="34" charset="0"/>
                <a:ea typeface="Calibri" pitchFamily="34" charset="-122"/>
                <a:cs typeface="Calibri" pitchFamily="34" charset="-120"/>
              </a:rPr>
              <a:t>Policy (LLM) optimized via PPO</a:t>
            </a:r>
            <a:endParaRPr lang="en-US" sz="1100" dirty="0"/>
          </a:p>
          <a:p>
            <a:pPr marL="342900" indent="-342900">
              <a:spcAft>
                <a:spcPts val="700"/>
              </a:spcAft>
              <a:buSzPct val="100000"/>
              <a:buChar char="•"/>
            </a:pPr>
            <a:r>
              <a:rPr lang="en-US" sz="1100" dirty="0">
                <a:solidFill>
                  <a:srgbClr val="E8F0FE"/>
                </a:solidFill>
                <a:latin typeface="Calibri" pitchFamily="34" charset="0"/>
                <a:ea typeface="Calibri" pitchFamily="34" charset="-122"/>
                <a:cs typeface="Calibri" pitchFamily="34" charset="-120"/>
              </a:rPr>
              <a:t>Reward = RM score - KL penalty</a:t>
            </a:r>
            <a:endParaRPr lang="en-US" sz="1100" dirty="0"/>
          </a:p>
          <a:p>
            <a:pPr marL="342900" indent="-342900">
              <a:spcAft>
                <a:spcPts val="700"/>
              </a:spcAft>
              <a:buSzPct val="100000"/>
              <a:buChar char="•"/>
            </a:pPr>
            <a:r>
              <a:rPr lang="en-US" sz="1100" dirty="0">
                <a:solidFill>
                  <a:srgbClr val="E8F0FE"/>
                </a:solidFill>
                <a:latin typeface="Calibri" pitchFamily="34" charset="0"/>
                <a:ea typeface="Calibri" pitchFamily="34" charset="-122"/>
                <a:cs typeface="Calibri" pitchFamily="34" charset="-120"/>
              </a:rPr>
              <a:t>KL divergence prevents over-optimization</a:t>
            </a:r>
            <a:endParaRPr lang="en-US" sz="1100" dirty="0"/>
          </a:p>
          <a:p>
            <a:pPr marL="342900" indent="-342900">
              <a:spcAft>
                <a:spcPts val="700"/>
              </a:spcAft>
              <a:buSzPct val="100000"/>
              <a:buChar char="•"/>
            </a:pPr>
            <a:r>
              <a:rPr lang="en-US" sz="1100" dirty="0">
                <a:solidFill>
                  <a:srgbClr val="E8F0FE"/>
                </a:solidFill>
                <a:latin typeface="Calibri" pitchFamily="34" charset="0"/>
                <a:ea typeface="Calibri" pitchFamily="34" charset="-122"/>
                <a:cs typeface="Calibri" pitchFamily="34" charset="-120"/>
              </a:rPr>
              <a:t>Iterative: generate → score → update</a:t>
            </a:r>
            <a:endParaRPr lang="en-US" sz="1100" dirty="0"/>
          </a:p>
          <a:p>
            <a:pPr marL="342900" indent="-342900">
              <a:spcAft>
                <a:spcPts val="700"/>
              </a:spcAft>
              <a:buSzPct val="100000"/>
              <a:buChar char="•"/>
            </a:pPr>
            <a:r>
              <a:rPr lang="en-US" sz="1100" dirty="0">
                <a:solidFill>
                  <a:srgbClr val="E8F0FE"/>
                </a:solidFill>
                <a:latin typeface="Calibri" pitchFamily="34" charset="0"/>
                <a:ea typeface="Calibri" pitchFamily="34" charset="-122"/>
                <a:cs typeface="Calibri" pitchFamily="34" charset="-120"/>
              </a:rPr>
              <a:t>Makes model helpful, harmless, honest</a:t>
            </a:r>
            <a:endParaRPr lang="en-US" sz="1100" dirty="0"/>
          </a:p>
        </p:txBody>
      </p:sp>
      <p:sp>
        <p:nvSpPr>
          <p:cNvPr id="21" name="Shape 18"/>
          <p:cNvSpPr/>
          <p:nvPr/>
        </p:nvSpPr>
        <p:spPr>
          <a:xfrm>
            <a:off x="228600" y="4818888"/>
            <a:ext cx="8686800" cy="246888"/>
          </a:xfrm>
          <a:prstGeom prst="rect">
            <a:avLst/>
          </a:prstGeom>
          <a:solidFill>
            <a:srgbClr val="1E2D4E"/>
          </a:solidFill>
          <a:ln w="12700">
            <a:solidFill>
              <a:srgbClr val="8B5CF6"/>
            </a:solidFill>
            <a:prstDash val="solid"/>
          </a:ln>
        </p:spPr>
      </p:sp>
      <p:sp>
        <p:nvSpPr>
          <p:cNvPr id="22" name="Text 19"/>
          <p:cNvSpPr/>
          <p:nvPr/>
        </p:nvSpPr>
        <p:spPr>
          <a:xfrm>
            <a:off x="274320" y="4837176"/>
            <a:ext cx="8595360" cy="201168"/>
          </a:xfrm>
          <a:prstGeom prst="rect">
            <a:avLst/>
          </a:prstGeom>
          <a:noFill/>
          <a:ln/>
        </p:spPr>
        <p:txBody>
          <a:bodyPr wrap="square" lIns="0" tIns="0" rIns="0" bIns="0" rtlCol="0" anchor="ctr"/>
          <a:lstStyle/>
          <a:p>
            <a:pPr algn="ctr" indent="0" marL="0">
              <a:buNone/>
            </a:pPr>
            <a:r>
              <a:rPr lang="en-US" sz="950" b="1" dirty="0">
                <a:solidFill>
                  <a:srgbClr val="E8F0FE"/>
                </a:solidFill>
                <a:latin typeface="Calibri" pitchFamily="34" charset="0"/>
                <a:ea typeface="Calibri" pitchFamily="34" charset="-122"/>
                <a:cs typeface="Calibri" pitchFamily="34" charset="-120"/>
              </a:rPr>
              <a:t>🔄  Modern alternative: DPO (Direct Preference Optimization) — simpler, no separate reward model, used in LLaMA 3, Mistral</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0F6FF"/>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D1B3E"/>
          </a:solidFill>
          <a:ln w="12700">
            <a:solidFill>
              <a:srgbClr val="0D1B3E"/>
            </a:solidFill>
            <a:prstDash val="solid"/>
          </a:ln>
        </p:spPr>
      </p:sp>
      <p:sp>
        <p:nvSpPr>
          <p:cNvPr id="3" name="Shape 1"/>
          <p:cNvSpPr/>
          <p:nvPr/>
        </p:nvSpPr>
        <p:spPr>
          <a:xfrm>
            <a:off x="0" y="914400"/>
            <a:ext cx="9144000" cy="45720"/>
          </a:xfrm>
          <a:prstGeom prst="rect">
            <a:avLst/>
          </a:prstGeom>
          <a:solidFill>
            <a:srgbClr val="F59E0B"/>
          </a:solidFill>
          <a:ln w="12700">
            <a:solidFill>
              <a:srgbClr val="F59E0B"/>
            </a:solidFill>
            <a:prstDash val="solid"/>
          </a:ln>
        </p:spPr>
      </p:sp>
      <p:pic>
        <p:nvPicPr>
          <p:cNvPr id="4" name="Image 0" descr="preencoded.png">    </p:cNvPr>
          <p:cNvPicPr>
            <a:picLocks noChangeAspect="1"/>
          </p:cNvPicPr>
          <p:nvPr/>
        </p:nvPicPr>
        <p:blipFill>
          <a:blip r:embed="rId1"/>
          <a:stretch>
            <a:fillRect/>
          </a:stretch>
        </p:blipFill>
        <p:spPr>
          <a:xfrm>
            <a:off x="228600" y="182880"/>
            <a:ext cx="502920" cy="502920"/>
          </a:xfrm>
          <a:prstGeom prst="rect">
            <a:avLst/>
          </a:prstGeom>
        </p:spPr>
      </p:pic>
      <p:sp>
        <p:nvSpPr>
          <p:cNvPr id="5" name="Text 2"/>
          <p:cNvSpPr/>
          <p:nvPr/>
        </p:nvSpPr>
        <p:spPr>
          <a:xfrm>
            <a:off x="822960" y="137160"/>
            <a:ext cx="8046720" cy="68580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Benchmarks &amp; Model Evaluation</a:t>
            </a:r>
            <a:endParaRPr lang="en-US" sz="2600" dirty="0"/>
          </a:p>
        </p:txBody>
      </p:sp>
      <p:graphicFrame>
        <p:nvGraphicFramePr>
          <p:cNvPr id="6" name="Chart 0" descr=""/>
          <p:cNvGraphicFramePr/>
          <p:nvPr/>
        </p:nvGraphicFramePr>
        <p:xfrm>
          <a:off x="228600" y="1024128"/>
          <a:ext cx="5029200" cy="3474720"/>
        </p:xfrm>
        <a:graphic xmlns:a="http://schemas.openxmlformats.org/drawingml/2006/main">
          <a:graphicData uri="http://schemas.openxmlformats.org/drawingml/2006/chart">
            <c:chart xmlns:c="http://schemas.openxmlformats.org/drawingml/2006/chart" r:id="rId2"/>
          </a:graphicData>
        </a:graphic>
      </p:graphicFrame>
      <p:sp>
        <p:nvSpPr>
          <p:cNvPr id="7" name="Shape 3"/>
          <p:cNvSpPr/>
          <p:nvPr/>
        </p:nvSpPr>
        <p:spPr>
          <a:xfrm>
            <a:off x="5486400" y="1024128"/>
            <a:ext cx="3429000" cy="3749040"/>
          </a:xfrm>
          <a:prstGeom prst="rect">
            <a:avLst/>
          </a:prstGeom>
          <a:solidFill>
            <a:srgbClr val="FFFFFF"/>
          </a:solidFill>
          <a:ln w="19050">
            <a:solidFill>
              <a:srgbClr val="F59E0B"/>
            </a:solidFill>
            <a:prstDash val="solid"/>
          </a:ln>
          <a:effectLst>
            <a:outerShdw sx="100000" sy="100000" kx="0" ky="0" algn="bl" rotWithShape="0" blurRad="101600" dist="38100" dir="8100000">
              <a:srgbClr val="000000">
                <a:alpha val="20000"/>
              </a:srgbClr>
            </a:outerShdw>
          </a:effectLst>
        </p:spPr>
      </p:sp>
      <p:sp>
        <p:nvSpPr>
          <p:cNvPr id="8" name="Shape 4"/>
          <p:cNvSpPr/>
          <p:nvPr/>
        </p:nvSpPr>
        <p:spPr>
          <a:xfrm>
            <a:off x="5486400" y="1024128"/>
            <a:ext cx="3429000" cy="402336"/>
          </a:xfrm>
          <a:prstGeom prst="rect">
            <a:avLst/>
          </a:prstGeom>
          <a:solidFill>
            <a:srgbClr val="F59E0B"/>
          </a:solidFill>
          <a:ln w="12700">
            <a:solidFill>
              <a:srgbClr val="F59E0B"/>
            </a:solidFill>
            <a:prstDash val="solid"/>
          </a:ln>
        </p:spPr>
      </p:sp>
      <p:sp>
        <p:nvSpPr>
          <p:cNvPr id="9" name="Text 5"/>
          <p:cNvSpPr/>
          <p:nvPr/>
        </p:nvSpPr>
        <p:spPr>
          <a:xfrm>
            <a:off x="5532120" y="1042416"/>
            <a:ext cx="3337560" cy="365760"/>
          </a:xfrm>
          <a:prstGeom prst="rect">
            <a:avLst/>
          </a:prstGeom>
          <a:noFill/>
          <a:ln/>
        </p:spPr>
        <p:txBody>
          <a:bodyPr wrap="square" lIns="50800" tIns="50800" rIns="50800" bIns="50800" rtlCol="0" anchor="ctr"/>
          <a:lstStyle/>
          <a:p>
            <a:pPr indent="0" marL="0">
              <a:buNone/>
            </a:pPr>
            <a:r>
              <a:rPr lang="en-US" sz="1300" b="1" dirty="0">
                <a:solidFill>
                  <a:srgbClr val="080D1A"/>
                </a:solidFill>
                <a:latin typeface="Calibri" pitchFamily="34" charset="0"/>
                <a:ea typeface="Calibri" pitchFamily="34" charset="-122"/>
                <a:cs typeface="Calibri" pitchFamily="34" charset="-120"/>
              </a:rPr>
              <a:t>Key Benchmarks</a:t>
            </a:r>
            <a:endParaRPr lang="en-US" sz="1300" dirty="0"/>
          </a:p>
        </p:txBody>
      </p:sp>
      <p:sp>
        <p:nvSpPr>
          <p:cNvPr id="10" name="Shape 6"/>
          <p:cNvSpPr/>
          <p:nvPr/>
        </p:nvSpPr>
        <p:spPr>
          <a:xfrm>
            <a:off x="5577840" y="1481328"/>
            <a:ext cx="1097280" cy="292608"/>
          </a:xfrm>
          <a:prstGeom prst="rect">
            <a:avLst/>
          </a:prstGeom>
          <a:solidFill>
            <a:srgbClr val="F59E0B"/>
          </a:solidFill>
          <a:ln w="12700">
            <a:solidFill>
              <a:srgbClr val="F59E0B"/>
            </a:solidFill>
            <a:prstDash val="solid"/>
          </a:ln>
        </p:spPr>
      </p:sp>
      <p:sp>
        <p:nvSpPr>
          <p:cNvPr id="11" name="Text 7"/>
          <p:cNvSpPr/>
          <p:nvPr/>
        </p:nvSpPr>
        <p:spPr>
          <a:xfrm>
            <a:off x="5577840" y="1481328"/>
            <a:ext cx="1097280" cy="29260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MMLU</a:t>
            </a:r>
            <a:endParaRPr lang="en-US" sz="950" dirty="0"/>
          </a:p>
        </p:txBody>
      </p:sp>
      <p:sp>
        <p:nvSpPr>
          <p:cNvPr id="12" name="Text 8"/>
          <p:cNvSpPr/>
          <p:nvPr/>
        </p:nvSpPr>
        <p:spPr>
          <a:xfrm>
            <a:off x="6720840" y="1481328"/>
            <a:ext cx="2103120" cy="292608"/>
          </a:xfrm>
          <a:prstGeom prst="rect">
            <a:avLst/>
          </a:prstGeom>
          <a:noFill/>
          <a:ln/>
        </p:spPr>
        <p:txBody>
          <a:bodyPr wrap="square" lIns="25400" tIns="25400" rIns="25400" bIns="25400" rtlCol="0" anchor="ctr"/>
          <a:lstStyle/>
          <a:p>
            <a:pPr indent="0" marL="0">
              <a:buNone/>
            </a:pPr>
            <a:r>
              <a:rPr lang="en-US" sz="950" dirty="0">
                <a:solidFill>
                  <a:srgbClr val="1E2D4E"/>
                </a:solidFill>
                <a:latin typeface="Calibri" pitchFamily="34" charset="0"/>
                <a:ea typeface="Calibri" pitchFamily="34" charset="-122"/>
                <a:cs typeface="Calibri" pitchFamily="34" charset="-120"/>
              </a:rPr>
              <a:t>57-subject knowledge test</a:t>
            </a:r>
            <a:endParaRPr lang="en-US" sz="950" dirty="0"/>
          </a:p>
        </p:txBody>
      </p:sp>
      <p:sp>
        <p:nvSpPr>
          <p:cNvPr id="13" name="Shape 9"/>
          <p:cNvSpPr/>
          <p:nvPr/>
        </p:nvSpPr>
        <p:spPr>
          <a:xfrm>
            <a:off x="5577840" y="1892808"/>
            <a:ext cx="1097280" cy="292608"/>
          </a:xfrm>
          <a:prstGeom prst="rect">
            <a:avLst/>
          </a:prstGeom>
          <a:solidFill>
            <a:srgbClr val="1A56DB"/>
          </a:solidFill>
          <a:ln w="12700">
            <a:solidFill>
              <a:srgbClr val="1A56DB"/>
            </a:solidFill>
            <a:prstDash val="solid"/>
          </a:ln>
        </p:spPr>
      </p:sp>
      <p:sp>
        <p:nvSpPr>
          <p:cNvPr id="14" name="Text 10"/>
          <p:cNvSpPr/>
          <p:nvPr/>
        </p:nvSpPr>
        <p:spPr>
          <a:xfrm>
            <a:off x="5577840" y="1892808"/>
            <a:ext cx="1097280" cy="29260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HumanEval</a:t>
            </a:r>
            <a:endParaRPr lang="en-US" sz="950" dirty="0"/>
          </a:p>
        </p:txBody>
      </p:sp>
      <p:sp>
        <p:nvSpPr>
          <p:cNvPr id="15" name="Text 11"/>
          <p:cNvSpPr/>
          <p:nvPr/>
        </p:nvSpPr>
        <p:spPr>
          <a:xfrm>
            <a:off x="6720840" y="1892808"/>
            <a:ext cx="2103120" cy="292608"/>
          </a:xfrm>
          <a:prstGeom prst="rect">
            <a:avLst/>
          </a:prstGeom>
          <a:noFill/>
          <a:ln/>
        </p:spPr>
        <p:txBody>
          <a:bodyPr wrap="square" lIns="25400" tIns="25400" rIns="25400" bIns="25400" rtlCol="0" anchor="ctr"/>
          <a:lstStyle/>
          <a:p>
            <a:pPr indent="0" marL="0">
              <a:buNone/>
            </a:pPr>
            <a:r>
              <a:rPr lang="en-US" sz="950" dirty="0">
                <a:solidFill>
                  <a:srgbClr val="1E2D4E"/>
                </a:solidFill>
                <a:latin typeface="Calibri" pitchFamily="34" charset="0"/>
                <a:ea typeface="Calibri" pitchFamily="34" charset="-122"/>
                <a:cs typeface="Calibri" pitchFamily="34" charset="-120"/>
              </a:rPr>
              <a:t>Code generation accuracy</a:t>
            </a:r>
            <a:endParaRPr lang="en-US" sz="950" dirty="0"/>
          </a:p>
        </p:txBody>
      </p:sp>
      <p:sp>
        <p:nvSpPr>
          <p:cNvPr id="16" name="Shape 12"/>
          <p:cNvSpPr/>
          <p:nvPr/>
        </p:nvSpPr>
        <p:spPr>
          <a:xfrm>
            <a:off x="5577840" y="2304288"/>
            <a:ext cx="1097280" cy="292608"/>
          </a:xfrm>
          <a:prstGeom prst="rect">
            <a:avLst/>
          </a:prstGeom>
          <a:solidFill>
            <a:srgbClr val="F59E0B"/>
          </a:solidFill>
          <a:ln w="12700">
            <a:solidFill>
              <a:srgbClr val="F59E0B"/>
            </a:solidFill>
            <a:prstDash val="solid"/>
          </a:ln>
        </p:spPr>
      </p:sp>
      <p:sp>
        <p:nvSpPr>
          <p:cNvPr id="17" name="Text 13"/>
          <p:cNvSpPr/>
          <p:nvPr/>
        </p:nvSpPr>
        <p:spPr>
          <a:xfrm>
            <a:off x="5577840" y="2304288"/>
            <a:ext cx="1097280" cy="29260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GSM8K</a:t>
            </a:r>
            <a:endParaRPr lang="en-US" sz="950" dirty="0"/>
          </a:p>
        </p:txBody>
      </p:sp>
      <p:sp>
        <p:nvSpPr>
          <p:cNvPr id="18" name="Text 14"/>
          <p:cNvSpPr/>
          <p:nvPr/>
        </p:nvSpPr>
        <p:spPr>
          <a:xfrm>
            <a:off x="6720840" y="2304288"/>
            <a:ext cx="2103120" cy="292608"/>
          </a:xfrm>
          <a:prstGeom prst="rect">
            <a:avLst/>
          </a:prstGeom>
          <a:noFill/>
          <a:ln/>
        </p:spPr>
        <p:txBody>
          <a:bodyPr wrap="square" lIns="25400" tIns="25400" rIns="25400" bIns="25400" rtlCol="0" anchor="ctr"/>
          <a:lstStyle/>
          <a:p>
            <a:pPr indent="0" marL="0">
              <a:buNone/>
            </a:pPr>
            <a:r>
              <a:rPr lang="en-US" sz="950" dirty="0">
                <a:solidFill>
                  <a:srgbClr val="1E2D4E"/>
                </a:solidFill>
                <a:latin typeface="Calibri" pitchFamily="34" charset="0"/>
                <a:ea typeface="Calibri" pitchFamily="34" charset="-122"/>
                <a:cs typeface="Calibri" pitchFamily="34" charset="-120"/>
              </a:rPr>
              <a:t>Grade school math reasoning</a:t>
            </a:r>
            <a:endParaRPr lang="en-US" sz="950" dirty="0"/>
          </a:p>
        </p:txBody>
      </p:sp>
      <p:sp>
        <p:nvSpPr>
          <p:cNvPr id="19" name="Shape 15"/>
          <p:cNvSpPr/>
          <p:nvPr/>
        </p:nvSpPr>
        <p:spPr>
          <a:xfrm>
            <a:off x="5577840" y="2715768"/>
            <a:ext cx="1097280" cy="292608"/>
          </a:xfrm>
          <a:prstGeom prst="rect">
            <a:avLst/>
          </a:prstGeom>
          <a:solidFill>
            <a:srgbClr val="1A56DB"/>
          </a:solidFill>
          <a:ln w="12700">
            <a:solidFill>
              <a:srgbClr val="1A56DB"/>
            </a:solidFill>
            <a:prstDash val="solid"/>
          </a:ln>
        </p:spPr>
      </p:sp>
      <p:sp>
        <p:nvSpPr>
          <p:cNvPr id="20" name="Text 16"/>
          <p:cNvSpPr/>
          <p:nvPr/>
        </p:nvSpPr>
        <p:spPr>
          <a:xfrm>
            <a:off x="5577840" y="2715768"/>
            <a:ext cx="1097280" cy="29260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HellaSwag</a:t>
            </a:r>
            <a:endParaRPr lang="en-US" sz="950" dirty="0"/>
          </a:p>
        </p:txBody>
      </p:sp>
      <p:sp>
        <p:nvSpPr>
          <p:cNvPr id="21" name="Text 17"/>
          <p:cNvSpPr/>
          <p:nvPr/>
        </p:nvSpPr>
        <p:spPr>
          <a:xfrm>
            <a:off x="6720840" y="2715768"/>
            <a:ext cx="2103120" cy="292608"/>
          </a:xfrm>
          <a:prstGeom prst="rect">
            <a:avLst/>
          </a:prstGeom>
          <a:noFill/>
          <a:ln/>
        </p:spPr>
        <p:txBody>
          <a:bodyPr wrap="square" lIns="25400" tIns="25400" rIns="25400" bIns="25400" rtlCol="0" anchor="ctr"/>
          <a:lstStyle/>
          <a:p>
            <a:pPr indent="0" marL="0">
              <a:buNone/>
            </a:pPr>
            <a:r>
              <a:rPr lang="en-US" sz="950" dirty="0">
                <a:solidFill>
                  <a:srgbClr val="1E2D4E"/>
                </a:solidFill>
                <a:latin typeface="Calibri" pitchFamily="34" charset="0"/>
                <a:ea typeface="Calibri" pitchFamily="34" charset="-122"/>
                <a:cs typeface="Calibri" pitchFamily="34" charset="-120"/>
              </a:rPr>
              <a:t>Common sense completion</a:t>
            </a:r>
            <a:endParaRPr lang="en-US" sz="950" dirty="0"/>
          </a:p>
        </p:txBody>
      </p:sp>
      <p:sp>
        <p:nvSpPr>
          <p:cNvPr id="22" name="Shape 18"/>
          <p:cNvSpPr/>
          <p:nvPr/>
        </p:nvSpPr>
        <p:spPr>
          <a:xfrm>
            <a:off x="5577840" y="3127248"/>
            <a:ext cx="1097280" cy="292608"/>
          </a:xfrm>
          <a:prstGeom prst="rect">
            <a:avLst/>
          </a:prstGeom>
          <a:solidFill>
            <a:srgbClr val="F59E0B"/>
          </a:solidFill>
          <a:ln w="12700">
            <a:solidFill>
              <a:srgbClr val="F59E0B"/>
            </a:solidFill>
            <a:prstDash val="solid"/>
          </a:ln>
        </p:spPr>
      </p:sp>
      <p:sp>
        <p:nvSpPr>
          <p:cNvPr id="23" name="Text 19"/>
          <p:cNvSpPr/>
          <p:nvPr/>
        </p:nvSpPr>
        <p:spPr>
          <a:xfrm>
            <a:off x="5577840" y="3127248"/>
            <a:ext cx="1097280" cy="29260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TruthfulQA</a:t>
            </a:r>
            <a:endParaRPr lang="en-US" sz="950" dirty="0"/>
          </a:p>
        </p:txBody>
      </p:sp>
      <p:sp>
        <p:nvSpPr>
          <p:cNvPr id="24" name="Text 20"/>
          <p:cNvSpPr/>
          <p:nvPr/>
        </p:nvSpPr>
        <p:spPr>
          <a:xfrm>
            <a:off x="6720840" y="3127248"/>
            <a:ext cx="2103120" cy="292608"/>
          </a:xfrm>
          <a:prstGeom prst="rect">
            <a:avLst/>
          </a:prstGeom>
          <a:noFill/>
          <a:ln/>
        </p:spPr>
        <p:txBody>
          <a:bodyPr wrap="square" lIns="25400" tIns="25400" rIns="25400" bIns="25400" rtlCol="0" anchor="ctr"/>
          <a:lstStyle/>
          <a:p>
            <a:pPr indent="0" marL="0">
              <a:buNone/>
            </a:pPr>
            <a:r>
              <a:rPr lang="en-US" sz="950" dirty="0">
                <a:solidFill>
                  <a:srgbClr val="1E2D4E"/>
                </a:solidFill>
                <a:latin typeface="Calibri" pitchFamily="34" charset="0"/>
                <a:ea typeface="Calibri" pitchFamily="34" charset="-122"/>
                <a:cs typeface="Calibri" pitchFamily="34" charset="-120"/>
              </a:rPr>
              <a:t>Truthfulness &amp; factuality</a:t>
            </a:r>
            <a:endParaRPr lang="en-US" sz="950" dirty="0"/>
          </a:p>
        </p:txBody>
      </p:sp>
      <p:sp>
        <p:nvSpPr>
          <p:cNvPr id="25" name="Shape 21"/>
          <p:cNvSpPr/>
          <p:nvPr/>
        </p:nvSpPr>
        <p:spPr>
          <a:xfrm>
            <a:off x="5577840" y="3538728"/>
            <a:ext cx="1097280" cy="292608"/>
          </a:xfrm>
          <a:prstGeom prst="rect">
            <a:avLst/>
          </a:prstGeom>
          <a:solidFill>
            <a:srgbClr val="1A56DB"/>
          </a:solidFill>
          <a:ln w="12700">
            <a:solidFill>
              <a:srgbClr val="1A56DB"/>
            </a:solidFill>
            <a:prstDash val="solid"/>
          </a:ln>
        </p:spPr>
      </p:sp>
      <p:sp>
        <p:nvSpPr>
          <p:cNvPr id="26" name="Text 22"/>
          <p:cNvSpPr/>
          <p:nvPr/>
        </p:nvSpPr>
        <p:spPr>
          <a:xfrm>
            <a:off x="5577840" y="3538728"/>
            <a:ext cx="1097280" cy="29260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BIG-Bench</a:t>
            </a:r>
            <a:endParaRPr lang="en-US" sz="950" dirty="0"/>
          </a:p>
        </p:txBody>
      </p:sp>
      <p:sp>
        <p:nvSpPr>
          <p:cNvPr id="27" name="Text 23"/>
          <p:cNvSpPr/>
          <p:nvPr/>
        </p:nvSpPr>
        <p:spPr>
          <a:xfrm>
            <a:off x="6720840" y="3538728"/>
            <a:ext cx="2103120" cy="292608"/>
          </a:xfrm>
          <a:prstGeom prst="rect">
            <a:avLst/>
          </a:prstGeom>
          <a:noFill/>
          <a:ln/>
        </p:spPr>
        <p:txBody>
          <a:bodyPr wrap="square" lIns="25400" tIns="25400" rIns="25400" bIns="25400" rtlCol="0" anchor="ctr"/>
          <a:lstStyle/>
          <a:p>
            <a:pPr indent="0" marL="0">
              <a:buNone/>
            </a:pPr>
            <a:r>
              <a:rPr lang="en-US" sz="950" dirty="0">
                <a:solidFill>
                  <a:srgbClr val="1E2D4E"/>
                </a:solidFill>
                <a:latin typeface="Calibri" pitchFamily="34" charset="0"/>
                <a:ea typeface="Calibri" pitchFamily="34" charset="-122"/>
                <a:cs typeface="Calibri" pitchFamily="34" charset="-120"/>
              </a:rPr>
              <a:t>204 diverse tasks, hard</a:t>
            </a:r>
            <a:endParaRPr lang="en-US" sz="950" dirty="0"/>
          </a:p>
        </p:txBody>
      </p:sp>
      <p:sp>
        <p:nvSpPr>
          <p:cNvPr id="28" name="Shape 24"/>
          <p:cNvSpPr/>
          <p:nvPr/>
        </p:nvSpPr>
        <p:spPr>
          <a:xfrm>
            <a:off x="5577840" y="3950208"/>
            <a:ext cx="1097280" cy="292608"/>
          </a:xfrm>
          <a:prstGeom prst="rect">
            <a:avLst/>
          </a:prstGeom>
          <a:solidFill>
            <a:srgbClr val="F59E0B"/>
          </a:solidFill>
          <a:ln w="12700">
            <a:solidFill>
              <a:srgbClr val="F59E0B"/>
            </a:solidFill>
            <a:prstDash val="solid"/>
          </a:ln>
        </p:spPr>
      </p:sp>
      <p:sp>
        <p:nvSpPr>
          <p:cNvPr id="29" name="Text 25"/>
          <p:cNvSpPr/>
          <p:nvPr/>
        </p:nvSpPr>
        <p:spPr>
          <a:xfrm>
            <a:off x="5577840" y="3950208"/>
            <a:ext cx="1097280" cy="29260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MATH</a:t>
            </a:r>
            <a:endParaRPr lang="en-US" sz="950" dirty="0"/>
          </a:p>
        </p:txBody>
      </p:sp>
      <p:sp>
        <p:nvSpPr>
          <p:cNvPr id="30" name="Text 26"/>
          <p:cNvSpPr/>
          <p:nvPr/>
        </p:nvSpPr>
        <p:spPr>
          <a:xfrm>
            <a:off x="6720840" y="3950208"/>
            <a:ext cx="2103120" cy="292608"/>
          </a:xfrm>
          <a:prstGeom prst="rect">
            <a:avLst/>
          </a:prstGeom>
          <a:noFill/>
          <a:ln/>
        </p:spPr>
        <p:txBody>
          <a:bodyPr wrap="square" lIns="25400" tIns="25400" rIns="25400" bIns="25400" rtlCol="0" anchor="ctr"/>
          <a:lstStyle/>
          <a:p>
            <a:pPr indent="0" marL="0">
              <a:buNone/>
            </a:pPr>
            <a:r>
              <a:rPr lang="en-US" sz="950" dirty="0">
                <a:solidFill>
                  <a:srgbClr val="1E2D4E"/>
                </a:solidFill>
                <a:latin typeface="Calibri" pitchFamily="34" charset="0"/>
                <a:ea typeface="Calibri" pitchFamily="34" charset="-122"/>
                <a:cs typeface="Calibri" pitchFamily="34" charset="-120"/>
              </a:rPr>
              <a:t>Competition-level maths</a:t>
            </a:r>
            <a:endParaRPr lang="en-US" sz="950" dirty="0"/>
          </a:p>
        </p:txBody>
      </p:sp>
      <p:sp>
        <p:nvSpPr>
          <p:cNvPr id="31" name="Shape 27"/>
          <p:cNvSpPr/>
          <p:nvPr/>
        </p:nvSpPr>
        <p:spPr>
          <a:xfrm>
            <a:off x="5577840" y="4361688"/>
            <a:ext cx="1097280" cy="292608"/>
          </a:xfrm>
          <a:prstGeom prst="rect">
            <a:avLst/>
          </a:prstGeom>
          <a:solidFill>
            <a:srgbClr val="1A56DB"/>
          </a:solidFill>
          <a:ln w="12700">
            <a:solidFill>
              <a:srgbClr val="1A56DB"/>
            </a:solidFill>
            <a:prstDash val="solid"/>
          </a:ln>
        </p:spPr>
      </p:sp>
      <p:sp>
        <p:nvSpPr>
          <p:cNvPr id="32" name="Text 28"/>
          <p:cNvSpPr/>
          <p:nvPr/>
        </p:nvSpPr>
        <p:spPr>
          <a:xfrm>
            <a:off x="5577840" y="4361688"/>
            <a:ext cx="1097280" cy="29260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GPQA</a:t>
            </a:r>
            <a:endParaRPr lang="en-US" sz="950" dirty="0"/>
          </a:p>
        </p:txBody>
      </p:sp>
      <p:sp>
        <p:nvSpPr>
          <p:cNvPr id="33" name="Text 29"/>
          <p:cNvSpPr/>
          <p:nvPr/>
        </p:nvSpPr>
        <p:spPr>
          <a:xfrm>
            <a:off x="6720840" y="4361688"/>
            <a:ext cx="2103120" cy="292608"/>
          </a:xfrm>
          <a:prstGeom prst="rect">
            <a:avLst/>
          </a:prstGeom>
          <a:noFill/>
          <a:ln/>
        </p:spPr>
        <p:txBody>
          <a:bodyPr wrap="square" lIns="25400" tIns="25400" rIns="25400" bIns="25400" rtlCol="0" anchor="ctr"/>
          <a:lstStyle/>
          <a:p>
            <a:pPr indent="0" marL="0">
              <a:buNone/>
            </a:pPr>
            <a:r>
              <a:rPr lang="en-US" sz="950" dirty="0">
                <a:solidFill>
                  <a:srgbClr val="1E2D4E"/>
                </a:solidFill>
                <a:latin typeface="Calibri" pitchFamily="34" charset="0"/>
                <a:ea typeface="Calibri" pitchFamily="34" charset="-122"/>
                <a:cs typeface="Calibri" pitchFamily="34" charset="-120"/>
              </a:rPr>
              <a:t>PhD-level science Q&amp;A</a:t>
            </a:r>
            <a:endParaRPr lang="en-US" sz="950" dirty="0"/>
          </a:p>
        </p:txBody>
      </p:sp>
      <p:sp>
        <p:nvSpPr>
          <p:cNvPr id="34" name="Shape 30"/>
          <p:cNvSpPr/>
          <p:nvPr/>
        </p:nvSpPr>
        <p:spPr>
          <a:xfrm>
            <a:off x="228600" y="4617720"/>
            <a:ext cx="8686800" cy="246888"/>
          </a:xfrm>
          <a:prstGeom prst="rect">
            <a:avLst/>
          </a:prstGeom>
          <a:solidFill>
            <a:srgbClr val="FEF3C7"/>
          </a:solidFill>
          <a:ln w="12700">
            <a:solidFill>
              <a:srgbClr val="F59E0B"/>
            </a:solidFill>
            <a:prstDash val="solid"/>
          </a:ln>
        </p:spPr>
      </p:sp>
      <p:sp>
        <p:nvSpPr>
          <p:cNvPr id="35" name="Text 31"/>
          <p:cNvSpPr/>
          <p:nvPr/>
        </p:nvSpPr>
        <p:spPr>
          <a:xfrm>
            <a:off x="274320" y="4636008"/>
            <a:ext cx="8595360" cy="201168"/>
          </a:xfrm>
          <a:prstGeom prst="rect">
            <a:avLst/>
          </a:prstGeom>
          <a:noFill/>
          <a:ln/>
        </p:spPr>
        <p:txBody>
          <a:bodyPr wrap="square" lIns="0" tIns="0" rIns="0" bIns="0" rtlCol="0" anchor="ctr"/>
          <a:lstStyle/>
          <a:p>
            <a:pPr algn="ctr" indent="0" marL="0">
              <a:buNone/>
            </a:pPr>
            <a:r>
              <a:rPr lang="en-US" sz="900" dirty="0">
                <a:solidFill>
                  <a:srgbClr val="0D1B3E"/>
                </a:solidFill>
                <a:latin typeface="Calibri" pitchFamily="34" charset="0"/>
                <a:ea typeface="Calibri" pitchFamily="34" charset="-122"/>
                <a:cs typeface="Calibri" pitchFamily="34" charset="-120"/>
              </a:rPr>
              <a:t>⚡  Scores shown are approximate. Leaderboards at lmsys.org/chat and huggingface.co/spaces/HuggingFaceH4/open_llm_leaderboard</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80D1A"/>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41E35"/>
          </a:solidFill>
          <a:ln w="12700">
            <a:solidFill>
              <a:srgbClr val="141E35"/>
            </a:solidFill>
            <a:prstDash val="solid"/>
          </a:ln>
        </p:spPr>
      </p:sp>
      <p:sp>
        <p:nvSpPr>
          <p:cNvPr id="3" name="Shape 1"/>
          <p:cNvSpPr/>
          <p:nvPr/>
        </p:nvSpPr>
        <p:spPr>
          <a:xfrm>
            <a:off x="0" y="914400"/>
            <a:ext cx="9144000" cy="45720"/>
          </a:xfrm>
          <a:prstGeom prst="rect">
            <a:avLst/>
          </a:prstGeom>
          <a:solidFill>
            <a:srgbClr val="8B5CF6"/>
          </a:solidFill>
          <a:ln w="12700">
            <a:solidFill>
              <a:srgbClr val="8B5CF6"/>
            </a:solidFill>
            <a:prstDash val="solid"/>
          </a:ln>
        </p:spPr>
      </p:sp>
      <p:pic>
        <p:nvPicPr>
          <p:cNvPr id="4" name="Image 0" descr="preencoded.png">    </p:cNvPr>
          <p:cNvPicPr>
            <a:picLocks noChangeAspect="1"/>
          </p:cNvPicPr>
          <p:nvPr/>
        </p:nvPicPr>
        <p:blipFill>
          <a:blip r:embed="rId1"/>
          <a:stretch>
            <a:fillRect/>
          </a:stretch>
        </p:blipFill>
        <p:spPr>
          <a:xfrm>
            <a:off x="228600" y="182880"/>
            <a:ext cx="502920" cy="502920"/>
          </a:xfrm>
          <a:prstGeom prst="rect">
            <a:avLst/>
          </a:prstGeom>
        </p:spPr>
      </p:pic>
      <p:sp>
        <p:nvSpPr>
          <p:cNvPr id="5" name="Text 2"/>
          <p:cNvSpPr/>
          <p:nvPr/>
        </p:nvSpPr>
        <p:spPr>
          <a:xfrm>
            <a:off x="822960" y="137160"/>
            <a:ext cx="8046720" cy="68580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Applications of LLMs Across Industries</a:t>
            </a:r>
            <a:endParaRPr lang="en-US" sz="2600" dirty="0"/>
          </a:p>
        </p:txBody>
      </p:sp>
      <p:sp>
        <p:nvSpPr>
          <p:cNvPr id="6" name="Shape 3"/>
          <p:cNvSpPr/>
          <p:nvPr/>
        </p:nvSpPr>
        <p:spPr>
          <a:xfrm>
            <a:off x="182880" y="1024128"/>
            <a:ext cx="2029968" cy="1810512"/>
          </a:xfrm>
          <a:prstGeom prst="rect">
            <a:avLst/>
          </a:prstGeom>
          <a:solidFill>
            <a:srgbClr val="141E35"/>
          </a:solidFill>
          <a:ln w="19050">
            <a:solidFill>
              <a:srgbClr val="1A56DB"/>
            </a:solidFill>
            <a:prstDash val="solid"/>
          </a:ln>
          <a:effectLst>
            <a:outerShdw sx="100000" sy="100000" kx="0" ky="0" algn="bl" rotWithShape="0" blurRad="101600" dist="38100" dir="8100000">
              <a:srgbClr val="000000">
                <a:alpha val="20000"/>
              </a:srgbClr>
            </a:outerShdw>
          </a:effectLst>
        </p:spPr>
      </p:sp>
      <p:sp>
        <p:nvSpPr>
          <p:cNvPr id="7" name="Shape 4"/>
          <p:cNvSpPr/>
          <p:nvPr/>
        </p:nvSpPr>
        <p:spPr>
          <a:xfrm>
            <a:off x="182880" y="1024128"/>
            <a:ext cx="2029968" cy="402336"/>
          </a:xfrm>
          <a:prstGeom prst="rect">
            <a:avLst/>
          </a:prstGeom>
          <a:solidFill>
            <a:srgbClr val="1A56DB"/>
          </a:solidFill>
          <a:ln w="12700">
            <a:solidFill>
              <a:srgbClr val="1A56DB"/>
            </a:solidFill>
            <a:prstDash val="solid"/>
          </a:ln>
        </p:spPr>
      </p:sp>
      <p:sp>
        <p:nvSpPr>
          <p:cNvPr id="8" name="Text 5"/>
          <p:cNvSpPr/>
          <p:nvPr/>
        </p:nvSpPr>
        <p:spPr>
          <a:xfrm>
            <a:off x="237744" y="1060704"/>
            <a:ext cx="1920240" cy="347472"/>
          </a:xfrm>
          <a:prstGeom prst="rect">
            <a:avLst/>
          </a:prstGeom>
          <a:noFill/>
          <a:ln/>
        </p:spPr>
        <p:txBody>
          <a:bodyPr wrap="square" lIns="25400" tIns="25400" rIns="25400" bIns="2540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  Code Generation</a:t>
            </a:r>
            <a:endParaRPr lang="en-US" sz="1150" dirty="0"/>
          </a:p>
        </p:txBody>
      </p:sp>
      <p:sp>
        <p:nvSpPr>
          <p:cNvPr id="9" name="Text 6"/>
          <p:cNvSpPr/>
          <p:nvPr/>
        </p:nvSpPr>
        <p:spPr>
          <a:xfrm>
            <a:off x="274320" y="1481328"/>
            <a:ext cx="1828800" cy="1280160"/>
          </a:xfrm>
          <a:prstGeom prst="rect">
            <a:avLst/>
          </a:prstGeom>
          <a:noFill/>
          <a:ln/>
        </p:spPr>
        <p:txBody>
          <a:bodyPr wrap="square" lIns="50800" tIns="50800" rIns="50800" bIns="50800" rtlCol="0" anchor="ctr"/>
          <a:lstStyle/>
          <a:p>
            <a:pPr marL="342900" indent="-342900">
              <a:spcAft>
                <a:spcPts val="400"/>
              </a:spcAft>
              <a:buSzPct val="100000"/>
              <a:buChar char="•"/>
            </a:pPr>
            <a:r>
              <a:rPr lang="en-US" sz="1000" dirty="0">
                <a:solidFill>
                  <a:srgbClr val="E8F0FE"/>
                </a:solidFill>
                <a:latin typeface="Calibri" pitchFamily="34" charset="0"/>
                <a:ea typeface="Calibri" pitchFamily="34" charset="-122"/>
                <a:cs typeface="Calibri" pitchFamily="34" charset="-120"/>
              </a:rPr>
              <a:t>GitHub Copilot</a:t>
            </a:r>
            <a:endParaRPr lang="en-US" sz="1000" dirty="0"/>
          </a:p>
          <a:p>
            <a:pPr marL="342900" indent="-342900">
              <a:spcAft>
                <a:spcPts val="400"/>
              </a:spcAft>
              <a:buSzPct val="100000"/>
              <a:buChar char="•"/>
            </a:pPr>
            <a:r>
              <a:rPr lang="en-US" sz="1000" dirty="0">
                <a:solidFill>
                  <a:srgbClr val="E8F0FE"/>
                </a:solidFill>
                <a:latin typeface="Calibri" pitchFamily="34" charset="0"/>
                <a:ea typeface="Calibri" pitchFamily="34" charset="-122"/>
                <a:cs typeface="Calibri" pitchFamily="34" charset="-120"/>
              </a:rPr>
              <a:t>Debugging</a:t>
            </a:r>
            <a:endParaRPr lang="en-US" sz="1000" dirty="0"/>
          </a:p>
          <a:p>
            <a:pPr marL="342900" indent="-342900">
              <a:spcAft>
                <a:spcPts val="400"/>
              </a:spcAft>
              <a:buSzPct val="100000"/>
              <a:buChar char="•"/>
            </a:pPr>
            <a:r>
              <a:rPr lang="en-US" sz="1000" dirty="0">
                <a:solidFill>
                  <a:srgbClr val="E8F0FE"/>
                </a:solidFill>
                <a:latin typeface="Calibri" pitchFamily="34" charset="0"/>
                <a:ea typeface="Calibri" pitchFamily="34" charset="-122"/>
                <a:cs typeface="Calibri" pitchFamily="34" charset="-120"/>
              </a:rPr>
              <a:t>Docs generation</a:t>
            </a:r>
            <a:endParaRPr lang="en-US" sz="1000" dirty="0"/>
          </a:p>
          <a:p>
            <a:pPr marL="342900" indent="-342900">
              <a:spcAft>
                <a:spcPts val="400"/>
              </a:spcAft>
              <a:buSzPct val="100000"/>
              <a:buChar char="•"/>
            </a:pPr>
            <a:r>
              <a:rPr lang="en-US" sz="1000" dirty="0">
                <a:solidFill>
                  <a:srgbClr val="E8F0FE"/>
                </a:solidFill>
                <a:latin typeface="Calibri" pitchFamily="34" charset="0"/>
                <a:ea typeface="Calibri" pitchFamily="34" charset="-122"/>
                <a:cs typeface="Calibri" pitchFamily="34" charset="-120"/>
              </a:rPr>
              <a:t>Test writing</a:t>
            </a:r>
            <a:endParaRPr lang="en-US" sz="1000" dirty="0"/>
          </a:p>
        </p:txBody>
      </p:sp>
      <p:sp>
        <p:nvSpPr>
          <p:cNvPr id="10" name="Shape 7"/>
          <p:cNvSpPr/>
          <p:nvPr/>
        </p:nvSpPr>
        <p:spPr>
          <a:xfrm>
            <a:off x="2395728" y="1024128"/>
            <a:ext cx="2029968" cy="1810512"/>
          </a:xfrm>
          <a:prstGeom prst="rect">
            <a:avLst/>
          </a:prstGeom>
          <a:solidFill>
            <a:srgbClr val="141E35"/>
          </a:solidFill>
          <a:ln w="19050">
            <a:solidFill>
              <a:srgbClr val="10B981"/>
            </a:solidFill>
            <a:prstDash val="solid"/>
          </a:ln>
          <a:effectLst>
            <a:outerShdw sx="100000" sy="100000" kx="0" ky="0" algn="bl" rotWithShape="0" blurRad="101600" dist="38100" dir="8100000">
              <a:srgbClr val="000000">
                <a:alpha val="20000"/>
              </a:srgbClr>
            </a:outerShdw>
          </a:effectLst>
        </p:spPr>
      </p:sp>
      <p:sp>
        <p:nvSpPr>
          <p:cNvPr id="11" name="Shape 8"/>
          <p:cNvSpPr/>
          <p:nvPr/>
        </p:nvSpPr>
        <p:spPr>
          <a:xfrm>
            <a:off x="2395728" y="1024128"/>
            <a:ext cx="2029968" cy="402336"/>
          </a:xfrm>
          <a:prstGeom prst="rect">
            <a:avLst/>
          </a:prstGeom>
          <a:solidFill>
            <a:srgbClr val="10B981"/>
          </a:solidFill>
          <a:ln w="12700">
            <a:solidFill>
              <a:srgbClr val="10B981"/>
            </a:solidFill>
            <a:prstDash val="solid"/>
          </a:ln>
        </p:spPr>
      </p:sp>
      <p:sp>
        <p:nvSpPr>
          <p:cNvPr id="12" name="Text 9"/>
          <p:cNvSpPr/>
          <p:nvPr/>
        </p:nvSpPr>
        <p:spPr>
          <a:xfrm>
            <a:off x="2450592" y="1060704"/>
            <a:ext cx="1920240" cy="347472"/>
          </a:xfrm>
          <a:prstGeom prst="rect">
            <a:avLst/>
          </a:prstGeom>
          <a:noFill/>
          <a:ln/>
        </p:spPr>
        <p:txBody>
          <a:bodyPr wrap="square" lIns="25400" tIns="25400" rIns="25400" bIns="2540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  Healthcare</a:t>
            </a:r>
            <a:endParaRPr lang="en-US" sz="1150" dirty="0"/>
          </a:p>
        </p:txBody>
      </p:sp>
      <p:sp>
        <p:nvSpPr>
          <p:cNvPr id="13" name="Text 10"/>
          <p:cNvSpPr/>
          <p:nvPr/>
        </p:nvSpPr>
        <p:spPr>
          <a:xfrm>
            <a:off x="2487168" y="1481328"/>
            <a:ext cx="1828800" cy="1280160"/>
          </a:xfrm>
          <a:prstGeom prst="rect">
            <a:avLst/>
          </a:prstGeom>
          <a:noFill/>
          <a:ln/>
        </p:spPr>
        <p:txBody>
          <a:bodyPr wrap="square" lIns="50800" tIns="50800" rIns="50800" bIns="50800" rtlCol="0" anchor="ctr"/>
          <a:lstStyle/>
          <a:p>
            <a:pPr marL="342900" indent="-342900">
              <a:spcAft>
                <a:spcPts val="400"/>
              </a:spcAft>
              <a:buSzPct val="100000"/>
              <a:buChar char="•"/>
            </a:pPr>
            <a:r>
              <a:rPr lang="en-US" sz="1000" dirty="0">
                <a:solidFill>
                  <a:srgbClr val="E8F0FE"/>
                </a:solidFill>
                <a:latin typeface="Calibri" pitchFamily="34" charset="0"/>
                <a:ea typeface="Calibri" pitchFamily="34" charset="-122"/>
                <a:cs typeface="Calibri" pitchFamily="34" charset="-120"/>
              </a:rPr>
              <a:t>Clinical notes</a:t>
            </a:r>
            <a:endParaRPr lang="en-US" sz="1000" dirty="0"/>
          </a:p>
          <a:p>
            <a:pPr marL="342900" indent="-342900">
              <a:spcAft>
                <a:spcPts val="400"/>
              </a:spcAft>
              <a:buSzPct val="100000"/>
              <a:buChar char="•"/>
            </a:pPr>
            <a:r>
              <a:rPr lang="en-US" sz="1000" dirty="0">
                <a:solidFill>
                  <a:srgbClr val="E8F0FE"/>
                </a:solidFill>
                <a:latin typeface="Calibri" pitchFamily="34" charset="0"/>
                <a:ea typeface="Calibri" pitchFamily="34" charset="-122"/>
                <a:cs typeface="Calibri" pitchFamily="34" charset="-120"/>
              </a:rPr>
              <a:t>Drug discovery</a:t>
            </a:r>
            <a:endParaRPr lang="en-US" sz="1000" dirty="0"/>
          </a:p>
          <a:p>
            <a:pPr marL="342900" indent="-342900">
              <a:spcAft>
                <a:spcPts val="400"/>
              </a:spcAft>
              <a:buSzPct val="100000"/>
              <a:buChar char="•"/>
            </a:pPr>
            <a:r>
              <a:rPr lang="en-US" sz="1000" dirty="0">
                <a:solidFill>
                  <a:srgbClr val="E8F0FE"/>
                </a:solidFill>
                <a:latin typeface="Calibri" pitchFamily="34" charset="0"/>
                <a:ea typeface="Calibri" pitchFamily="34" charset="-122"/>
                <a:cs typeface="Calibri" pitchFamily="34" charset="-120"/>
              </a:rPr>
              <a:t>Diagnosis assist</a:t>
            </a:r>
            <a:endParaRPr lang="en-US" sz="1000" dirty="0"/>
          </a:p>
          <a:p>
            <a:pPr marL="342900" indent="-342900">
              <a:spcAft>
                <a:spcPts val="400"/>
              </a:spcAft>
              <a:buSzPct val="100000"/>
              <a:buChar char="•"/>
            </a:pPr>
            <a:r>
              <a:rPr lang="en-US" sz="1000" dirty="0">
                <a:solidFill>
                  <a:srgbClr val="E8F0FE"/>
                </a:solidFill>
                <a:latin typeface="Calibri" pitchFamily="34" charset="0"/>
                <a:ea typeface="Calibri" pitchFamily="34" charset="-122"/>
                <a:cs typeface="Calibri" pitchFamily="34" charset="-120"/>
              </a:rPr>
              <a:t>Patient chatbots</a:t>
            </a:r>
            <a:endParaRPr lang="en-US" sz="1000" dirty="0"/>
          </a:p>
        </p:txBody>
      </p:sp>
      <p:sp>
        <p:nvSpPr>
          <p:cNvPr id="14" name="Shape 11"/>
          <p:cNvSpPr/>
          <p:nvPr/>
        </p:nvSpPr>
        <p:spPr>
          <a:xfrm>
            <a:off x="4608576" y="1024128"/>
            <a:ext cx="2029968" cy="1810512"/>
          </a:xfrm>
          <a:prstGeom prst="rect">
            <a:avLst/>
          </a:prstGeom>
          <a:solidFill>
            <a:srgbClr val="141E35"/>
          </a:solidFill>
          <a:ln w="19050">
            <a:solidFill>
              <a:srgbClr val="06B6D4"/>
            </a:solidFill>
            <a:prstDash val="solid"/>
          </a:ln>
          <a:effectLst>
            <a:outerShdw sx="100000" sy="100000" kx="0" ky="0" algn="bl" rotWithShape="0" blurRad="101600" dist="38100" dir="8100000">
              <a:srgbClr val="000000">
                <a:alpha val="20000"/>
              </a:srgbClr>
            </a:outerShdw>
          </a:effectLst>
        </p:spPr>
      </p:sp>
      <p:sp>
        <p:nvSpPr>
          <p:cNvPr id="15" name="Shape 12"/>
          <p:cNvSpPr/>
          <p:nvPr/>
        </p:nvSpPr>
        <p:spPr>
          <a:xfrm>
            <a:off x="4608576" y="1024128"/>
            <a:ext cx="2029968" cy="402336"/>
          </a:xfrm>
          <a:prstGeom prst="rect">
            <a:avLst/>
          </a:prstGeom>
          <a:solidFill>
            <a:srgbClr val="06B6D4"/>
          </a:solidFill>
          <a:ln w="12700">
            <a:solidFill>
              <a:srgbClr val="06B6D4"/>
            </a:solidFill>
            <a:prstDash val="solid"/>
          </a:ln>
        </p:spPr>
      </p:sp>
      <p:sp>
        <p:nvSpPr>
          <p:cNvPr id="16" name="Text 13"/>
          <p:cNvSpPr/>
          <p:nvPr/>
        </p:nvSpPr>
        <p:spPr>
          <a:xfrm>
            <a:off x="4663440" y="1060704"/>
            <a:ext cx="1920240" cy="347472"/>
          </a:xfrm>
          <a:prstGeom prst="rect">
            <a:avLst/>
          </a:prstGeom>
          <a:noFill/>
          <a:ln/>
        </p:spPr>
        <p:txBody>
          <a:bodyPr wrap="square" lIns="25400" tIns="25400" rIns="25400" bIns="2540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  Translation</a:t>
            </a:r>
            <a:endParaRPr lang="en-US" sz="1150" dirty="0"/>
          </a:p>
        </p:txBody>
      </p:sp>
      <p:sp>
        <p:nvSpPr>
          <p:cNvPr id="17" name="Text 14"/>
          <p:cNvSpPr/>
          <p:nvPr/>
        </p:nvSpPr>
        <p:spPr>
          <a:xfrm>
            <a:off x="4700016" y="1481328"/>
            <a:ext cx="1828800" cy="1280160"/>
          </a:xfrm>
          <a:prstGeom prst="rect">
            <a:avLst/>
          </a:prstGeom>
          <a:noFill/>
          <a:ln/>
        </p:spPr>
        <p:txBody>
          <a:bodyPr wrap="square" lIns="50800" tIns="50800" rIns="50800" bIns="50800" rtlCol="0" anchor="ctr"/>
          <a:lstStyle/>
          <a:p>
            <a:pPr marL="342900" indent="-342900">
              <a:spcAft>
                <a:spcPts val="400"/>
              </a:spcAft>
              <a:buSzPct val="100000"/>
              <a:buChar char="•"/>
            </a:pPr>
            <a:r>
              <a:rPr lang="en-US" sz="1000" dirty="0">
                <a:solidFill>
                  <a:srgbClr val="E8F0FE"/>
                </a:solidFill>
                <a:latin typeface="Calibri" pitchFamily="34" charset="0"/>
                <a:ea typeface="Calibri" pitchFamily="34" charset="-122"/>
                <a:cs typeface="Calibri" pitchFamily="34" charset="-120"/>
              </a:rPr>
              <a:t>100+ languages</a:t>
            </a:r>
            <a:endParaRPr lang="en-US" sz="1000" dirty="0"/>
          </a:p>
          <a:p>
            <a:pPr marL="342900" indent="-342900">
              <a:spcAft>
                <a:spcPts val="400"/>
              </a:spcAft>
              <a:buSzPct val="100000"/>
              <a:buChar char="•"/>
            </a:pPr>
            <a:r>
              <a:rPr lang="en-US" sz="1000" dirty="0">
                <a:solidFill>
                  <a:srgbClr val="E8F0FE"/>
                </a:solidFill>
                <a:latin typeface="Calibri" pitchFamily="34" charset="0"/>
                <a:ea typeface="Calibri" pitchFamily="34" charset="-122"/>
                <a:cs typeface="Calibri" pitchFamily="34" charset="-120"/>
              </a:rPr>
              <a:t>Real-time subtitles</a:t>
            </a:r>
            <a:endParaRPr lang="en-US" sz="1000" dirty="0"/>
          </a:p>
          <a:p>
            <a:pPr marL="342900" indent="-342900">
              <a:spcAft>
                <a:spcPts val="400"/>
              </a:spcAft>
              <a:buSzPct val="100000"/>
              <a:buChar char="•"/>
            </a:pPr>
            <a:r>
              <a:rPr lang="en-US" sz="1000" dirty="0">
                <a:solidFill>
                  <a:srgbClr val="E8F0FE"/>
                </a:solidFill>
                <a:latin typeface="Calibri" pitchFamily="34" charset="0"/>
                <a:ea typeface="Calibri" pitchFamily="34" charset="-122"/>
                <a:cs typeface="Calibri" pitchFamily="34" charset="-120"/>
              </a:rPr>
              <a:t>Localization</a:t>
            </a:r>
            <a:endParaRPr lang="en-US" sz="1000" dirty="0"/>
          </a:p>
          <a:p>
            <a:pPr marL="342900" indent="-342900">
              <a:spcAft>
                <a:spcPts val="400"/>
              </a:spcAft>
              <a:buSzPct val="100000"/>
              <a:buChar char="•"/>
            </a:pPr>
            <a:r>
              <a:rPr lang="en-US" sz="1000" dirty="0">
                <a:solidFill>
                  <a:srgbClr val="E8F0FE"/>
                </a:solidFill>
                <a:latin typeface="Calibri" pitchFamily="34" charset="0"/>
                <a:ea typeface="Calibri" pitchFamily="34" charset="-122"/>
                <a:cs typeface="Calibri" pitchFamily="34" charset="-120"/>
              </a:rPr>
              <a:t>Cross-cultural NLP</a:t>
            </a:r>
            <a:endParaRPr lang="en-US" sz="1000" dirty="0"/>
          </a:p>
        </p:txBody>
      </p:sp>
      <p:sp>
        <p:nvSpPr>
          <p:cNvPr id="18" name="Shape 15"/>
          <p:cNvSpPr/>
          <p:nvPr/>
        </p:nvSpPr>
        <p:spPr>
          <a:xfrm>
            <a:off x="6821424" y="1024128"/>
            <a:ext cx="2029968" cy="1810512"/>
          </a:xfrm>
          <a:prstGeom prst="rect">
            <a:avLst/>
          </a:prstGeom>
          <a:solidFill>
            <a:srgbClr val="141E35"/>
          </a:solidFill>
          <a:ln w="19050">
            <a:solidFill>
              <a:srgbClr val="F59E0B"/>
            </a:solidFill>
            <a:prstDash val="solid"/>
          </a:ln>
          <a:effectLst>
            <a:outerShdw sx="100000" sy="100000" kx="0" ky="0" algn="bl" rotWithShape="0" blurRad="101600" dist="38100" dir="8100000">
              <a:srgbClr val="000000">
                <a:alpha val="20000"/>
              </a:srgbClr>
            </a:outerShdw>
          </a:effectLst>
        </p:spPr>
      </p:sp>
      <p:sp>
        <p:nvSpPr>
          <p:cNvPr id="19" name="Shape 16"/>
          <p:cNvSpPr/>
          <p:nvPr/>
        </p:nvSpPr>
        <p:spPr>
          <a:xfrm>
            <a:off x="6821424" y="1024128"/>
            <a:ext cx="2029968" cy="402336"/>
          </a:xfrm>
          <a:prstGeom prst="rect">
            <a:avLst/>
          </a:prstGeom>
          <a:solidFill>
            <a:srgbClr val="F59E0B"/>
          </a:solidFill>
          <a:ln w="12700">
            <a:solidFill>
              <a:srgbClr val="F59E0B"/>
            </a:solidFill>
            <a:prstDash val="solid"/>
          </a:ln>
        </p:spPr>
      </p:sp>
      <p:sp>
        <p:nvSpPr>
          <p:cNvPr id="20" name="Text 17"/>
          <p:cNvSpPr/>
          <p:nvPr/>
        </p:nvSpPr>
        <p:spPr>
          <a:xfrm>
            <a:off x="6876288" y="1060704"/>
            <a:ext cx="1920240" cy="347472"/>
          </a:xfrm>
          <a:prstGeom prst="rect">
            <a:avLst/>
          </a:prstGeom>
          <a:noFill/>
          <a:ln/>
        </p:spPr>
        <p:txBody>
          <a:bodyPr wrap="square" lIns="25400" tIns="25400" rIns="25400" bIns="2540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  Finance</a:t>
            </a:r>
            <a:endParaRPr lang="en-US" sz="1150" dirty="0"/>
          </a:p>
        </p:txBody>
      </p:sp>
      <p:sp>
        <p:nvSpPr>
          <p:cNvPr id="21" name="Text 18"/>
          <p:cNvSpPr/>
          <p:nvPr/>
        </p:nvSpPr>
        <p:spPr>
          <a:xfrm>
            <a:off x="6912864" y="1481328"/>
            <a:ext cx="1828800" cy="1280160"/>
          </a:xfrm>
          <a:prstGeom prst="rect">
            <a:avLst/>
          </a:prstGeom>
          <a:noFill/>
          <a:ln/>
        </p:spPr>
        <p:txBody>
          <a:bodyPr wrap="square" lIns="50800" tIns="50800" rIns="50800" bIns="50800" rtlCol="0" anchor="ctr"/>
          <a:lstStyle/>
          <a:p>
            <a:pPr marL="342900" indent="-342900">
              <a:spcAft>
                <a:spcPts val="400"/>
              </a:spcAft>
              <a:buSzPct val="100000"/>
              <a:buChar char="•"/>
            </a:pPr>
            <a:r>
              <a:rPr lang="en-US" sz="1000" dirty="0">
                <a:solidFill>
                  <a:srgbClr val="E8F0FE"/>
                </a:solidFill>
                <a:latin typeface="Calibri" pitchFamily="34" charset="0"/>
                <a:ea typeface="Calibri" pitchFamily="34" charset="-122"/>
                <a:cs typeface="Calibri" pitchFamily="34" charset="-120"/>
              </a:rPr>
              <a:t>Earnings analysis</a:t>
            </a:r>
            <a:endParaRPr lang="en-US" sz="1000" dirty="0"/>
          </a:p>
          <a:p>
            <a:pPr marL="342900" indent="-342900">
              <a:spcAft>
                <a:spcPts val="400"/>
              </a:spcAft>
              <a:buSzPct val="100000"/>
              <a:buChar char="•"/>
            </a:pPr>
            <a:r>
              <a:rPr lang="en-US" sz="1000" dirty="0">
                <a:solidFill>
                  <a:srgbClr val="E8F0FE"/>
                </a:solidFill>
                <a:latin typeface="Calibri" pitchFamily="34" charset="0"/>
                <a:ea typeface="Calibri" pitchFamily="34" charset="-122"/>
                <a:cs typeface="Calibri" pitchFamily="34" charset="-120"/>
              </a:rPr>
              <a:t>Risk reports</a:t>
            </a:r>
            <a:endParaRPr lang="en-US" sz="1000" dirty="0"/>
          </a:p>
          <a:p>
            <a:pPr marL="342900" indent="-342900">
              <a:spcAft>
                <a:spcPts val="400"/>
              </a:spcAft>
              <a:buSzPct val="100000"/>
              <a:buChar char="•"/>
            </a:pPr>
            <a:r>
              <a:rPr lang="en-US" sz="1000" dirty="0">
                <a:solidFill>
                  <a:srgbClr val="E8F0FE"/>
                </a:solidFill>
                <a:latin typeface="Calibri" pitchFamily="34" charset="0"/>
                <a:ea typeface="Calibri" pitchFamily="34" charset="-122"/>
                <a:cs typeface="Calibri" pitchFamily="34" charset="-120"/>
              </a:rPr>
              <a:t>Fraud detection</a:t>
            </a:r>
            <a:endParaRPr lang="en-US" sz="1000" dirty="0"/>
          </a:p>
          <a:p>
            <a:pPr marL="342900" indent="-342900">
              <a:spcAft>
                <a:spcPts val="400"/>
              </a:spcAft>
              <a:buSzPct val="100000"/>
              <a:buChar char="•"/>
            </a:pPr>
            <a:r>
              <a:rPr lang="en-US" sz="1000" dirty="0">
                <a:solidFill>
                  <a:srgbClr val="E8F0FE"/>
                </a:solidFill>
                <a:latin typeface="Calibri" pitchFamily="34" charset="0"/>
                <a:ea typeface="Calibri" pitchFamily="34" charset="-122"/>
                <a:cs typeface="Calibri" pitchFamily="34" charset="-120"/>
              </a:rPr>
              <a:t>Robo-advisors</a:t>
            </a:r>
            <a:endParaRPr lang="en-US" sz="1000" dirty="0"/>
          </a:p>
        </p:txBody>
      </p:sp>
      <p:sp>
        <p:nvSpPr>
          <p:cNvPr id="22" name="Shape 19"/>
          <p:cNvSpPr/>
          <p:nvPr/>
        </p:nvSpPr>
        <p:spPr>
          <a:xfrm>
            <a:off x="182880" y="3017520"/>
            <a:ext cx="2029968" cy="1810512"/>
          </a:xfrm>
          <a:prstGeom prst="rect">
            <a:avLst/>
          </a:prstGeom>
          <a:solidFill>
            <a:srgbClr val="141E35"/>
          </a:solidFill>
          <a:ln w="19050">
            <a:solidFill>
              <a:srgbClr val="8B5CF6"/>
            </a:solidFill>
            <a:prstDash val="solid"/>
          </a:ln>
          <a:effectLst>
            <a:outerShdw sx="100000" sy="100000" kx="0" ky="0" algn="bl" rotWithShape="0" blurRad="101600" dist="38100" dir="8100000">
              <a:srgbClr val="000000">
                <a:alpha val="20000"/>
              </a:srgbClr>
            </a:outerShdw>
          </a:effectLst>
        </p:spPr>
      </p:sp>
      <p:sp>
        <p:nvSpPr>
          <p:cNvPr id="23" name="Shape 20"/>
          <p:cNvSpPr/>
          <p:nvPr/>
        </p:nvSpPr>
        <p:spPr>
          <a:xfrm>
            <a:off x="182880" y="3017520"/>
            <a:ext cx="2029968" cy="402336"/>
          </a:xfrm>
          <a:prstGeom prst="rect">
            <a:avLst/>
          </a:prstGeom>
          <a:solidFill>
            <a:srgbClr val="8B5CF6"/>
          </a:solidFill>
          <a:ln w="12700">
            <a:solidFill>
              <a:srgbClr val="8B5CF6"/>
            </a:solidFill>
            <a:prstDash val="solid"/>
          </a:ln>
        </p:spPr>
      </p:sp>
      <p:sp>
        <p:nvSpPr>
          <p:cNvPr id="24" name="Text 21"/>
          <p:cNvSpPr/>
          <p:nvPr/>
        </p:nvSpPr>
        <p:spPr>
          <a:xfrm>
            <a:off x="237744" y="3054096"/>
            <a:ext cx="1920240" cy="347472"/>
          </a:xfrm>
          <a:prstGeom prst="rect">
            <a:avLst/>
          </a:prstGeom>
          <a:noFill/>
          <a:ln/>
        </p:spPr>
        <p:txBody>
          <a:bodyPr wrap="square" lIns="25400" tIns="25400" rIns="25400" bIns="2540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  Education</a:t>
            </a:r>
            <a:endParaRPr lang="en-US" sz="1150" dirty="0"/>
          </a:p>
        </p:txBody>
      </p:sp>
      <p:sp>
        <p:nvSpPr>
          <p:cNvPr id="25" name="Text 22"/>
          <p:cNvSpPr/>
          <p:nvPr/>
        </p:nvSpPr>
        <p:spPr>
          <a:xfrm>
            <a:off x="274320" y="3474720"/>
            <a:ext cx="1828800" cy="1280160"/>
          </a:xfrm>
          <a:prstGeom prst="rect">
            <a:avLst/>
          </a:prstGeom>
          <a:noFill/>
          <a:ln/>
        </p:spPr>
        <p:txBody>
          <a:bodyPr wrap="square" lIns="50800" tIns="50800" rIns="50800" bIns="50800" rtlCol="0" anchor="ctr"/>
          <a:lstStyle/>
          <a:p>
            <a:pPr marL="342900" indent="-342900">
              <a:spcAft>
                <a:spcPts val="400"/>
              </a:spcAft>
              <a:buSzPct val="100000"/>
              <a:buChar char="•"/>
            </a:pPr>
            <a:r>
              <a:rPr lang="en-US" sz="1000" dirty="0">
                <a:solidFill>
                  <a:srgbClr val="E8F0FE"/>
                </a:solidFill>
                <a:latin typeface="Calibri" pitchFamily="34" charset="0"/>
                <a:ea typeface="Calibri" pitchFamily="34" charset="-122"/>
                <a:cs typeface="Calibri" pitchFamily="34" charset="-120"/>
              </a:rPr>
              <a:t>AI tutoring</a:t>
            </a:r>
            <a:endParaRPr lang="en-US" sz="1000" dirty="0"/>
          </a:p>
          <a:p>
            <a:pPr marL="342900" indent="-342900">
              <a:spcAft>
                <a:spcPts val="400"/>
              </a:spcAft>
              <a:buSzPct val="100000"/>
              <a:buChar char="•"/>
            </a:pPr>
            <a:r>
              <a:rPr lang="en-US" sz="1000" dirty="0">
                <a:solidFill>
                  <a:srgbClr val="E8F0FE"/>
                </a:solidFill>
                <a:latin typeface="Calibri" pitchFamily="34" charset="0"/>
                <a:ea typeface="Calibri" pitchFamily="34" charset="-122"/>
                <a:cs typeface="Calibri" pitchFamily="34" charset="-120"/>
              </a:rPr>
              <a:t>Essay feedback</a:t>
            </a:r>
            <a:endParaRPr lang="en-US" sz="1000" dirty="0"/>
          </a:p>
          <a:p>
            <a:pPr marL="342900" indent="-342900">
              <a:spcAft>
                <a:spcPts val="400"/>
              </a:spcAft>
              <a:buSzPct val="100000"/>
              <a:buChar char="•"/>
            </a:pPr>
            <a:r>
              <a:rPr lang="en-US" sz="1000" dirty="0">
                <a:solidFill>
                  <a:srgbClr val="E8F0FE"/>
                </a:solidFill>
                <a:latin typeface="Calibri" pitchFamily="34" charset="0"/>
                <a:ea typeface="Calibri" pitchFamily="34" charset="-122"/>
                <a:cs typeface="Calibri" pitchFamily="34" charset="-120"/>
              </a:rPr>
              <a:t>Curriculum gen</a:t>
            </a:r>
            <a:endParaRPr lang="en-US" sz="1000" dirty="0"/>
          </a:p>
          <a:p>
            <a:pPr marL="342900" indent="-342900">
              <a:spcAft>
                <a:spcPts val="400"/>
              </a:spcAft>
              <a:buSzPct val="100000"/>
              <a:buChar char="•"/>
            </a:pPr>
            <a:r>
              <a:rPr lang="en-US" sz="1000" dirty="0">
                <a:solidFill>
                  <a:srgbClr val="E8F0FE"/>
                </a:solidFill>
                <a:latin typeface="Calibri" pitchFamily="34" charset="0"/>
                <a:ea typeface="Calibri" pitchFamily="34" charset="-122"/>
                <a:cs typeface="Calibri" pitchFamily="34" charset="-120"/>
              </a:rPr>
              <a:t>Adaptive tests</a:t>
            </a:r>
            <a:endParaRPr lang="en-US" sz="1000" dirty="0"/>
          </a:p>
        </p:txBody>
      </p:sp>
      <p:sp>
        <p:nvSpPr>
          <p:cNvPr id="26" name="Shape 23"/>
          <p:cNvSpPr/>
          <p:nvPr/>
        </p:nvSpPr>
        <p:spPr>
          <a:xfrm>
            <a:off x="2395728" y="3017520"/>
            <a:ext cx="2029968" cy="1810512"/>
          </a:xfrm>
          <a:prstGeom prst="rect">
            <a:avLst/>
          </a:prstGeom>
          <a:solidFill>
            <a:srgbClr val="141E35"/>
          </a:solidFill>
          <a:ln w="19050">
            <a:solidFill>
              <a:srgbClr val="F97316"/>
            </a:solidFill>
            <a:prstDash val="solid"/>
          </a:ln>
          <a:effectLst>
            <a:outerShdw sx="100000" sy="100000" kx="0" ky="0" algn="bl" rotWithShape="0" blurRad="101600" dist="38100" dir="8100000">
              <a:srgbClr val="000000">
                <a:alpha val="20000"/>
              </a:srgbClr>
            </a:outerShdw>
          </a:effectLst>
        </p:spPr>
      </p:sp>
      <p:sp>
        <p:nvSpPr>
          <p:cNvPr id="27" name="Shape 24"/>
          <p:cNvSpPr/>
          <p:nvPr/>
        </p:nvSpPr>
        <p:spPr>
          <a:xfrm>
            <a:off x="2395728" y="3017520"/>
            <a:ext cx="2029968" cy="402336"/>
          </a:xfrm>
          <a:prstGeom prst="rect">
            <a:avLst/>
          </a:prstGeom>
          <a:solidFill>
            <a:srgbClr val="F97316"/>
          </a:solidFill>
          <a:ln w="12700">
            <a:solidFill>
              <a:srgbClr val="F97316"/>
            </a:solidFill>
            <a:prstDash val="solid"/>
          </a:ln>
        </p:spPr>
      </p:sp>
      <p:sp>
        <p:nvSpPr>
          <p:cNvPr id="28" name="Text 25"/>
          <p:cNvSpPr/>
          <p:nvPr/>
        </p:nvSpPr>
        <p:spPr>
          <a:xfrm>
            <a:off x="2450592" y="3054096"/>
            <a:ext cx="1920240" cy="347472"/>
          </a:xfrm>
          <a:prstGeom prst="rect">
            <a:avLst/>
          </a:prstGeom>
          <a:noFill/>
          <a:ln/>
        </p:spPr>
        <p:txBody>
          <a:bodyPr wrap="square" lIns="25400" tIns="25400" rIns="25400" bIns="2540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  Legal</a:t>
            </a:r>
            <a:endParaRPr lang="en-US" sz="1150" dirty="0"/>
          </a:p>
        </p:txBody>
      </p:sp>
      <p:sp>
        <p:nvSpPr>
          <p:cNvPr id="29" name="Text 26"/>
          <p:cNvSpPr/>
          <p:nvPr/>
        </p:nvSpPr>
        <p:spPr>
          <a:xfrm>
            <a:off x="2487168" y="3474720"/>
            <a:ext cx="1828800" cy="1280160"/>
          </a:xfrm>
          <a:prstGeom prst="rect">
            <a:avLst/>
          </a:prstGeom>
          <a:noFill/>
          <a:ln/>
        </p:spPr>
        <p:txBody>
          <a:bodyPr wrap="square" lIns="50800" tIns="50800" rIns="50800" bIns="50800" rtlCol="0" anchor="ctr"/>
          <a:lstStyle/>
          <a:p>
            <a:pPr marL="342900" indent="-342900">
              <a:spcAft>
                <a:spcPts val="400"/>
              </a:spcAft>
              <a:buSzPct val="100000"/>
              <a:buChar char="•"/>
            </a:pPr>
            <a:r>
              <a:rPr lang="en-US" sz="1000" dirty="0">
                <a:solidFill>
                  <a:srgbClr val="E8F0FE"/>
                </a:solidFill>
                <a:latin typeface="Calibri" pitchFamily="34" charset="0"/>
                <a:ea typeface="Calibri" pitchFamily="34" charset="-122"/>
                <a:cs typeface="Calibri" pitchFamily="34" charset="-120"/>
              </a:rPr>
              <a:t>Contract review</a:t>
            </a:r>
            <a:endParaRPr lang="en-US" sz="1000" dirty="0"/>
          </a:p>
          <a:p>
            <a:pPr marL="342900" indent="-342900">
              <a:spcAft>
                <a:spcPts val="400"/>
              </a:spcAft>
              <a:buSzPct val="100000"/>
              <a:buChar char="•"/>
            </a:pPr>
            <a:r>
              <a:rPr lang="en-US" sz="1000" dirty="0">
                <a:solidFill>
                  <a:srgbClr val="E8F0FE"/>
                </a:solidFill>
                <a:latin typeface="Calibri" pitchFamily="34" charset="0"/>
                <a:ea typeface="Calibri" pitchFamily="34" charset="-122"/>
                <a:cs typeface="Calibri" pitchFamily="34" charset="-120"/>
              </a:rPr>
              <a:t>Case research</a:t>
            </a:r>
            <a:endParaRPr lang="en-US" sz="1000" dirty="0"/>
          </a:p>
          <a:p>
            <a:pPr marL="342900" indent="-342900">
              <a:spcAft>
                <a:spcPts val="400"/>
              </a:spcAft>
              <a:buSzPct val="100000"/>
              <a:buChar char="•"/>
            </a:pPr>
            <a:r>
              <a:rPr lang="en-US" sz="1000" dirty="0">
                <a:solidFill>
                  <a:srgbClr val="E8F0FE"/>
                </a:solidFill>
                <a:latin typeface="Calibri" pitchFamily="34" charset="0"/>
                <a:ea typeface="Calibri" pitchFamily="34" charset="-122"/>
                <a:cs typeface="Calibri" pitchFamily="34" charset="-120"/>
              </a:rPr>
              <a:t>Document drafting</a:t>
            </a:r>
            <a:endParaRPr lang="en-US" sz="1000" dirty="0"/>
          </a:p>
          <a:p>
            <a:pPr marL="342900" indent="-342900">
              <a:spcAft>
                <a:spcPts val="400"/>
              </a:spcAft>
              <a:buSzPct val="100000"/>
              <a:buChar char="•"/>
            </a:pPr>
            <a:r>
              <a:rPr lang="en-US" sz="1000" dirty="0">
                <a:solidFill>
                  <a:srgbClr val="E8F0FE"/>
                </a:solidFill>
                <a:latin typeface="Calibri" pitchFamily="34" charset="0"/>
                <a:ea typeface="Calibri" pitchFamily="34" charset="-122"/>
                <a:cs typeface="Calibri" pitchFamily="34" charset="-120"/>
              </a:rPr>
              <a:t>Compliance check</a:t>
            </a:r>
            <a:endParaRPr lang="en-US" sz="1000" dirty="0"/>
          </a:p>
        </p:txBody>
      </p:sp>
      <p:sp>
        <p:nvSpPr>
          <p:cNvPr id="30" name="Shape 27"/>
          <p:cNvSpPr/>
          <p:nvPr/>
        </p:nvSpPr>
        <p:spPr>
          <a:xfrm>
            <a:off x="4608576" y="3017520"/>
            <a:ext cx="2029968" cy="1810512"/>
          </a:xfrm>
          <a:prstGeom prst="rect">
            <a:avLst/>
          </a:prstGeom>
          <a:solidFill>
            <a:srgbClr val="141E35"/>
          </a:solidFill>
          <a:ln w="19050">
            <a:solidFill>
              <a:srgbClr val="EF4444"/>
            </a:solidFill>
            <a:prstDash val="solid"/>
          </a:ln>
          <a:effectLst>
            <a:outerShdw sx="100000" sy="100000" kx="0" ky="0" algn="bl" rotWithShape="0" blurRad="101600" dist="38100" dir="8100000">
              <a:srgbClr val="000000">
                <a:alpha val="20000"/>
              </a:srgbClr>
            </a:outerShdw>
          </a:effectLst>
        </p:spPr>
      </p:sp>
      <p:sp>
        <p:nvSpPr>
          <p:cNvPr id="31" name="Shape 28"/>
          <p:cNvSpPr/>
          <p:nvPr/>
        </p:nvSpPr>
        <p:spPr>
          <a:xfrm>
            <a:off x="4608576" y="3017520"/>
            <a:ext cx="2029968" cy="402336"/>
          </a:xfrm>
          <a:prstGeom prst="rect">
            <a:avLst/>
          </a:prstGeom>
          <a:solidFill>
            <a:srgbClr val="EF4444"/>
          </a:solidFill>
          <a:ln w="12700">
            <a:solidFill>
              <a:srgbClr val="EF4444"/>
            </a:solidFill>
            <a:prstDash val="solid"/>
          </a:ln>
        </p:spPr>
      </p:sp>
      <p:sp>
        <p:nvSpPr>
          <p:cNvPr id="32" name="Text 29"/>
          <p:cNvSpPr/>
          <p:nvPr/>
        </p:nvSpPr>
        <p:spPr>
          <a:xfrm>
            <a:off x="4663440" y="3054096"/>
            <a:ext cx="1920240" cy="347472"/>
          </a:xfrm>
          <a:prstGeom prst="rect">
            <a:avLst/>
          </a:prstGeom>
          <a:noFill/>
          <a:ln/>
        </p:spPr>
        <p:txBody>
          <a:bodyPr wrap="square" lIns="25400" tIns="25400" rIns="25400" bIns="2540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  Creative</a:t>
            </a:r>
            <a:endParaRPr lang="en-US" sz="1150" dirty="0"/>
          </a:p>
        </p:txBody>
      </p:sp>
      <p:sp>
        <p:nvSpPr>
          <p:cNvPr id="33" name="Text 30"/>
          <p:cNvSpPr/>
          <p:nvPr/>
        </p:nvSpPr>
        <p:spPr>
          <a:xfrm>
            <a:off x="4700016" y="3474720"/>
            <a:ext cx="1828800" cy="1280160"/>
          </a:xfrm>
          <a:prstGeom prst="rect">
            <a:avLst/>
          </a:prstGeom>
          <a:noFill/>
          <a:ln/>
        </p:spPr>
        <p:txBody>
          <a:bodyPr wrap="square" lIns="50800" tIns="50800" rIns="50800" bIns="50800" rtlCol="0" anchor="ctr"/>
          <a:lstStyle/>
          <a:p>
            <a:pPr marL="342900" indent="-342900">
              <a:spcAft>
                <a:spcPts val="400"/>
              </a:spcAft>
              <a:buSzPct val="100000"/>
              <a:buChar char="•"/>
            </a:pPr>
            <a:r>
              <a:rPr lang="en-US" sz="1000" dirty="0">
                <a:solidFill>
                  <a:srgbClr val="E8F0FE"/>
                </a:solidFill>
                <a:latin typeface="Calibri" pitchFamily="34" charset="0"/>
                <a:ea typeface="Calibri" pitchFamily="34" charset="-122"/>
                <a:cs typeface="Calibri" pitchFamily="34" charset="-120"/>
              </a:rPr>
              <a:t>Copywriting</a:t>
            </a:r>
            <a:endParaRPr lang="en-US" sz="1000" dirty="0"/>
          </a:p>
          <a:p>
            <a:pPr marL="342900" indent="-342900">
              <a:spcAft>
                <a:spcPts val="400"/>
              </a:spcAft>
              <a:buSzPct val="100000"/>
              <a:buChar char="•"/>
            </a:pPr>
            <a:r>
              <a:rPr lang="en-US" sz="1000" dirty="0">
                <a:solidFill>
                  <a:srgbClr val="E8F0FE"/>
                </a:solidFill>
                <a:latin typeface="Calibri" pitchFamily="34" charset="0"/>
                <a:ea typeface="Calibri" pitchFamily="34" charset="-122"/>
                <a:cs typeface="Calibri" pitchFamily="34" charset="-120"/>
              </a:rPr>
              <a:t>Screenwriting</a:t>
            </a:r>
            <a:endParaRPr lang="en-US" sz="1000" dirty="0"/>
          </a:p>
          <a:p>
            <a:pPr marL="342900" indent="-342900">
              <a:spcAft>
                <a:spcPts val="400"/>
              </a:spcAft>
              <a:buSzPct val="100000"/>
              <a:buChar char="•"/>
            </a:pPr>
            <a:r>
              <a:rPr lang="en-US" sz="1000" dirty="0">
                <a:solidFill>
                  <a:srgbClr val="E8F0FE"/>
                </a:solidFill>
                <a:latin typeface="Calibri" pitchFamily="34" charset="0"/>
                <a:ea typeface="Calibri" pitchFamily="34" charset="-122"/>
                <a:cs typeface="Calibri" pitchFamily="34" charset="-120"/>
              </a:rPr>
              <a:t>Game dialogue</a:t>
            </a:r>
            <a:endParaRPr lang="en-US" sz="1000" dirty="0"/>
          </a:p>
          <a:p>
            <a:pPr marL="342900" indent="-342900">
              <a:spcAft>
                <a:spcPts val="400"/>
              </a:spcAft>
              <a:buSzPct val="100000"/>
              <a:buChar char="•"/>
            </a:pPr>
            <a:r>
              <a:rPr lang="en-US" sz="1000" dirty="0">
                <a:solidFill>
                  <a:srgbClr val="E8F0FE"/>
                </a:solidFill>
                <a:latin typeface="Calibri" pitchFamily="34" charset="0"/>
                <a:ea typeface="Calibri" pitchFamily="34" charset="-122"/>
                <a:cs typeface="Calibri" pitchFamily="34" charset="-120"/>
              </a:rPr>
              <a:t>Marketing content</a:t>
            </a:r>
            <a:endParaRPr lang="en-US" sz="1000" dirty="0"/>
          </a:p>
        </p:txBody>
      </p:sp>
      <p:sp>
        <p:nvSpPr>
          <p:cNvPr id="34" name="Shape 31"/>
          <p:cNvSpPr/>
          <p:nvPr/>
        </p:nvSpPr>
        <p:spPr>
          <a:xfrm>
            <a:off x="6821424" y="3017520"/>
            <a:ext cx="2029968" cy="1810512"/>
          </a:xfrm>
          <a:prstGeom prst="rect">
            <a:avLst/>
          </a:prstGeom>
          <a:solidFill>
            <a:srgbClr val="141E35"/>
          </a:solidFill>
          <a:ln w="19050">
            <a:solidFill>
              <a:srgbClr val="0D9488"/>
            </a:solidFill>
            <a:prstDash val="solid"/>
          </a:ln>
          <a:effectLst>
            <a:outerShdw sx="100000" sy="100000" kx="0" ky="0" algn="bl" rotWithShape="0" blurRad="101600" dist="38100" dir="8100000">
              <a:srgbClr val="000000">
                <a:alpha val="20000"/>
              </a:srgbClr>
            </a:outerShdw>
          </a:effectLst>
        </p:spPr>
      </p:sp>
      <p:sp>
        <p:nvSpPr>
          <p:cNvPr id="35" name="Shape 32"/>
          <p:cNvSpPr/>
          <p:nvPr/>
        </p:nvSpPr>
        <p:spPr>
          <a:xfrm>
            <a:off x="6821424" y="3017520"/>
            <a:ext cx="2029968" cy="402336"/>
          </a:xfrm>
          <a:prstGeom prst="rect">
            <a:avLst/>
          </a:prstGeom>
          <a:solidFill>
            <a:srgbClr val="0D9488"/>
          </a:solidFill>
          <a:ln w="12700">
            <a:solidFill>
              <a:srgbClr val="0D9488"/>
            </a:solidFill>
            <a:prstDash val="solid"/>
          </a:ln>
        </p:spPr>
      </p:sp>
      <p:sp>
        <p:nvSpPr>
          <p:cNvPr id="36" name="Text 33"/>
          <p:cNvSpPr/>
          <p:nvPr/>
        </p:nvSpPr>
        <p:spPr>
          <a:xfrm>
            <a:off x="6876288" y="3054096"/>
            <a:ext cx="1920240" cy="347472"/>
          </a:xfrm>
          <a:prstGeom prst="rect">
            <a:avLst/>
          </a:prstGeom>
          <a:noFill/>
          <a:ln/>
        </p:spPr>
        <p:txBody>
          <a:bodyPr wrap="square" lIns="25400" tIns="25400" rIns="25400" bIns="2540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  Enterprise</a:t>
            </a:r>
            <a:endParaRPr lang="en-US" sz="1150" dirty="0"/>
          </a:p>
        </p:txBody>
      </p:sp>
      <p:sp>
        <p:nvSpPr>
          <p:cNvPr id="37" name="Text 34"/>
          <p:cNvSpPr/>
          <p:nvPr/>
        </p:nvSpPr>
        <p:spPr>
          <a:xfrm>
            <a:off x="6912864" y="3474720"/>
            <a:ext cx="1828800" cy="1280160"/>
          </a:xfrm>
          <a:prstGeom prst="rect">
            <a:avLst/>
          </a:prstGeom>
          <a:noFill/>
          <a:ln/>
        </p:spPr>
        <p:txBody>
          <a:bodyPr wrap="square" lIns="50800" tIns="50800" rIns="50800" bIns="50800" rtlCol="0" anchor="ctr"/>
          <a:lstStyle/>
          <a:p>
            <a:pPr marL="342900" indent="-342900">
              <a:spcAft>
                <a:spcPts val="400"/>
              </a:spcAft>
              <a:buSzPct val="100000"/>
              <a:buChar char="•"/>
            </a:pPr>
            <a:r>
              <a:rPr lang="en-US" sz="1000" dirty="0">
                <a:solidFill>
                  <a:srgbClr val="E8F0FE"/>
                </a:solidFill>
                <a:latin typeface="Calibri" pitchFamily="34" charset="0"/>
                <a:ea typeface="Calibri" pitchFamily="34" charset="-122"/>
                <a:cs typeface="Calibri" pitchFamily="34" charset="-120"/>
              </a:rPr>
              <a:t>Document search</a:t>
            </a:r>
            <a:endParaRPr lang="en-US" sz="1000" dirty="0"/>
          </a:p>
          <a:p>
            <a:pPr marL="342900" indent="-342900">
              <a:spcAft>
                <a:spcPts val="400"/>
              </a:spcAft>
              <a:buSzPct val="100000"/>
              <a:buChar char="•"/>
            </a:pPr>
            <a:r>
              <a:rPr lang="en-US" sz="1000" dirty="0">
                <a:solidFill>
                  <a:srgbClr val="E8F0FE"/>
                </a:solidFill>
                <a:latin typeface="Calibri" pitchFamily="34" charset="0"/>
                <a:ea typeface="Calibri" pitchFamily="34" charset="-122"/>
                <a:cs typeface="Calibri" pitchFamily="34" charset="-120"/>
              </a:rPr>
              <a:t>Customer support</a:t>
            </a:r>
            <a:endParaRPr lang="en-US" sz="1000" dirty="0"/>
          </a:p>
          <a:p>
            <a:pPr marL="342900" indent="-342900">
              <a:spcAft>
                <a:spcPts val="400"/>
              </a:spcAft>
              <a:buSzPct val="100000"/>
              <a:buChar char="•"/>
            </a:pPr>
            <a:r>
              <a:rPr lang="en-US" sz="1000" dirty="0">
                <a:solidFill>
                  <a:srgbClr val="E8F0FE"/>
                </a:solidFill>
                <a:latin typeface="Calibri" pitchFamily="34" charset="0"/>
                <a:ea typeface="Calibri" pitchFamily="34" charset="-122"/>
                <a:cs typeface="Calibri" pitchFamily="34" charset="-120"/>
              </a:rPr>
              <a:t>Data extraction</a:t>
            </a:r>
            <a:endParaRPr lang="en-US" sz="1000" dirty="0"/>
          </a:p>
          <a:p>
            <a:pPr marL="342900" indent="-342900">
              <a:spcAft>
                <a:spcPts val="400"/>
              </a:spcAft>
              <a:buSzPct val="100000"/>
              <a:buChar char="•"/>
            </a:pPr>
            <a:r>
              <a:rPr lang="en-US" sz="1000" dirty="0">
                <a:solidFill>
                  <a:srgbClr val="E8F0FE"/>
                </a:solidFill>
                <a:latin typeface="Calibri" pitchFamily="34" charset="0"/>
                <a:ea typeface="Calibri" pitchFamily="34" charset="-122"/>
                <a:cs typeface="Calibri" pitchFamily="34" charset="-120"/>
              </a:rPr>
              <a:t>Workflow automation</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0F6FF"/>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D1B3E"/>
          </a:solidFill>
          <a:ln w="12700">
            <a:solidFill>
              <a:srgbClr val="0D1B3E"/>
            </a:solidFill>
            <a:prstDash val="solid"/>
          </a:ln>
        </p:spPr>
      </p:sp>
      <p:sp>
        <p:nvSpPr>
          <p:cNvPr id="3" name="Shape 1"/>
          <p:cNvSpPr/>
          <p:nvPr/>
        </p:nvSpPr>
        <p:spPr>
          <a:xfrm>
            <a:off x="0" y="914400"/>
            <a:ext cx="9144000" cy="45720"/>
          </a:xfrm>
          <a:prstGeom prst="rect">
            <a:avLst/>
          </a:prstGeom>
          <a:solidFill>
            <a:srgbClr val="06B6D4"/>
          </a:solidFill>
          <a:ln w="12700">
            <a:solidFill>
              <a:srgbClr val="06B6D4"/>
            </a:solidFill>
            <a:prstDash val="solid"/>
          </a:ln>
        </p:spPr>
      </p:sp>
      <p:pic>
        <p:nvPicPr>
          <p:cNvPr id="4" name="Image 0" descr="preencoded.png">    </p:cNvPr>
          <p:cNvPicPr>
            <a:picLocks noChangeAspect="1"/>
          </p:cNvPicPr>
          <p:nvPr/>
        </p:nvPicPr>
        <p:blipFill>
          <a:blip r:embed="rId1"/>
          <a:stretch>
            <a:fillRect/>
          </a:stretch>
        </p:blipFill>
        <p:spPr>
          <a:xfrm>
            <a:off x="228600" y="182880"/>
            <a:ext cx="502920" cy="502920"/>
          </a:xfrm>
          <a:prstGeom prst="rect">
            <a:avLst/>
          </a:prstGeom>
        </p:spPr>
      </p:pic>
      <p:sp>
        <p:nvSpPr>
          <p:cNvPr id="5" name="Text 2"/>
          <p:cNvSpPr/>
          <p:nvPr/>
        </p:nvSpPr>
        <p:spPr>
          <a:xfrm>
            <a:off x="822960" y="137160"/>
            <a:ext cx="8046720" cy="68580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How LLMs Generate Text — Inference Deep Dive</a:t>
            </a:r>
            <a:endParaRPr lang="en-US" sz="2600" dirty="0"/>
          </a:p>
        </p:txBody>
      </p:sp>
      <p:sp>
        <p:nvSpPr>
          <p:cNvPr id="6" name="Shape 3"/>
          <p:cNvSpPr/>
          <p:nvPr/>
        </p:nvSpPr>
        <p:spPr>
          <a:xfrm>
            <a:off x="228600" y="1024128"/>
            <a:ext cx="4114800" cy="3749040"/>
          </a:xfrm>
          <a:prstGeom prst="rect">
            <a:avLst/>
          </a:prstGeom>
          <a:solidFill>
            <a:srgbClr val="FFFFFF"/>
          </a:solidFill>
          <a:ln w="19050">
            <a:solidFill>
              <a:srgbClr val="06B6D4"/>
            </a:solidFill>
            <a:prstDash val="solid"/>
          </a:ln>
          <a:effectLst>
            <a:outerShdw sx="100000" sy="100000" kx="0" ky="0" algn="bl" rotWithShape="0" blurRad="101600" dist="38100" dir="8100000">
              <a:srgbClr val="000000">
                <a:alpha val="20000"/>
              </a:srgbClr>
            </a:outerShdw>
          </a:effectLst>
        </p:spPr>
      </p:sp>
      <p:sp>
        <p:nvSpPr>
          <p:cNvPr id="7" name="Shape 4"/>
          <p:cNvSpPr/>
          <p:nvPr/>
        </p:nvSpPr>
        <p:spPr>
          <a:xfrm>
            <a:off x="228600" y="1024128"/>
            <a:ext cx="4114800" cy="402336"/>
          </a:xfrm>
          <a:prstGeom prst="rect">
            <a:avLst/>
          </a:prstGeom>
          <a:solidFill>
            <a:srgbClr val="06B6D4"/>
          </a:solidFill>
          <a:ln w="12700">
            <a:solidFill>
              <a:srgbClr val="06B6D4"/>
            </a:solidFill>
            <a:prstDash val="solid"/>
          </a:ln>
        </p:spPr>
      </p:sp>
      <p:sp>
        <p:nvSpPr>
          <p:cNvPr id="8" name="Text 5"/>
          <p:cNvSpPr/>
          <p:nvPr/>
        </p:nvSpPr>
        <p:spPr>
          <a:xfrm>
            <a:off x="274320" y="1042416"/>
            <a:ext cx="4023360" cy="365760"/>
          </a:xfrm>
          <a:prstGeom prst="rect">
            <a:avLst/>
          </a:prstGeom>
          <a:noFill/>
          <a:ln/>
        </p:spPr>
        <p:txBody>
          <a:bodyPr wrap="square" lIns="50800" tIns="50800" rIns="50800" bIns="50800" rtlCol="0" anchor="ctr"/>
          <a:lstStyle/>
          <a:p>
            <a:pPr indent="0" marL="0">
              <a:buNone/>
            </a:pPr>
            <a:r>
              <a:rPr lang="en-US" sz="1400" b="1" dirty="0">
                <a:solidFill>
                  <a:srgbClr val="080D1A"/>
                </a:solidFill>
                <a:latin typeface="Calibri" pitchFamily="34" charset="0"/>
                <a:ea typeface="Calibri" pitchFamily="34" charset="-122"/>
                <a:cs typeface="Calibri" pitchFamily="34" charset="-120"/>
              </a:rPr>
              <a:t>Generation Process</a:t>
            </a:r>
            <a:endParaRPr lang="en-US" sz="1400" dirty="0"/>
          </a:p>
        </p:txBody>
      </p:sp>
      <p:sp>
        <p:nvSpPr>
          <p:cNvPr id="9" name="Shape 6"/>
          <p:cNvSpPr/>
          <p:nvPr/>
        </p:nvSpPr>
        <p:spPr>
          <a:xfrm>
            <a:off x="320040" y="1508760"/>
            <a:ext cx="347472" cy="347472"/>
          </a:xfrm>
          <a:prstGeom prst="ellipse">
            <a:avLst/>
          </a:prstGeom>
          <a:solidFill>
            <a:srgbClr val="1A56DB"/>
          </a:solidFill>
          <a:ln w="12700">
            <a:solidFill>
              <a:srgbClr val="1A56DB"/>
            </a:solidFill>
            <a:prstDash val="solid"/>
          </a:ln>
        </p:spPr>
      </p:sp>
      <p:sp>
        <p:nvSpPr>
          <p:cNvPr id="10" name="Text 7"/>
          <p:cNvSpPr/>
          <p:nvPr/>
        </p:nvSpPr>
        <p:spPr>
          <a:xfrm>
            <a:off x="320040" y="1508760"/>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1" name="Text 8"/>
          <p:cNvSpPr/>
          <p:nvPr/>
        </p:nvSpPr>
        <p:spPr>
          <a:xfrm>
            <a:off x="749808" y="1545336"/>
            <a:ext cx="3474720" cy="310896"/>
          </a:xfrm>
          <a:prstGeom prst="rect">
            <a:avLst/>
          </a:prstGeom>
          <a:noFill/>
          <a:ln/>
        </p:spPr>
        <p:txBody>
          <a:bodyPr wrap="square" lIns="25400" tIns="25400" rIns="25400" bIns="25400" rtlCol="0" anchor="ctr"/>
          <a:lstStyle/>
          <a:p>
            <a:pPr indent="0" marL="0">
              <a:buNone/>
            </a:pPr>
            <a:r>
              <a:rPr lang="en-US" sz="1100" dirty="0">
                <a:solidFill>
                  <a:srgbClr val="1E2D4E"/>
                </a:solidFill>
                <a:latin typeface="Calibri" pitchFamily="34" charset="0"/>
                <a:ea typeface="Calibri" pitchFamily="34" charset="-122"/>
                <a:cs typeface="Calibri" pitchFamily="34" charset="-120"/>
              </a:rPr>
              <a:t>Tokenize input prompt into token IDs</a:t>
            </a:r>
            <a:endParaRPr lang="en-US" sz="1100" dirty="0"/>
          </a:p>
        </p:txBody>
      </p:sp>
      <p:sp>
        <p:nvSpPr>
          <p:cNvPr id="12" name="Shape 9"/>
          <p:cNvSpPr/>
          <p:nvPr/>
        </p:nvSpPr>
        <p:spPr>
          <a:xfrm>
            <a:off x="320040" y="1984248"/>
            <a:ext cx="347472" cy="347472"/>
          </a:xfrm>
          <a:prstGeom prst="ellipse">
            <a:avLst/>
          </a:prstGeom>
          <a:solidFill>
            <a:srgbClr val="0D9488"/>
          </a:solidFill>
          <a:ln w="12700">
            <a:solidFill>
              <a:srgbClr val="0D9488"/>
            </a:solidFill>
            <a:prstDash val="solid"/>
          </a:ln>
        </p:spPr>
      </p:sp>
      <p:sp>
        <p:nvSpPr>
          <p:cNvPr id="13" name="Text 10"/>
          <p:cNvSpPr/>
          <p:nvPr/>
        </p:nvSpPr>
        <p:spPr>
          <a:xfrm>
            <a:off x="320040" y="1984248"/>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4" name="Text 11"/>
          <p:cNvSpPr/>
          <p:nvPr/>
        </p:nvSpPr>
        <p:spPr>
          <a:xfrm>
            <a:off x="749808" y="2020824"/>
            <a:ext cx="3474720" cy="310896"/>
          </a:xfrm>
          <a:prstGeom prst="rect">
            <a:avLst/>
          </a:prstGeom>
          <a:noFill/>
          <a:ln/>
        </p:spPr>
        <p:txBody>
          <a:bodyPr wrap="square" lIns="25400" tIns="25400" rIns="25400" bIns="25400" rtlCol="0" anchor="ctr"/>
          <a:lstStyle/>
          <a:p>
            <a:pPr indent="0" marL="0">
              <a:buNone/>
            </a:pPr>
            <a:r>
              <a:rPr lang="en-US" sz="1100" dirty="0">
                <a:solidFill>
                  <a:srgbClr val="1E2D4E"/>
                </a:solidFill>
                <a:latin typeface="Calibri" pitchFamily="34" charset="0"/>
                <a:ea typeface="Calibri" pitchFamily="34" charset="-122"/>
                <a:cs typeface="Calibri" pitchFamily="34" charset="-120"/>
              </a:rPr>
              <a:t>Look up embeddings for each token</a:t>
            </a:r>
            <a:endParaRPr lang="en-US" sz="1100" dirty="0"/>
          </a:p>
        </p:txBody>
      </p:sp>
      <p:sp>
        <p:nvSpPr>
          <p:cNvPr id="15" name="Shape 12"/>
          <p:cNvSpPr/>
          <p:nvPr/>
        </p:nvSpPr>
        <p:spPr>
          <a:xfrm>
            <a:off x="320040" y="2459736"/>
            <a:ext cx="347472" cy="347472"/>
          </a:xfrm>
          <a:prstGeom prst="ellipse">
            <a:avLst/>
          </a:prstGeom>
          <a:solidFill>
            <a:srgbClr val="F59E0B"/>
          </a:solidFill>
          <a:ln w="12700">
            <a:solidFill>
              <a:srgbClr val="F59E0B"/>
            </a:solidFill>
            <a:prstDash val="solid"/>
          </a:ln>
        </p:spPr>
      </p:sp>
      <p:sp>
        <p:nvSpPr>
          <p:cNvPr id="16" name="Text 13"/>
          <p:cNvSpPr/>
          <p:nvPr/>
        </p:nvSpPr>
        <p:spPr>
          <a:xfrm>
            <a:off x="320040" y="2459736"/>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7" name="Text 14"/>
          <p:cNvSpPr/>
          <p:nvPr/>
        </p:nvSpPr>
        <p:spPr>
          <a:xfrm>
            <a:off x="749808" y="2496312"/>
            <a:ext cx="3474720" cy="310896"/>
          </a:xfrm>
          <a:prstGeom prst="rect">
            <a:avLst/>
          </a:prstGeom>
          <a:noFill/>
          <a:ln/>
        </p:spPr>
        <p:txBody>
          <a:bodyPr wrap="square" lIns="25400" tIns="25400" rIns="25400" bIns="25400" rtlCol="0" anchor="ctr"/>
          <a:lstStyle/>
          <a:p>
            <a:pPr indent="0" marL="0">
              <a:buNone/>
            </a:pPr>
            <a:r>
              <a:rPr lang="en-US" sz="1100" dirty="0">
                <a:solidFill>
                  <a:srgbClr val="1E2D4E"/>
                </a:solidFill>
                <a:latin typeface="Calibri" pitchFamily="34" charset="0"/>
                <a:ea typeface="Calibri" pitchFamily="34" charset="-122"/>
                <a:cs typeface="Calibri" pitchFamily="34" charset="-120"/>
              </a:rPr>
              <a:t>Pass through N transformer layers</a:t>
            </a:r>
            <a:endParaRPr lang="en-US" sz="1100" dirty="0"/>
          </a:p>
        </p:txBody>
      </p:sp>
      <p:sp>
        <p:nvSpPr>
          <p:cNvPr id="18" name="Shape 15"/>
          <p:cNvSpPr/>
          <p:nvPr/>
        </p:nvSpPr>
        <p:spPr>
          <a:xfrm>
            <a:off x="320040" y="2935224"/>
            <a:ext cx="347472" cy="347472"/>
          </a:xfrm>
          <a:prstGeom prst="ellipse">
            <a:avLst/>
          </a:prstGeom>
          <a:solidFill>
            <a:srgbClr val="8B5CF6"/>
          </a:solidFill>
          <a:ln w="12700">
            <a:solidFill>
              <a:srgbClr val="8B5CF6"/>
            </a:solidFill>
            <a:prstDash val="solid"/>
          </a:ln>
        </p:spPr>
      </p:sp>
      <p:sp>
        <p:nvSpPr>
          <p:cNvPr id="19" name="Text 16"/>
          <p:cNvSpPr/>
          <p:nvPr/>
        </p:nvSpPr>
        <p:spPr>
          <a:xfrm>
            <a:off x="320040" y="2935224"/>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0" name="Text 17"/>
          <p:cNvSpPr/>
          <p:nvPr/>
        </p:nvSpPr>
        <p:spPr>
          <a:xfrm>
            <a:off x="749808" y="2971800"/>
            <a:ext cx="3474720" cy="310896"/>
          </a:xfrm>
          <a:prstGeom prst="rect">
            <a:avLst/>
          </a:prstGeom>
          <a:noFill/>
          <a:ln/>
        </p:spPr>
        <p:txBody>
          <a:bodyPr wrap="square" lIns="25400" tIns="25400" rIns="25400" bIns="25400" rtlCol="0" anchor="ctr"/>
          <a:lstStyle/>
          <a:p>
            <a:pPr indent="0" marL="0">
              <a:buNone/>
            </a:pPr>
            <a:r>
              <a:rPr lang="en-US" sz="1100" dirty="0">
                <a:solidFill>
                  <a:srgbClr val="1E2D4E"/>
                </a:solidFill>
                <a:latin typeface="Calibri" pitchFamily="34" charset="0"/>
                <a:ea typeface="Calibri" pitchFamily="34" charset="-122"/>
                <a:cs typeface="Calibri" pitchFamily="34" charset="-120"/>
              </a:rPr>
              <a:t>Project to vocabulary logits (50K+ values)</a:t>
            </a:r>
            <a:endParaRPr lang="en-US" sz="1100" dirty="0"/>
          </a:p>
        </p:txBody>
      </p:sp>
      <p:sp>
        <p:nvSpPr>
          <p:cNvPr id="21" name="Shape 18"/>
          <p:cNvSpPr/>
          <p:nvPr/>
        </p:nvSpPr>
        <p:spPr>
          <a:xfrm>
            <a:off x="320040" y="3410712"/>
            <a:ext cx="347472" cy="347472"/>
          </a:xfrm>
          <a:prstGeom prst="ellipse">
            <a:avLst/>
          </a:prstGeom>
          <a:solidFill>
            <a:srgbClr val="F97316"/>
          </a:solidFill>
          <a:ln w="12700">
            <a:solidFill>
              <a:srgbClr val="F97316"/>
            </a:solidFill>
            <a:prstDash val="solid"/>
          </a:ln>
        </p:spPr>
      </p:sp>
      <p:sp>
        <p:nvSpPr>
          <p:cNvPr id="22" name="Text 19"/>
          <p:cNvSpPr/>
          <p:nvPr/>
        </p:nvSpPr>
        <p:spPr>
          <a:xfrm>
            <a:off x="320040" y="3410712"/>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23" name="Text 20"/>
          <p:cNvSpPr/>
          <p:nvPr/>
        </p:nvSpPr>
        <p:spPr>
          <a:xfrm>
            <a:off x="749808" y="3447288"/>
            <a:ext cx="3474720" cy="310896"/>
          </a:xfrm>
          <a:prstGeom prst="rect">
            <a:avLst/>
          </a:prstGeom>
          <a:noFill/>
          <a:ln/>
        </p:spPr>
        <p:txBody>
          <a:bodyPr wrap="square" lIns="25400" tIns="25400" rIns="25400" bIns="25400" rtlCol="0" anchor="ctr"/>
          <a:lstStyle/>
          <a:p>
            <a:pPr indent="0" marL="0">
              <a:buNone/>
            </a:pPr>
            <a:r>
              <a:rPr lang="en-US" sz="1100" dirty="0">
                <a:solidFill>
                  <a:srgbClr val="1E2D4E"/>
                </a:solidFill>
                <a:latin typeface="Calibri" pitchFamily="34" charset="0"/>
                <a:ea typeface="Calibri" pitchFamily="34" charset="-122"/>
                <a:cs typeface="Calibri" pitchFamily="34" charset="-120"/>
              </a:rPr>
              <a:t>Apply temperature scaling to logits</a:t>
            </a:r>
            <a:endParaRPr lang="en-US" sz="1100" dirty="0"/>
          </a:p>
        </p:txBody>
      </p:sp>
      <p:sp>
        <p:nvSpPr>
          <p:cNvPr id="24" name="Shape 21"/>
          <p:cNvSpPr/>
          <p:nvPr/>
        </p:nvSpPr>
        <p:spPr>
          <a:xfrm>
            <a:off x="320040" y="3886200"/>
            <a:ext cx="347472" cy="347472"/>
          </a:xfrm>
          <a:prstGeom prst="ellipse">
            <a:avLst/>
          </a:prstGeom>
          <a:solidFill>
            <a:srgbClr val="10B981"/>
          </a:solidFill>
          <a:ln w="12700">
            <a:solidFill>
              <a:srgbClr val="10B981"/>
            </a:solidFill>
            <a:prstDash val="solid"/>
          </a:ln>
        </p:spPr>
      </p:sp>
      <p:sp>
        <p:nvSpPr>
          <p:cNvPr id="25" name="Text 22"/>
          <p:cNvSpPr/>
          <p:nvPr/>
        </p:nvSpPr>
        <p:spPr>
          <a:xfrm>
            <a:off x="320040" y="3886200"/>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26" name="Text 23"/>
          <p:cNvSpPr/>
          <p:nvPr/>
        </p:nvSpPr>
        <p:spPr>
          <a:xfrm>
            <a:off x="749808" y="3922776"/>
            <a:ext cx="3474720" cy="310896"/>
          </a:xfrm>
          <a:prstGeom prst="rect">
            <a:avLst/>
          </a:prstGeom>
          <a:noFill/>
          <a:ln/>
        </p:spPr>
        <p:txBody>
          <a:bodyPr wrap="square" lIns="25400" tIns="25400" rIns="25400" bIns="25400" rtlCol="0" anchor="ctr"/>
          <a:lstStyle/>
          <a:p>
            <a:pPr indent="0" marL="0">
              <a:buNone/>
            </a:pPr>
            <a:r>
              <a:rPr lang="en-US" sz="1100" dirty="0">
                <a:solidFill>
                  <a:srgbClr val="1E2D4E"/>
                </a:solidFill>
                <a:latin typeface="Calibri" pitchFamily="34" charset="0"/>
                <a:ea typeface="Calibri" pitchFamily="34" charset="-122"/>
                <a:cs typeface="Calibri" pitchFamily="34" charset="-120"/>
              </a:rPr>
              <a:t>Sample via Top-K or Top-P (nucleus) sampling</a:t>
            </a:r>
            <a:endParaRPr lang="en-US" sz="1100" dirty="0"/>
          </a:p>
        </p:txBody>
      </p:sp>
      <p:sp>
        <p:nvSpPr>
          <p:cNvPr id="27" name="Shape 24"/>
          <p:cNvSpPr/>
          <p:nvPr/>
        </p:nvSpPr>
        <p:spPr>
          <a:xfrm>
            <a:off x="320040" y="4361688"/>
            <a:ext cx="347472" cy="347472"/>
          </a:xfrm>
          <a:prstGeom prst="ellipse">
            <a:avLst/>
          </a:prstGeom>
          <a:solidFill>
            <a:srgbClr val="EF4444"/>
          </a:solidFill>
          <a:ln w="12700">
            <a:solidFill>
              <a:srgbClr val="EF4444"/>
            </a:solidFill>
            <a:prstDash val="solid"/>
          </a:ln>
        </p:spPr>
      </p:sp>
      <p:sp>
        <p:nvSpPr>
          <p:cNvPr id="28" name="Text 25"/>
          <p:cNvSpPr/>
          <p:nvPr/>
        </p:nvSpPr>
        <p:spPr>
          <a:xfrm>
            <a:off x="320040" y="4361688"/>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7</a:t>
            </a:r>
            <a:endParaRPr lang="en-US" sz="1200" dirty="0"/>
          </a:p>
        </p:txBody>
      </p:sp>
      <p:sp>
        <p:nvSpPr>
          <p:cNvPr id="29" name="Text 26"/>
          <p:cNvSpPr/>
          <p:nvPr/>
        </p:nvSpPr>
        <p:spPr>
          <a:xfrm>
            <a:off x="749808" y="4398264"/>
            <a:ext cx="3474720" cy="310896"/>
          </a:xfrm>
          <a:prstGeom prst="rect">
            <a:avLst/>
          </a:prstGeom>
          <a:noFill/>
          <a:ln/>
        </p:spPr>
        <p:txBody>
          <a:bodyPr wrap="square" lIns="25400" tIns="25400" rIns="25400" bIns="25400" rtlCol="0" anchor="ctr"/>
          <a:lstStyle/>
          <a:p>
            <a:pPr indent="0" marL="0">
              <a:buNone/>
            </a:pPr>
            <a:r>
              <a:rPr lang="en-US" sz="1100" dirty="0">
                <a:solidFill>
                  <a:srgbClr val="1E2D4E"/>
                </a:solidFill>
                <a:latin typeface="Calibri" pitchFamily="34" charset="0"/>
                <a:ea typeface="Calibri" pitchFamily="34" charset="-122"/>
                <a:cs typeface="Calibri" pitchFamily="34" charset="-120"/>
              </a:rPr>
              <a:t>Decode new token, append, repeat until EOS</a:t>
            </a:r>
            <a:endParaRPr lang="en-US" sz="1100" dirty="0"/>
          </a:p>
        </p:txBody>
      </p:sp>
      <p:sp>
        <p:nvSpPr>
          <p:cNvPr id="30" name="Shape 27"/>
          <p:cNvSpPr/>
          <p:nvPr/>
        </p:nvSpPr>
        <p:spPr>
          <a:xfrm>
            <a:off x="4663440" y="1024128"/>
            <a:ext cx="4251960" cy="3749040"/>
          </a:xfrm>
          <a:prstGeom prst="rect">
            <a:avLst/>
          </a:prstGeom>
          <a:solidFill>
            <a:srgbClr val="FFFFFF"/>
          </a:solidFill>
          <a:ln w="19050">
            <a:solidFill>
              <a:srgbClr val="F59E0B"/>
            </a:solidFill>
            <a:prstDash val="solid"/>
          </a:ln>
          <a:effectLst>
            <a:outerShdw sx="100000" sy="100000" kx="0" ky="0" algn="bl" rotWithShape="0" blurRad="101600" dist="38100" dir="8100000">
              <a:srgbClr val="000000">
                <a:alpha val="20000"/>
              </a:srgbClr>
            </a:outerShdw>
          </a:effectLst>
        </p:spPr>
      </p:sp>
      <p:sp>
        <p:nvSpPr>
          <p:cNvPr id="31" name="Shape 28"/>
          <p:cNvSpPr/>
          <p:nvPr/>
        </p:nvSpPr>
        <p:spPr>
          <a:xfrm>
            <a:off x="4663440" y="1024128"/>
            <a:ext cx="4251960" cy="402336"/>
          </a:xfrm>
          <a:prstGeom prst="rect">
            <a:avLst/>
          </a:prstGeom>
          <a:solidFill>
            <a:srgbClr val="F59E0B"/>
          </a:solidFill>
          <a:ln w="12700">
            <a:solidFill>
              <a:srgbClr val="F59E0B"/>
            </a:solidFill>
            <a:prstDash val="solid"/>
          </a:ln>
        </p:spPr>
      </p:sp>
      <p:sp>
        <p:nvSpPr>
          <p:cNvPr id="32" name="Text 29"/>
          <p:cNvSpPr/>
          <p:nvPr/>
        </p:nvSpPr>
        <p:spPr>
          <a:xfrm>
            <a:off x="4709160" y="1042416"/>
            <a:ext cx="4160520" cy="365760"/>
          </a:xfrm>
          <a:prstGeom prst="rect">
            <a:avLst/>
          </a:prstGeom>
          <a:noFill/>
          <a:ln/>
        </p:spPr>
        <p:txBody>
          <a:bodyPr wrap="square" lIns="50800" tIns="50800" rIns="50800" bIns="50800" rtlCol="0" anchor="ctr"/>
          <a:lstStyle/>
          <a:p>
            <a:pPr indent="0" marL="0">
              <a:buNone/>
            </a:pPr>
            <a:r>
              <a:rPr lang="en-US" sz="1400" b="1" dirty="0">
                <a:solidFill>
                  <a:srgbClr val="080D1A"/>
                </a:solidFill>
                <a:latin typeface="Calibri" pitchFamily="34" charset="0"/>
                <a:ea typeface="Calibri" pitchFamily="34" charset="-122"/>
                <a:cs typeface="Calibri" pitchFamily="34" charset="-120"/>
              </a:rPr>
              <a:t>Sampling Parameters</a:t>
            </a:r>
            <a:endParaRPr lang="en-US" sz="1400" dirty="0"/>
          </a:p>
        </p:txBody>
      </p:sp>
      <p:sp>
        <p:nvSpPr>
          <p:cNvPr id="33" name="Shape 30"/>
          <p:cNvSpPr/>
          <p:nvPr/>
        </p:nvSpPr>
        <p:spPr>
          <a:xfrm>
            <a:off x="4754880" y="1508760"/>
            <a:ext cx="1188720" cy="329184"/>
          </a:xfrm>
          <a:prstGeom prst="rect">
            <a:avLst/>
          </a:prstGeom>
          <a:solidFill>
            <a:srgbClr val="F59E0B"/>
          </a:solidFill>
          <a:ln w="12700">
            <a:solidFill>
              <a:srgbClr val="F59E0B"/>
            </a:solidFill>
            <a:prstDash val="solid"/>
          </a:ln>
        </p:spPr>
      </p:sp>
      <p:sp>
        <p:nvSpPr>
          <p:cNvPr id="34" name="Text 31"/>
          <p:cNvSpPr/>
          <p:nvPr/>
        </p:nvSpPr>
        <p:spPr>
          <a:xfrm>
            <a:off x="4754880" y="1508760"/>
            <a:ext cx="1188720" cy="329184"/>
          </a:xfrm>
          <a:prstGeom prst="rect">
            <a:avLst/>
          </a:prstGeom>
          <a:noFill/>
          <a:ln/>
        </p:spPr>
        <p:txBody>
          <a:bodyPr wrap="square" lIns="0" tIns="0" rIns="0" bIns="0" rtlCol="0" anchor="ctr"/>
          <a:lstStyle/>
          <a:p>
            <a:pPr algn="ctr" indent="0" marL="0">
              <a:buNone/>
            </a:pPr>
            <a:r>
              <a:rPr lang="en-US" sz="850" b="1" dirty="0">
                <a:solidFill>
                  <a:srgbClr val="080D1A"/>
                </a:solidFill>
                <a:latin typeface="Calibri" pitchFamily="34" charset="0"/>
                <a:ea typeface="Calibri" pitchFamily="34" charset="-122"/>
                <a:cs typeface="Calibri" pitchFamily="34" charset="-120"/>
              </a:rPr>
              <a:t>Temperature</a:t>
            </a:r>
            <a:endParaRPr lang="en-US" sz="850" dirty="0"/>
          </a:p>
        </p:txBody>
      </p:sp>
      <p:sp>
        <p:nvSpPr>
          <p:cNvPr id="35" name="Shape 32"/>
          <p:cNvSpPr/>
          <p:nvPr/>
        </p:nvSpPr>
        <p:spPr>
          <a:xfrm>
            <a:off x="5989320" y="1508760"/>
            <a:ext cx="594360" cy="329184"/>
          </a:xfrm>
          <a:prstGeom prst="rect">
            <a:avLst/>
          </a:prstGeom>
          <a:solidFill>
            <a:srgbClr val="1A56DB"/>
          </a:solidFill>
          <a:ln w="12700">
            <a:solidFill>
              <a:srgbClr val="1A56DB"/>
            </a:solidFill>
            <a:prstDash val="solid"/>
          </a:ln>
        </p:spPr>
      </p:sp>
      <p:sp>
        <p:nvSpPr>
          <p:cNvPr id="36" name="Text 33"/>
          <p:cNvSpPr/>
          <p:nvPr/>
        </p:nvSpPr>
        <p:spPr>
          <a:xfrm>
            <a:off x="5989320" y="1508760"/>
            <a:ext cx="594360" cy="329184"/>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0.0–2.0</a:t>
            </a:r>
            <a:endParaRPr lang="en-US" sz="800" dirty="0"/>
          </a:p>
        </p:txBody>
      </p:sp>
      <p:sp>
        <p:nvSpPr>
          <p:cNvPr id="37" name="Text 34"/>
          <p:cNvSpPr/>
          <p:nvPr/>
        </p:nvSpPr>
        <p:spPr>
          <a:xfrm>
            <a:off x="6620256" y="1508760"/>
            <a:ext cx="2240280" cy="329184"/>
          </a:xfrm>
          <a:prstGeom prst="rect">
            <a:avLst/>
          </a:prstGeom>
          <a:noFill/>
          <a:ln/>
        </p:spPr>
        <p:txBody>
          <a:bodyPr wrap="square" lIns="25400" tIns="25400" rIns="25400" bIns="25400" rtlCol="0" anchor="ctr"/>
          <a:lstStyle/>
          <a:p>
            <a:pPr indent="0" marL="0">
              <a:buNone/>
            </a:pPr>
            <a:r>
              <a:rPr lang="en-US" sz="950" dirty="0">
                <a:solidFill>
                  <a:srgbClr val="1E2D4E"/>
                </a:solidFill>
                <a:latin typeface="Calibri" pitchFamily="34" charset="0"/>
                <a:ea typeface="Calibri" pitchFamily="34" charset="-122"/>
                <a:cs typeface="Calibri" pitchFamily="34" charset="-120"/>
              </a:rPr>
              <a:t>0 = deterministic greedy. &gt;1 = creative/random</a:t>
            </a:r>
            <a:endParaRPr lang="en-US" sz="950" dirty="0"/>
          </a:p>
        </p:txBody>
      </p:sp>
      <p:sp>
        <p:nvSpPr>
          <p:cNvPr id="38" name="Shape 35"/>
          <p:cNvSpPr/>
          <p:nvPr/>
        </p:nvSpPr>
        <p:spPr>
          <a:xfrm>
            <a:off x="4754880" y="2048256"/>
            <a:ext cx="1188720" cy="329184"/>
          </a:xfrm>
          <a:prstGeom prst="rect">
            <a:avLst/>
          </a:prstGeom>
          <a:solidFill>
            <a:srgbClr val="F59E0B"/>
          </a:solidFill>
          <a:ln w="12700">
            <a:solidFill>
              <a:srgbClr val="F59E0B"/>
            </a:solidFill>
            <a:prstDash val="solid"/>
          </a:ln>
        </p:spPr>
      </p:sp>
      <p:sp>
        <p:nvSpPr>
          <p:cNvPr id="39" name="Text 36"/>
          <p:cNvSpPr/>
          <p:nvPr/>
        </p:nvSpPr>
        <p:spPr>
          <a:xfrm>
            <a:off x="4754880" y="2048256"/>
            <a:ext cx="1188720" cy="329184"/>
          </a:xfrm>
          <a:prstGeom prst="rect">
            <a:avLst/>
          </a:prstGeom>
          <a:noFill/>
          <a:ln/>
        </p:spPr>
        <p:txBody>
          <a:bodyPr wrap="square" lIns="0" tIns="0" rIns="0" bIns="0" rtlCol="0" anchor="ctr"/>
          <a:lstStyle/>
          <a:p>
            <a:pPr algn="ctr" indent="0" marL="0">
              <a:buNone/>
            </a:pPr>
            <a:r>
              <a:rPr lang="en-US" sz="850" b="1" dirty="0">
                <a:solidFill>
                  <a:srgbClr val="080D1A"/>
                </a:solidFill>
                <a:latin typeface="Calibri" pitchFamily="34" charset="0"/>
                <a:ea typeface="Calibri" pitchFamily="34" charset="-122"/>
                <a:cs typeface="Calibri" pitchFamily="34" charset="-120"/>
              </a:rPr>
              <a:t>Top-K</a:t>
            </a:r>
            <a:endParaRPr lang="en-US" sz="850" dirty="0"/>
          </a:p>
        </p:txBody>
      </p:sp>
      <p:sp>
        <p:nvSpPr>
          <p:cNvPr id="40" name="Shape 37"/>
          <p:cNvSpPr/>
          <p:nvPr/>
        </p:nvSpPr>
        <p:spPr>
          <a:xfrm>
            <a:off x="5989320" y="2048256"/>
            <a:ext cx="594360" cy="329184"/>
          </a:xfrm>
          <a:prstGeom prst="rect">
            <a:avLst/>
          </a:prstGeom>
          <a:solidFill>
            <a:srgbClr val="1A56DB"/>
          </a:solidFill>
          <a:ln w="12700">
            <a:solidFill>
              <a:srgbClr val="1A56DB"/>
            </a:solidFill>
            <a:prstDash val="solid"/>
          </a:ln>
        </p:spPr>
      </p:sp>
      <p:sp>
        <p:nvSpPr>
          <p:cNvPr id="41" name="Text 38"/>
          <p:cNvSpPr/>
          <p:nvPr/>
        </p:nvSpPr>
        <p:spPr>
          <a:xfrm>
            <a:off x="5989320" y="2048256"/>
            <a:ext cx="594360" cy="329184"/>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K tokens</a:t>
            </a:r>
            <a:endParaRPr lang="en-US" sz="800" dirty="0"/>
          </a:p>
        </p:txBody>
      </p:sp>
      <p:sp>
        <p:nvSpPr>
          <p:cNvPr id="42" name="Text 39"/>
          <p:cNvSpPr/>
          <p:nvPr/>
        </p:nvSpPr>
        <p:spPr>
          <a:xfrm>
            <a:off x="6620256" y="2048256"/>
            <a:ext cx="2240280" cy="329184"/>
          </a:xfrm>
          <a:prstGeom prst="rect">
            <a:avLst/>
          </a:prstGeom>
          <a:noFill/>
          <a:ln/>
        </p:spPr>
        <p:txBody>
          <a:bodyPr wrap="square" lIns="25400" tIns="25400" rIns="25400" bIns="25400" rtlCol="0" anchor="ctr"/>
          <a:lstStyle/>
          <a:p>
            <a:pPr indent="0" marL="0">
              <a:buNone/>
            </a:pPr>
            <a:r>
              <a:rPr lang="en-US" sz="950" dirty="0">
                <a:solidFill>
                  <a:srgbClr val="1E2D4E"/>
                </a:solidFill>
                <a:latin typeface="Calibri" pitchFamily="34" charset="0"/>
                <a:ea typeface="Calibri" pitchFamily="34" charset="-122"/>
                <a:cs typeface="Calibri" pitchFamily="34" charset="-120"/>
              </a:rPr>
              <a:t>Only sample from top K most likely tokens</a:t>
            </a:r>
            <a:endParaRPr lang="en-US" sz="950" dirty="0"/>
          </a:p>
        </p:txBody>
      </p:sp>
      <p:sp>
        <p:nvSpPr>
          <p:cNvPr id="43" name="Shape 40"/>
          <p:cNvSpPr/>
          <p:nvPr/>
        </p:nvSpPr>
        <p:spPr>
          <a:xfrm>
            <a:off x="4754880" y="2587752"/>
            <a:ext cx="1188720" cy="329184"/>
          </a:xfrm>
          <a:prstGeom prst="rect">
            <a:avLst/>
          </a:prstGeom>
          <a:solidFill>
            <a:srgbClr val="F59E0B"/>
          </a:solidFill>
          <a:ln w="12700">
            <a:solidFill>
              <a:srgbClr val="F59E0B"/>
            </a:solidFill>
            <a:prstDash val="solid"/>
          </a:ln>
        </p:spPr>
      </p:sp>
      <p:sp>
        <p:nvSpPr>
          <p:cNvPr id="44" name="Text 41"/>
          <p:cNvSpPr/>
          <p:nvPr/>
        </p:nvSpPr>
        <p:spPr>
          <a:xfrm>
            <a:off x="4754880" y="2587752"/>
            <a:ext cx="1188720" cy="329184"/>
          </a:xfrm>
          <a:prstGeom prst="rect">
            <a:avLst/>
          </a:prstGeom>
          <a:noFill/>
          <a:ln/>
        </p:spPr>
        <p:txBody>
          <a:bodyPr wrap="square" lIns="0" tIns="0" rIns="0" bIns="0" rtlCol="0" anchor="ctr"/>
          <a:lstStyle/>
          <a:p>
            <a:pPr algn="ctr" indent="0" marL="0">
              <a:buNone/>
            </a:pPr>
            <a:r>
              <a:rPr lang="en-US" sz="850" b="1" dirty="0">
                <a:solidFill>
                  <a:srgbClr val="080D1A"/>
                </a:solidFill>
                <a:latin typeface="Calibri" pitchFamily="34" charset="0"/>
                <a:ea typeface="Calibri" pitchFamily="34" charset="-122"/>
                <a:cs typeface="Calibri" pitchFamily="34" charset="-120"/>
              </a:rPr>
              <a:t>Top-P</a:t>
            </a:r>
            <a:endParaRPr lang="en-US" sz="850" dirty="0"/>
          </a:p>
        </p:txBody>
      </p:sp>
      <p:sp>
        <p:nvSpPr>
          <p:cNvPr id="45" name="Shape 42"/>
          <p:cNvSpPr/>
          <p:nvPr/>
        </p:nvSpPr>
        <p:spPr>
          <a:xfrm>
            <a:off x="5989320" y="2587752"/>
            <a:ext cx="594360" cy="329184"/>
          </a:xfrm>
          <a:prstGeom prst="rect">
            <a:avLst/>
          </a:prstGeom>
          <a:solidFill>
            <a:srgbClr val="1A56DB"/>
          </a:solidFill>
          <a:ln w="12700">
            <a:solidFill>
              <a:srgbClr val="1A56DB"/>
            </a:solidFill>
            <a:prstDash val="solid"/>
          </a:ln>
        </p:spPr>
      </p:sp>
      <p:sp>
        <p:nvSpPr>
          <p:cNvPr id="46" name="Text 43"/>
          <p:cNvSpPr/>
          <p:nvPr/>
        </p:nvSpPr>
        <p:spPr>
          <a:xfrm>
            <a:off x="5989320" y="2587752"/>
            <a:ext cx="594360" cy="329184"/>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0.0–1.0</a:t>
            </a:r>
            <a:endParaRPr lang="en-US" sz="800" dirty="0"/>
          </a:p>
        </p:txBody>
      </p:sp>
      <p:sp>
        <p:nvSpPr>
          <p:cNvPr id="47" name="Text 44"/>
          <p:cNvSpPr/>
          <p:nvPr/>
        </p:nvSpPr>
        <p:spPr>
          <a:xfrm>
            <a:off x="6620256" y="2587752"/>
            <a:ext cx="2240280" cy="329184"/>
          </a:xfrm>
          <a:prstGeom prst="rect">
            <a:avLst/>
          </a:prstGeom>
          <a:noFill/>
          <a:ln/>
        </p:spPr>
        <p:txBody>
          <a:bodyPr wrap="square" lIns="25400" tIns="25400" rIns="25400" bIns="25400" rtlCol="0" anchor="ctr"/>
          <a:lstStyle/>
          <a:p>
            <a:pPr indent="0" marL="0">
              <a:buNone/>
            </a:pPr>
            <a:r>
              <a:rPr lang="en-US" sz="950" dirty="0">
                <a:solidFill>
                  <a:srgbClr val="1E2D4E"/>
                </a:solidFill>
                <a:latin typeface="Calibri" pitchFamily="34" charset="0"/>
                <a:ea typeface="Calibri" pitchFamily="34" charset="-122"/>
                <a:cs typeface="Calibri" pitchFamily="34" charset="-120"/>
              </a:rPr>
              <a:t>Nucleus sampling: cumulative probability cutoff</a:t>
            </a:r>
            <a:endParaRPr lang="en-US" sz="950" dirty="0"/>
          </a:p>
        </p:txBody>
      </p:sp>
      <p:sp>
        <p:nvSpPr>
          <p:cNvPr id="48" name="Shape 45"/>
          <p:cNvSpPr/>
          <p:nvPr/>
        </p:nvSpPr>
        <p:spPr>
          <a:xfrm>
            <a:off x="4754880" y="3127248"/>
            <a:ext cx="1188720" cy="329184"/>
          </a:xfrm>
          <a:prstGeom prst="rect">
            <a:avLst/>
          </a:prstGeom>
          <a:solidFill>
            <a:srgbClr val="F59E0B"/>
          </a:solidFill>
          <a:ln w="12700">
            <a:solidFill>
              <a:srgbClr val="F59E0B"/>
            </a:solidFill>
            <a:prstDash val="solid"/>
          </a:ln>
        </p:spPr>
      </p:sp>
      <p:sp>
        <p:nvSpPr>
          <p:cNvPr id="49" name="Text 46"/>
          <p:cNvSpPr/>
          <p:nvPr/>
        </p:nvSpPr>
        <p:spPr>
          <a:xfrm>
            <a:off x="4754880" y="3127248"/>
            <a:ext cx="1188720" cy="329184"/>
          </a:xfrm>
          <a:prstGeom prst="rect">
            <a:avLst/>
          </a:prstGeom>
          <a:noFill/>
          <a:ln/>
        </p:spPr>
        <p:txBody>
          <a:bodyPr wrap="square" lIns="0" tIns="0" rIns="0" bIns="0" rtlCol="0" anchor="ctr"/>
          <a:lstStyle/>
          <a:p>
            <a:pPr algn="ctr" indent="0" marL="0">
              <a:buNone/>
            </a:pPr>
            <a:r>
              <a:rPr lang="en-US" sz="850" b="1" dirty="0">
                <a:solidFill>
                  <a:srgbClr val="080D1A"/>
                </a:solidFill>
                <a:latin typeface="Calibri" pitchFamily="34" charset="0"/>
                <a:ea typeface="Calibri" pitchFamily="34" charset="-122"/>
                <a:cs typeface="Calibri" pitchFamily="34" charset="-120"/>
              </a:rPr>
              <a:t>Max Tokens</a:t>
            </a:r>
            <a:endParaRPr lang="en-US" sz="850" dirty="0"/>
          </a:p>
        </p:txBody>
      </p:sp>
      <p:sp>
        <p:nvSpPr>
          <p:cNvPr id="50" name="Shape 47"/>
          <p:cNvSpPr/>
          <p:nvPr/>
        </p:nvSpPr>
        <p:spPr>
          <a:xfrm>
            <a:off x="5989320" y="3127248"/>
            <a:ext cx="594360" cy="329184"/>
          </a:xfrm>
          <a:prstGeom prst="rect">
            <a:avLst/>
          </a:prstGeom>
          <a:solidFill>
            <a:srgbClr val="1A56DB"/>
          </a:solidFill>
          <a:ln w="12700">
            <a:solidFill>
              <a:srgbClr val="1A56DB"/>
            </a:solidFill>
            <a:prstDash val="solid"/>
          </a:ln>
        </p:spPr>
      </p:sp>
      <p:sp>
        <p:nvSpPr>
          <p:cNvPr id="51" name="Text 48"/>
          <p:cNvSpPr/>
          <p:nvPr/>
        </p:nvSpPr>
        <p:spPr>
          <a:xfrm>
            <a:off x="5989320" y="3127248"/>
            <a:ext cx="594360" cy="329184"/>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1–128K</a:t>
            </a:r>
            <a:endParaRPr lang="en-US" sz="800" dirty="0"/>
          </a:p>
        </p:txBody>
      </p:sp>
      <p:sp>
        <p:nvSpPr>
          <p:cNvPr id="52" name="Text 49"/>
          <p:cNvSpPr/>
          <p:nvPr/>
        </p:nvSpPr>
        <p:spPr>
          <a:xfrm>
            <a:off x="6620256" y="3127248"/>
            <a:ext cx="2240280" cy="329184"/>
          </a:xfrm>
          <a:prstGeom prst="rect">
            <a:avLst/>
          </a:prstGeom>
          <a:noFill/>
          <a:ln/>
        </p:spPr>
        <p:txBody>
          <a:bodyPr wrap="square" lIns="25400" tIns="25400" rIns="25400" bIns="25400" rtlCol="0" anchor="ctr"/>
          <a:lstStyle/>
          <a:p>
            <a:pPr indent="0" marL="0">
              <a:buNone/>
            </a:pPr>
            <a:r>
              <a:rPr lang="en-US" sz="950" dirty="0">
                <a:solidFill>
                  <a:srgbClr val="1E2D4E"/>
                </a:solidFill>
                <a:latin typeface="Calibri" pitchFamily="34" charset="0"/>
                <a:ea typeface="Calibri" pitchFamily="34" charset="-122"/>
                <a:cs typeface="Calibri" pitchFamily="34" charset="-120"/>
              </a:rPr>
              <a:t>Maximum output length in tokens</a:t>
            </a:r>
            <a:endParaRPr lang="en-US" sz="950" dirty="0"/>
          </a:p>
        </p:txBody>
      </p:sp>
      <p:sp>
        <p:nvSpPr>
          <p:cNvPr id="53" name="Shape 50"/>
          <p:cNvSpPr/>
          <p:nvPr/>
        </p:nvSpPr>
        <p:spPr>
          <a:xfrm>
            <a:off x="4754880" y="3666744"/>
            <a:ext cx="1188720" cy="329184"/>
          </a:xfrm>
          <a:prstGeom prst="rect">
            <a:avLst/>
          </a:prstGeom>
          <a:solidFill>
            <a:srgbClr val="F59E0B"/>
          </a:solidFill>
          <a:ln w="12700">
            <a:solidFill>
              <a:srgbClr val="F59E0B"/>
            </a:solidFill>
            <a:prstDash val="solid"/>
          </a:ln>
        </p:spPr>
      </p:sp>
      <p:sp>
        <p:nvSpPr>
          <p:cNvPr id="54" name="Text 51"/>
          <p:cNvSpPr/>
          <p:nvPr/>
        </p:nvSpPr>
        <p:spPr>
          <a:xfrm>
            <a:off x="4754880" y="3666744"/>
            <a:ext cx="1188720" cy="329184"/>
          </a:xfrm>
          <a:prstGeom prst="rect">
            <a:avLst/>
          </a:prstGeom>
          <a:noFill/>
          <a:ln/>
        </p:spPr>
        <p:txBody>
          <a:bodyPr wrap="square" lIns="0" tIns="0" rIns="0" bIns="0" rtlCol="0" anchor="ctr"/>
          <a:lstStyle/>
          <a:p>
            <a:pPr algn="ctr" indent="0" marL="0">
              <a:buNone/>
            </a:pPr>
            <a:r>
              <a:rPr lang="en-US" sz="850" b="1" dirty="0">
                <a:solidFill>
                  <a:srgbClr val="080D1A"/>
                </a:solidFill>
                <a:latin typeface="Calibri" pitchFamily="34" charset="0"/>
                <a:ea typeface="Calibri" pitchFamily="34" charset="-122"/>
                <a:cs typeface="Calibri" pitchFamily="34" charset="-120"/>
              </a:rPr>
              <a:t>Frequency Pen.</a:t>
            </a:r>
            <a:endParaRPr lang="en-US" sz="850" dirty="0"/>
          </a:p>
        </p:txBody>
      </p:sp>
      <p:sp>
        <p:nvSpPr>
          <p:cNvPr id="55" name="Shape 52"/>
          <p:cNvSpPr/>
          <p:nvPr/>
        </p:nvSpPr>
        <p:spPr>
          <a:xfrm>
            <a:off x="5989320" y="3666744"/>
            <a:ext cx="594360" cy="329184"/>
          </a:xfrm>
          <a:prstGeom prst="rect">
            <a:avLst/>
          </a:prstGeom>
          <a:solidFill>
            <a:srgbClr val="1A56DB"/>
          </a:solidFill>
          <a:ln w="12700">
            <a:solidFill>
              <a:srgbClr val="1A56DB"/>
            </a:solidFill>
            <a:prstDash val="solid"/>
          </a:ln>
        </p:spPr>
      </p:sp>
      <p:sp>
        <p:nvSpPr>
          <p:cNvPr id="56" name="Text 53"/>
          <p:cNvSpPr/>
          <p:nvPr/>
        </p:nvSpPr>
        <p:spPr>
          <a:xfrm>
            <a:off x="5989320" y="3666744"/>
            <a:ext cx="594360" cy="329184"/>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-2 to 2</a:t>
            </a:r>
            <a:endParaRPr lang="en-US" sz="800" dirty="0"/>
          </a:p>
        </p:txBody>
      </p:sp>
      <p:sp>
        <p:nvSpPr>
          <p:cNvPr id="57" name="Text 54"/>
          <p:cNvSpPr/>
          <p:nvPr/>
        </p:nvSpPr>
        <p:spPr>
          <a:xfrm>
            <a:off x="6620256" y="3666744"/>
            <a:ext cx="2240280" cy="329184"/>
          </a:xfrm>
          <a:prstGeom prst="rect">
            <a:avLst/>
          </a:prstGeom>
          <a:noFill/>
          <a:ln/>
        </p:spPr>
        <p:txBody>
          <a:bodyPr wrap="square" lIns="25400" tIns="25400" rIns="25400" bIns="25400" rtlCol="0" anchor="ctr"/>
          <a:lstStyle/>
          <a:p>
            <a:pPr indent="0" marL="0">
              <a:buNone/>
            </a:pPr>
            <a:r>
              <a:rPr lang="en-US" sz="950" dirty="0">
                <a:solidFill>
                  <a:srgbClr val="1E2D4E"/>
                </a:solidFill>
                <a:latin typeface="Calibri" pitchFamily="34" charset="0"/>
                <a:ea typeface="Calibri" pitchFamily="34" charset="-122"/>
                <a:cs typeface="Calibri" pitchFamily="34" charset="-120"/>
              </a:rPr>
              <a:t>Penalizes repeated tokens to reduce loops</a:t>
            </a:r>
            <a:endParaRPr lang="en-US" sz="950" dirty="0"/>
          </a:p>
        </p:txBody>
      </p:sp>
      <p:sp>
        <p:nvSpPr>
          <p:cNvPr id="58" name="Shape 55"/>
          <p:cNvSpPr/>
          <p:nvPr/>
        </p:nvSpPr>
        <p:spPr>
          <a:xfrm>
            <a:off x="4754880" y="4206240"/>
            <a:ext cx="1188720" cy="329184"/>
          </a:xfrm>
          <a:prstGeom prst="rect">
            <a:avLst/>
          </a:prstGeom>
          <a:solidFill>
            <a:srgbClr val="F59E0B"/>
          </a:solidFill>
          <a:ln w="12700">
            <a:solidFill>
              <a:srgbClr val="F59E0B"/>
            </a:solidFill>
            <a:prstDash val="solid"/>
          </a:ln>
        </p:spPr>
      </p:sp>
      <p:sp>
        <p:nvSpPr>
          <p:cNvPr id="59" name="Text 56"/>
          <p:cNvSpPr/>
          <p:nvPr/>
        </p:nvSpPr>
        <p:spPr>
          <a:xfrm>
            <a:off x="4754880" y="4206240"/>
            <a:ext cx="1188720" cy="329184"/>
          </a:xfrm>
          <a:prstGeom prst="rect">
            <a:avLst/>
          </a:prstGeom>
          <a:noFill/>
          <a:ln/>
        </p:spPr>
        <p:txBody>
          <a:bodyPr wrap="square" lIns="0" tIns="0" rIns="0" bIns="0" rtlCol="0" anchor="ctr"/>
          <a:lstStyle/>
          <a:p>
            <a:pPr algn="ctr" indent="0" marL="0">
              <a:buNone/>
            </a:pPr>
            <a:r>
              <a:rPr lang="en-US" sz="850" b="1" dirty="0">
                <a:solidFill>
                  <a:srgbClr val="080D1A"/>
                </a:solidFill>
                <a:latin typeface="Calibri" pitchFamily="34" charset="0"/>
                <a:ea typeface="Calibri" pitchFamily="34" charset="-122"/>
                <a:cs typeface="Calibri" pitchFamily="34" charset="-120"/>
              </a:rPr>
              <a:t>Stop Sequences</a:t>
            </a:r>
            <a:endParaRPr lang="en-US" sz="850" dirty="0"/>
          </a:p>
        </p:txBody>
      </p:sp>
      <p:sp>
        <p:nvSpPr>
          <p:cNvPr id="60" name="Shape 57"/>
          <p:cNvSpPr/>
          <p:nvPr/>
        </p:nvSpPr>
        <p:spPr>
          <a:xfrm>
            <a:off x="5989320" y="4206240"/>
            <a:ext cx="594360" cy="329184"/>
          </a:xfrm>
          <a:prstGeom prst="rect">
            <a:avLst/>
          </a:prstGeom>
          <a:solidFill>
            <a:srgbClr val="1A56DB"/>
          </a:solidFill>
          <a:ln w="12700">
            <a:solidFill>
              <a:srgbClr val="1A56DB"/>
            </a:solidFill>
            <a:prstDash val="solid"/>
          </a:ln>
        </p:spPr>
      </p:sp>
      <p:sp>
        <p:nvSpPr>
          <p:cNvPr id="61" name="Text 58"/>
          <p:cNvSpPr/>
          <p:nvPr/>
        </p:nvSpPr>
        <p:spPr>
          <a:xfrm>
            <a:off x="5989320" y="4206240"/>
            <a:ext cx="594360" cy="329184"/>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Strings</a:t>
            </a:r>
            <a:endParaRPr lang="en-US" sz="800" dirty="0"/>
          </a:p>
        </p:txBody>
      </p:sp>
      <p:sp>
        <p:nvSpPr>
          <p:cNvPr id="62" name="Text 59"/>
          <p:cNvSpPr/>
          <p:nvPr/>
        </p:nvSpPr>
        <p:spPr>
          <a:xfrm>
            <a:off x="6620256" y="4206240"/>
            <a:ext cx="2240280" cy="329184"/>
          </a:xfrm>
          <a:prstGeom prst="rect">
            <a:avLst/>
          </a:prstGeom>
          <a:noFill/>
          <a:ln/>
        </p:spPr>
        <p:txBody>
          <a:bodyPr wrap="square" lIns="25400" tIns="25400" rIns="25400" bIns="25400" rtlCol="0" anchor="ctr"/>
          <a:lstStyle/>
          <a:p>
            <a:pPr indent="0" marL="0">
              <a:buNone/>
            </a:pPr>
            <a:r>
              <a:rPr lang="en-US" sz="950" dirty="0">
                <a:solidFill>
                  <a:srgbClr val="1E2D4E"/>
                </a:solidFill>
                <a:latin typeface="Calibri" pitchFamily="34" charset="0"/>
                <a:ea typeface="Calibri" pitchFamily="34" charset="-122"/>
                <a:cs typeface="Calibri" pitchFamily="34" charset="-120"/>
              </a:rPr>
              <a:t>Halt generation at specific patterns</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80D1A"/>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41E35"/>
          </a:solidFill>
          <a:ln w="12700">
            <a:solidFill>
              <a:srgbClr val="141E35"/>
            </a:solidFill>
            <a:prstDash val="solid"/>
          </a:ln>
        </p:spPr>
      </p:sp>
      <p:sp>
        <p:nvSpPr>
          <p:cNvPr id="3" name="Shape 1"/>
          <p:cNvSpPr/>
          <p:nvPr/>
        </p:nvSpPr>
        <p:spPr>
          <a:xfrm>
            <a:off x="0" y="914400"/>
            <a:ext cx="9144000" cy="45720"/>
          </a:xfrm>
          <a:prstGeom prst="rect">
            <a:avLst/>
          </a:prstGeom>
          <a:solidFill>
            <a:srgbClr val="10B981"/>
          </a:solidFill>
          <a:ln w="12700">
            <a:solidFill>
              <a:srgbClr val="10B981"/>
            </a:solidFill>
            <a:prstDash val="solid"/>
          </a:ln>
        </p:spPr>
      </p:sp>
      <p:pic>
        <p:nvPicPr>
          <p:cNvPr id="4" name="Image 0" descr="preencoded.png">    </p:cNvPr>
          <p:cNvPicPr>
            <a:picLocks noChangeAspect="1"/>
          </p:cNvPicPr>
          <p:nvPr/>
        </p:nvPicPr>
        <p:blipFill>
          <a:blip r:embed="rId1"/>
          <a:stretch>
            <a:fillRect/>
          </a:stretch>
        </p:blipFill>
        <p:spPr>
          <a:xfrm>
            <a:off x="228600" y="182880"/>
            <a:ext cx="502920" cy="502920"/>
          </a:xfrm>
          <a:prstGeom prst="rect">
            <a:avLst/>
          </a:prstGeom>
        </p:spPr>
      </p:pic>
      <p:sp>
        <p:nvSpPr>
          <p:cNvPr id="5" name="Text 2"/>
          <p:cNvSpPr/>
          <p:nvPr/>
        </p:nvSpPr>
        <p:spPr>
          <a:xfrm>
            <a:off x="822960" y="137160"/>
            <a:ext cx="8046720" cy="68580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RAG, Tool Use &amp; Agentic LLMs</a:t>
            </a:r>
            <a:endParaRPr lang="en-US" sz="2600" dirty="0"/>
          </a:p>
        </p:txBody>
      </p:sp>
      <p:sp>
        <p:nvSpPr>
          <p:cNvPr id="6" name="Shape 3"/>
          <p:cNvSpPr/>
          <p:nvPr/>
        </p:nvSpPr>
        <p:spPr>
          <a:xfrm>
            <a:off x="228600" y="1024128"/>
            <a:ext cx="4114800" cy="3840480"/>
          </a:xfrm>
          <a:prstGeom prst="rect">
            <a:avLst/>
          </a:prstGeom>
          <a:solidFill>
            <a:srgbClr val="141E35"/>
          </a:solidFill>
          <a:ln w="19050">
            <a:solidFill>
              <a:srgbClr val="10B981"/>
            </a:solidFill>
            <a:prstDash val="solid"/>
          </a:ln>
          <a:effectLst>
            <a:outerShdw sx="100000" sy="100000" kx="0" ky="0" algn="bl" rotWithShape="0" blurRad="101600" dist="38100" dir="8100000">
              <a:srgbClr val="000000">
                <a:alpha val="20000"/>
              </a:srgbClr>
            </a:outerShdw>
          </a:effectLst>
        </p:spPr>
      </p:sp>
      <p:sp>
        <p:nvSpPr>
          <p:cNvPr id="7" name="Shape 4"/>
          <p:cNvSpPr/>
          <p:nvPr/>
        </p:nvSpPr>
        <p:spPr>
          <a:xfrm>
            <a:off x="228600" y="1024128"/>
            <a:ext cx="4114800" cy="402336"/>
          </a:xfrm>
          <a:prstGeom prst="rect">
            <a:avLst/>
          </a:prstGeom>
          <a:solidFill>
            <a:srgbClr val="10B981"/>
          </a:solidFill>
          <a:ln w="12700">
            <a:solidFill>
              <a:srgbClr val="10B981"/>
            </a:solidFill>
            <a:prstDash val="solid"/>
          </a:ln>
        </p:spPr>
      </p:sp>
      <p:sp>
        <p:nvSpPr>
          <p:cNvPr id="8" name="Text 5"/>
          <p:cNvSpPr/>
          <p:nvPr/>
        </p:nvSpPr>
        <p:spPr>
          <a:xfrm>
            <a:off x="274320" y="1042416"/>
            <a:ext cx="4023360" cy="365760"/>
          </a:xfrm>
          <a:prstGeom prst="rect">
            <a:avLst/>
          </a:prstGeom>
          <a:noFill/>
          <a:ln/>
        </p:spPr>
        <p:txBody>
          <a:bodyPr wrap="square" lIns="50800" tIns="50800" rIns="50800" bIns="5080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  RAG — Retrieval Augmented Generation</a:t>
            </a:r>
            <a:endParaRPr lang="en-US" sz="1200" dirty="0"/>
          </a:p>
        </p:txBody>
      </p:sp>
      <p:sp>
        <p:nvSpPr>
          <p:cNvPr id="9" name="Text 6"/>
          <p:cNvSpPr/>
          <p:nvPr/>
        </p:nvSpPr>
        <p:spPr>
          <a:xfrm>
            <a:off x="320040" y="1481328"/>
            <a:ext cx="3931920" cy="3291840"/>
          </a:xfrm>
          <a:prstGeom prst="rect">
            <a:avLst/>
          </a:prstGeom>
          <a:noFill/>
          <a:ln/>
        </p:spPr>
        <p:txBody>
          <a:bodyPr wrap="square" lIns="76200" tIns="76200" rIns="76200" bIns="76200" rtlCol="0" anchor="ctr"/>
          <a:lstStyle/>
          <a:p>
            <a:pPr marL="342900" indent="-342900">
              <a:spcAft>
                <a:spcPts val="700"/>
              </a:spcAft>
              <a:buSzPct val="100000"/>
              <a:buChar char="•"/>
            </a:pPr>
            <a:r>
              <a:rPr lang="en-US" sz="1100" dirty="0">
                <a:solidFill>
                  <a:srgbClr val="E8F0FE"/>
                </a:solidFill>
                <a:latin typeface="Calibri" pitchFamily="34" charset="0"/>
                <a:ea typeface="Calibri" pitchFamily="34" charset="-122"/>
                <a:cs typeface="Calibri" pitchFamily="34" charset="-120"/>
              </a:rPr>
              <a:t>User query → embedding vector generated</a:t>
            </a:r>
            <a:endParaRPr lang="en-US" sz="1100" dirty="0"/>
          </a:p>
          <a:p>
            <a:pPr marL="342900" indent="-342900">
              <a:spcAft>
                <a:spcPts val="700"/>
              </a:spcAft>
              <a:buSzPct val="100000"/>
              <a:buChar char="•"/>
            </a:pPr>
            <a:r>
              <a:rPr lang="en-US" sz="1100" dirty="0">
                <a:solidFill>
                  <a:srgbClr val="E8F0FE"/>
                </a:solidFill>
                <a:latin typeface="Calibri" pitchFamily="34" charset="0"/>
                <a:ea typeface="Calibri" pitchFamily="34" charset="-122"/>
                <a:cs typeface="Calibri" pitchFamily="34" charset="-120"/>
              </a:rPr>
              <a:t>Vector DB search (Pinecone, Weaviate, Chroma)</a:t>
            </a:r>
            <a:endParaRPr lang="en-US" sz="1100" dirty="0"/>
          </a:p>
          <a:p>
            <a:pPr marL="342900" indent="-342900">
              <a:spcAft>
                <a:spcPts val="700"/>
              </a:spcAft>
              <a:buSzPct val="100000"/>
              <a:buChar char="•"/>
            </a:pPr>
            <a:r>
              <a:rPr lang="en-US" sz="1100" dirty="0">
                <a:solidFill>
                  <a:srgbClr val="E8F0FE"/>
                </a:solidFill>
                <a:latin typeface="Calibri" pitchFamily="34" charset="0"/>
                <a:ea typeface="Calibri" pitchFamily="34" charset="-122"/>
                <a:cs typeface="Calibri" pitchFamily="34" charset="-120"/>
              </a:rPr>
              <a:t>Top-K relevant chunks retrieved</a:t>
            </a:r>
            <a:endParaRPr lang="en-US" sz="1100" dirty="0"/>
          </a:p>
          <a:p>
            <a:pPr marL="342900" indent="-342900">
              <a:spcAft>
                <a:spcPts val="700"/>
              </a:spcAft>
              <a:buSzPct val="100000"/>
              <a:buChar char="•"/>
            </a:pPr>
            <a:r>
              <a:rPr lang="en-US" sz="1100" dirty="0">
                <a:solidFill>
                  <a:srgbClr val="E8F0FE"/>
                </a:solidFill>
                <a:latin typeface="Calibri" pitchFamily="34" charset="0"/>
                <a:ea typeface="Calibri" pitchFamily="34" charset="-122"/>
                <a:cs typeface="Calibri" pitchFamily="34" charset="-120"/>
              </a:rPr>
              <a:t>Chunks injected into LLM context window</a:t>
            </a:r>
            <a:endParaRPr lang="en-US" sz="1100" dirty="0"/>
          </a:p>
          <a:p>
            <a:pPr marL="342900" indent="-342900">
              <a:spcAft>
                <a:spcPts val="700"/>
              </a:spcAft>
              <a:buSzPct val="100000"/>
              <a:buChar char="•"/>
            </a:pPr>
            <a:r>
              <a:rPr lang="en-US" sz="1100" dirty="0">
                <a:solidFill>
                  <a:srgbClr val="E8F0FE"/>
                </a:solidFill>
                <a:latin typeface="Calibri" pitchFamily="34" charset="0"/>
                <a:ea typeface="Calibri" pitchFamily="34" charset="-122"/>
                <a:cs typeface="Calibri" pitchFamily="34" charset="-120"/>
              </a:rPr>
              <a:t>LLM generates grounded, cited response</a:t>
            </a:r>
            <a:endParaRPr lang="en-US" sz="1100" dirty="0"/>
          </a:p>
          <a:p>
            <a:pPr indent="0" marL="0">
              <a:spcAft>
                <a:spcPts val="700"/>
              </a:spcAft>
              <a:buNone/>
            </a:pPr>
            <a:r>
              <a:rPr lang="en-US" sz="1100" dirty="0">
                <a:solidFill>
                  <a:srgbClr val="E8F0FE"/>
                </a:solidFill>
                <a:latin typeface="Calibri" pitchFamily="34" charset="0"/>
                <a:ea typeface="Calibri" pitchFamily="34" charset="-122"/>
                <a:cs typeface="Calibri" pitchFamily="34" charset="-120"/>
              </a:rPr>
              <a:t>✅  Reduces hallucinations significantly</a:t>
            </a:r>
            <a:endParaRPr lang="en-US" sz="1100" dirty="0"/>
          </a:p>
          <a:p>
            <a:pPr indent="0" marL="0">
              <a:spcAft>
                <a:spcPts val="700"/>
              </a:spcAft>
              <a:buNone/>
            </a:pPr>
            <a:r>
              <a:rPr lang="en-US" sz="1100" dirty="0">
                <a:solidFill>
                  <a:srgbClr val="E8F0FE"/>
                </a:solidFill>
                <a:latin typeface="Calibri" pitchFamily="34" charset="0"/>
                <a:ea typeface="Calibri" pitchFamily="34" charset="-122"/>
                <a:cs typeface="Calibri" pitchFamily="34" charset="-120"/>
              </a:rPr>
              <a:t>✅  Knowledge stays current without retraining</a:t>
            </a:r>
            <a:endParaRPr lang="en-US" sz="1100" dirty="0"/>
          </a:p>
        </p:txBody>
      </p:sp>
      <p:sp>
        <p:nvSpPr>
          <p:cNvPr id="10" name="Shape 7"/>
          <p:cNvSpPr/>
          <p:nvPr/>
        </p:nvSpPr>
        <p:spPr>
          <a:xfrm>
            <a:off x="4663440" y="1024128"/>
            <a:ext cx="4251960" cy="3840480"/>
          </a:xfrm>
          <a:prstGeom prst="rect">
            <a:avLst/>
          </a:prstGeom>
          <a:solidFill>
            <a:srgbClr val="141E35"/>
          </a:solidFill>
          <a:ln w="19050">
            <a:solidFill>
              <a:srgbClr val="06B6D4"/>
            </a:solidFill>
            <a:prstDash val="solid"/>
          </a:ln>
          <a:effectLst>
            <a:outerShdw sx="100000" sy="100000" kx="0" ky="0" algn="bl" rotWithShape="0" blurRad="101600" dist="38100" dir="8100000">
              <a:srgbClr val="000000">
                <a:alpha val="20000"/>
              </a:srgbClr>
            </a:outerShdw>
          </a:effectLst>
        </p:spPr>
      </p:sp>
      <p:sp>
        <p:nvSpPr>
          <p:cNvPr id="11" name="Shape 8"/>
          <p:cNvSpPr/>
          <p:nvPr/>
        </p:nvSpPr>
        <p:spPr>
          <a:xfrm>
            <a:off x="4663440" y="1024128"/>
            <a:ext cx="4251960" cy="402336"/>
          </a:xfrm>
          <a:prstGeom prst="rect">
            <a:avLst/>
          </a:prstGeom>
          <a:solidFill>
            <a:srgbClr val="06B6D4"/>
          </a:solidFill>
          <a:ln w="12700">
            <a:solidFill>
              <a:srgbClr val="06B6D4"/>
            </a:solidFill>
            <a:prstDash val="solid"/>
          </a:ln>
        </p:spPr>
      </p:sp>
      <p:sp>
        <p:nvSpPr>
          <p:cNvPr id="12" name="Text 9"/>
          <p:cNvSpPr/>
          <p:nvPr/>
        </p:nvSpPr>
        <p:spPr>
          <a:xfrm>
            <a:off x="4709160" y="1042416"/>
            <a:ext cx="4160520" cy="365760"/>
          </a:xfrm>
          <a:prstGeom prst="rect">
            <a:avLst/>
          </a:prstGeom>
          <a:noFill/>
          <a:ln/>
        </p:spPr>
        <p:txBody>
          <a:bodyPr wrap="square" lIns="50800" tIns="50800" rIns="50800" bIns="50800" rtlCol="0" anchor="ctr"/>
          <a:lstStyle/>
          <a:p>
            <a:pPr indent="0" marL="0">
              <a:buNone/>
            </a:pPr>
            <a:r>
              <a:rPr lang="en-US" sz="1200" b="1" dirty="0">
                <a:solidFill>
                  <a:srgbClr val="080D1A"/>
                </a:solidFill>
                <a:latin typeface="Calibri" pitchFamily="34" charset="0"/>
                <a:ea typeface="Calibri" pitchFamily="34" charset="-122"/>
                <a:cs typeface="Calibri" pitchFamily="34" charset="-120"/>
              </a:rPr>
              <a:t>🛠️  Tool Use &amp; Agentic LLMs</a:t>
            </a:r>
            <a:endParaRPr lang="en-US" sz="1200" dirty="0"/>
          </a:p>
        </p:txBody>
      </p:sp>
      <p:sp>
        <p:nvSpPr>
          <p:cNvPr id="13" name="Text 10"/>
          <p:cNvSpPr/>
          <p:nvPr/>
        </p:nvSpPr>
        <p:spPr>
          <a:xfrm>
            <a:off x="4754880" y="1481328"/>
            <a:ext cx="4114800" cy="3291840"/>
          </a:xfrm>
          <a:prstGeom prst="rect">
            <a:avLst/>
          </a:prstGeom>
          <a:noFill/>
          <a:ln/>
        </p:spPr>
        <p:txBody>
          <a:bodyPr wrap="square" lIns="76200" tIns="76200" rIns="76200" bIns="76200" rtlCol="0" anchor="ctr"/>
          <a:lstStyle/>
          <a:p>
            <a:pPr marL="342900" indent="-342900">
              <a:spcAft>
                <a:spcPts val="700"/>
              </a:spcAft>
              <a:buSzPct val="100000"/>
              <a:buChar char="•"/>
            </a:pPr>
            <a:r>
              <a:rPr lang="en-US" sz="1100" dirty="0">
                <a:solidFill>
                  <a:srgbClr val="E8F0FE"/>
                </a:solidFill>
                <a:latin typeface="Calibri" pitchFamily="34" charset="0"/>
                <a:ea typeface="Calibri" pitchFamily="34" charset="-122"/>
                <a:cs typeface="Calibri" pitchFamily="34" charset="-120"/>
              </a:rPr>
              <a:t>Function calling: LLM decides when to call APIs</a:t>
            </a:r>
            <a:endParaRPr lang="en-US" sz="1100" dirty="0"/>
          </a:p>
          <a:p>
            <a:pPr marL="342900" indent="-342900">
              <a:spcAft>
                <a:spcPts val="700"/>
              </a:spcAft>
              <a:buSzPct val="100000"/>
              <a:buChar char="•"/>
            </a:pPr>
            <a:r>
              <a:rPr lang="en-US" sz="1100" dirty="0">
                <a:solidFill>
                  <a:srgbClr val="E8F0FE"/>
                </a:solidFill>
                <a:latin typeface="Calibri" pitchFamily="34" charset="0"/>
                <a:ea typeface="Calibri" pitchFamily="34" charset="-122"/>
                <a:cs typeface="Calibri" pitchFamily="34" charset="-120"/>
              </a:rPr>
              <a:t>Web search: fetch live information</a:t>
            </a:r>
            <a:endParaRPr lang="en-US" sz="1100" dirty="0"/>
          </a:p>
          <a:p>
            <a:pPr marL="342900" indent="-342900">
              <a:spcAft>
                <a:spcPts val="700"/>
              </a:spcAft>
              <a:buSzPct val="100000"/>
              <a:buChar char="•"/>
            </a:pPr>
            <a:r>
              <a:rPr lang="en-US" sz="1100" dirty="0">
                <a:solidFill>
                  <a:srgbClr val="E8F0FE"/>
                </a:solidFill>
                <a:latin typeface="Calibri" pitchFamily="34" charset="0"/>
                <a:ea typeface="Calibri" pitchFamily="34" charset="-122"/>
                <a:cs typeface="Calibri" pitchFamily="34" charset="-120"/>
              </a:rPr>
              <a:t>Code interpreter: execute Python in sandbox</a:t>
            </a:r>
            <a:endParaRPr lang="en-US" sz="1100" dirty="0"/>
          </a:p>
          <a:p>
            <a:pPr marL="342900" indent="-342900">
              <a:spcAft>
                <a:spcPts val="700"/>
              </a:spcAft>
              <a:buSzPct val="100000"/>
              <a:buChar char="•"/>
            </a:pPr>
            <a:r>
              <a:rPr lang="en-US" sz="1100" dirty="0">
                <a:solidFill>
                  <a:srgbClr val="E8F0FE"/>
                </a:solidFill>
                <a:latin typeface="Calibri" pitchFamily="34" charset="0"/>
                <a:ea typeface="Calibri" pitchFamily="34" charset="-122"/>
                <a:cs typeface="Calibri" pitchFamily="34" charset="-120"/>
              </a:rPr>
              <a:t>File I/O: read, write, transform documents</a:t>
            </a:r>
            <a:endParaRPr lang="en-US" sz="1100" dirty="0"/>
          </a:p>
          <a:p>
            <a:pPr marL="342900" indent="-342900">
              <a:spcAft>
                <a:spcPts val="700"/>
              </a:spcAft>
              <a:buSzPct val="100000"/>
              <a:buChar char="•"/>
            </a:pPr>
            <a:r>
              <a:rPr lang="en-US" sz="1100" dirty="0">
                <a:solidFill>
                  <a:srgbClr val="E8F0FE"/>
                </a:solidFill>
                <a:latin typeface="Calibri" pitchFamily="34" charset="0"/>
                <a:ea typeface="Calibri" pitchFamily="34" charset="-122"/>
                <a:cs typeface="Calibri" pitchFamily="34" charset="-120"/>
              </a:rPr>
              <a:t>Multi-step reasoning via ReAct loop</a:t>
            </a:r>
            <a:endParaRPr lang="en-US" sz="1100" dirty="0"/>
          </a:p>
          <a:p>
            <a:pPr marL="342900" indent="-342900">
              <a:spcAft>
                <a:spcPts val="700"/>
              </a:spcAft>
              <a:buSzPct val="100000"/>
              <a:buChar char="•"/>
            </a:pPr>
            <a:r>
              <a:rPr lang="en-US" sz="1100" dirty="0">
                <a:solidFill>
                  <a:srgbClr val="E8F0FE"/>
                </a:solidFill>
                <a:latin typeface="Calibri" pitchFamily="34" charset="0"/>
                <a:ea typeface="Calibri" pitchFamily="34" charset="-122"/>
                <a:cs typeface="Calibri" pitchFamily="34" charset="-120"/>
              </a:rPr>
              <a:t>Frameworks: LangChain, AutoGen, CrewAI</a:t>
            </a:r>
            <a:endParaRPr lang="en-US" sz="1100" dirty="0"/>
          </a:p>
          <a:p>
            <a:pPr marL="342900" indent="-342900">
              <a:spcAft>
                <a:spcPts val="700"/>
              </a:spcAft>
              <a:buSzPct val="100000"/>
              <a:buChar char="•"/>
            </a:pPr>
            <a:r>
              <a:rPr lang="en-US" sz="1100" dirty="0">
                <a:solidFill>
                  <a:srgbClr val="E8F0FE"/>
                </a:solidFill>
                <a:latin typeface="Calibri" pitchFamily="34" charset="0"/>
                <a:ea typeface="Calibri" pitchFamily="34" charset="-122"/>
                <a:cs typeface="Calibri" pitchFamily="34" charset="-120"/>
              </a:rPr>
              <a:t>Memory: episodic, semantic, procedural layers</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0F6FF"/>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D1B3E"/>
          </a:solidFill>
          <a:ln w="12700">
            <a:solidFill>
              <a:srgbClr val="0D1B3E"/>
            </a:solidFill>
            <a:prstDash val="solid"/>
          </a:ln>
        </p:spPr>
      </p:sp>
      <p:sp>
        <p:nvSpPr>
          <p:cNvPr id="3" name="Shape 1"/>
          <p:cNvSpPr/>
          <p:nvPr/>
        </p:nvSpPr>
        <p:spPr>
          <a:xfrm>
            <a:off x="0" y="914400"/>
            <a:ext cx="9144000" cy="45720"/>
          </a:xfrm>
          <a:prstGeom prst="rect">
            <a:avLst/>
          </a:prstGeom>
          <a:solidFill>
            <a:srgbClr val="EF4444"/>
          </a:solidFill>
          <a:ln w="12700">
            <a:solidFill>
              <a:srgbClr val="EF4444"/>
            </a:solidFill>
            <a:prstDash val="solid"/>
          </a:ln>
        </p:spPr>
      </p:sp>
      <p:pic>
        <p:nvPicPr>
          <p:cNvPr id="4" name="Image 0" descr="preencoded.png">    </p:cNvPr>
          <p:cNvPicPr>
            <a:picLocks noChangeAspect="1"/>
          </p:cNvPicPr>
          <p:nvPr/>
        </p:nvPicPr>
        <p:blipFill>
          <a:blip r:embed="rId1"/>
          <a:stretch>
            <a:fillRect/>
          </a:stretch>
        </p:blipFill>
        <p:spPr>
          <a:xfrm>
            <a:off x="228600" y="182880"/>
            <a:ext cx="502920" cy="502920"/>
          </a:xfrm>
          <a:prstGeom prst="rect">
            <a:avLst/>
          </a:prstGeom>
        </p:spPr>
      </p:pic>
      <p:sp>
        <p:nvSpPr>
          <p:cNvPr id="5" name="Text 2"/>
          <p:cNvSpPr/>
          <p:nvPr/>
        </p:nvSpPr>
        <p:spPr>
          <a:xfrm>
            <a:off x="822960" y="137160"/>
            <a:ext cx="8046720" cy="68580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Key Challenges in LLMs</a:t>
            </a:r>
            <a:endParaRPr lang="en-US" sz="2600" dirty="0"/>
          </a:p>
        </p:txBody>
      </p:sp>
      <p:sp>
        <p:nvSpPr>
          <p:cNvPr id="6" name="Shape 3"/>
          <p:cNvSpPr/>
          <p:nvPr/>
        </p:nvSpPr>
        <p:spPr>
          <a:xfrm>
            <a:off x="182880" y="1024128"/>
            <a:ext cx="2788920" cy="1828800"/>
          </a:xfrm>
          <a:prstGeom prst="rect">
            <a:avLst/>
          </a:prstGeom>
          <a:solidFill>
            <a:srgbClr val="FFFFFF"/>
          </a:solidFill>
          <a:ln w="25400">
            <a:solidFill>
              <a:srgbClr val="EF4444"/>
            </a:solidFill>
            <a:prstDash val="solid"/>
          </a:ln>
          <a:effectLst>
            <a:outerShdw sx="100000" sy="100000" kx="0" ky="0" algn="bl" rotWithShape="0" blurRad="101600" dist="38100" dir="8100000">
              <a:srgbClr val="000000">
                <a:alpha val="20000"/>
              </a:srgbClr>
            </a:outerShdw>
          </a:effectLst>
        </p:spPr>
      </p:sp>
      <p:sp>
        <p:nvSpPr>
          <p:cNvPr id="7" name="Shape 4"/>
          <p:cNvSpPr/>
          <p:nvPr/>
        </p:nvSpPr>
        <p:spPr>
          <a:xfrm>
            <a:off x="182880" y="1024128"/>
            <a:ext cx="2788920" cy="402336"/>
          </a:xfrm>
          <a:prstGeom prst="rect">
            <a:avLst/>
          </a:prstGeom>
          <a:solidFill>
            <a:srgbClr val="EF4444"/>
          </a:solidFill>
          <a:ln w="12700">
            <a:solidFill>
              <a:srgbClr val="EF4444"/>
            </a:solidFill>
            <a:prstDash val="solid"/>
          </a:ln>
        </p:spPr>
      </p:sp>
      <p:sp>
        <p:nvSpPr>
          <p:cNvPr id="8" name="Text 5"/>
          <p:cNvSpPr/>
          <p:nvPr/>
        </p:nvSpPr>
        <p:spPr>
          <a:xfrm>
            <a:off x="256032" y="1069848"/>
            <a:ext cx="2651760" cy="329184"/>
          </a:xfrm>
          <a:prstGeom prst="rect">
            <a:avLst/>
          </a:prstGeom>
          <a:noFill/>
          <a:ln/>
        </p:spPr>
        <p:txBody>
          <a:bodyPr wrap="square" lIns="25400" tIns="25400" rIns="25400" bIns="2540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  Hallucinations</a:t>
            </a:r>
            <a:endParaRPr lang="en-US" sz="1300" dirty="0"/>
          </a:p>
        </p:txBody>
      </p:sp>
      <p:sp>
        <p:nvSpPr>
          <p:cNvPr id="9" name="Text 6"/>
          <p:cNvSpPr/>
          <p:nvPr/>
        </p:nvSpPr>
        <p:spPr>
          <a:xfrm>
            <a:off x="274320" y="1499616"/>
            <a:ext cx="2606040" cy="1261872"/>
          </a:xfrm>
          <a:prstGeom prst="rect">
            <a:avLst/>
          </a:prstGeom>
          <a:noFill/>
          <a:ln/>
        </p:spPr>
        <p:txBody>
          <a:bodyPr wrap="square" lIns="50800" tIns="50800" rIns="50800" bIns="50800" rtlCol="0" anchor="ctr"/>
          <a:lstStyle/>
          <a:p>
            <a:pPr indent="0" marL="0">
              <a:buNone/>
            </a:pPr>
            <a:r>
              <a:rPr lang="en-US" sz="1100" dirty="0">
                <a:solidFill>
                  <a:srgbClr val="1E2D4E"/>
                </a:solidFill>
                <a:latin typeface="Calibri" pitchFamily="34" charset="0"/>
                <a:ea typeface="Calibri" pitchFamily="34" charset="-122"/>
                <a:cs typeface="Calibri" pitchFamily="34" charset="-120"/>
              </a:rPr>
              <a:t>Model confidently fabricates facts. Hard to detect without domain expertise. Major barrier for high-stakes use.</a:t>
            </a:r>
            <a:endParaRPr lang="en-US" sz="1100" dirty="0"/>
          </a:p>
        </p:txBody>
      </p:sp>
      <p:sp>
        <p:nvSpPr>
          <p:cNvPr id="10" name="Shape 7"/>
          <p:cNvSpPr/>
          <p:nvPr/>
        </p:nvSpPr>
        <p:spPr>
          <a:xfrm>
            <a:off x="3172968" y="1024128"/>
            <a:ext cx="2788920" cy="1828800"/>
          </a:xfrm>
          <a:prstGeom prst="rect">
            <a:avLst/>
          </a:prstGeom>
          <a:solidFill>
            <a:srgbClr val="FFFFFF"/>
          </a:solidFill>
          <a:ln w="25400">
            <a:solidFill>
              <a:srgbClr val="1A56DB"/>
            </a:solidFill>
            <a:prstDash val="solid"/>
          </a:ln>
          <a:effectLst>
            <a:outerShdw sx="100000" sy="100000" kx="0" ky="0" algn="bl" rotWithShape="0" blurRad="101600" dist="38100" dir="8100000">
              <a:srgbClr val="000000">
                <a:alpha val="20000"/>
              </a:srgbClr>
            </a:outerShdw>
          </a:effectLst>
        </p:spPr>
      </p:sp>
      <p:sp>
        <p:nvSpPr>
          <p:cNvPr id="11" name="Shape 8"/>
          <p:cNvSpPr/>
          <p:nvPr/>
        </p:nvSpPr>
        <p:spPr>
          <a:xfrm>
            <a:off x="3172968" y="1024128"/>
            <a:ext cx="2788920" cy="402336"/>
          </a:xfrm>
          <a:prstGeom prst="rect">
            <a:avLst/>
          </a:prstGeom>
          <a:solidFill>
            <a:srgbClr val="1A56DB"/>
          </a:solidFill>
          <a:ln w="12700">
            <a:solidFill>
              <a:srgbClr val="1A56DB"/>
            </a:solidFill>
            <a:prstDash val="solid"/>
          </a:ln>
        </p:spPr>
      </p:sp>
      <p:sp>
        <p:nvSpPr>
          <p:cNvPr id="12" name="Text 9"/>
          <p:cNvSpPr/>
          <p:nvPr/>
        </p:nvSpPr>
        <p:spPr>
          <a:xfrm>
            <a:off x="3246120" y="1069848"/>
            <a:ext cx="2651760" cy="329184"/>
          </a:xfrm>
          <a:prstGeom prst="rect">
            <a:avLst/>
          </a:prstGeom>
          <a:noFill/>
          <a:ln/>
        </p:spPr>
        <p:txBody>
          <a:bodyPr wrap="square" lIns="25400" tIns="25400" rIns="25400" bIns="2540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  Context Limits</a:t>
            </a:r>
            <a:endParaRPr lang="en-US" sz="1300" dirty="0"/>
          </a:p>
        </p:txBody>
      </p:sp>
      <p:sp>
        <p:nvSpPr>
          <p:cNvPr id="13" name="Text 10"/>
          <p:cNvSpPr/>
          <p:nvPr/>
        </p:nvSpPr>
        <p:spPr>
          <a:xfrm>
            <a:off x="3264408" y="1499616"/>
            <a:ext cx="2606040" cy="1261872"/>
          </a:xfrm>
          <a:prstGeom prst="rect">
            <a:avLst/>
          </a:prstGeom>
          <a:noFill/>
          <a:ln/>
        </p:spPr>
        <p:txBody>
          <a:bodyPr wrap="square" lIns="50800" tIns="50800" rIns="50800" bIns="50800" rtlCol="0" anchor="ctr"/>
          <a:lstStyle/>
          <a:p>
            <a:pPr indent="0" marL="0">
              <a:buNone/>
            </a:pPr>
            <a:r>
              <a:rPr lang="en-US" sz="1100" dirty="0">
                <a:solidFill>
                  <a:srgbClr val="1E2D4E"/>
                </a:solidFill>
                <a:latin typeface="Calibri" pitchFamily="34" charset="0"/>
                <a:ea typeface="Calibri" pitchFamily="34" charset="-122"/>
                <a:cs typeface="Calibri" pitchFamily="34" charset="-120"/>
              </a:rPr>
              <a:t>Fixed context window (4K–2M). Long documents get truncated. Memory across sessions not native.</a:t>
            </a:r>
            <a:endParaRPr lang="en-US" sz="1100" dirty="0"/>
          </a:p>
        </p:txBody>
      </p:sp>
      <p:sp>
        <p:nvSpPr>
          <p:cNvPr id="14" name="Shape 11"/>
          <p:cNvSpPr/>
          <p:nvPr/>
        </p:nvSpPr>
        <p:spPr>
          <a:xfrm>
            <a:off x="6163056" y="1024128"/>
            <a:ext cx="2788920" cy="1828800"/>
          </a:xfrm>
          <a:prstGeom prst="rect">
            <a:avLst/>
          </a:prstGeom>
          <a:solidFill>
            <a:srgbClr val="FFFFFF"/>
          </a:solidFill>
          <a:ln w="25400">
            <a:solidFill>
              <a:srgbClr val="F59E0B"/>
            </a:solidFill>
            <a:prstDash val="solid"/>
          </a:ln>
          <a:effectLst>
            <a:outerShdw sx="100000" sy="100000" kx="0" ky="0" algn="bl" rotWithShape="0" blurRad="101600" dist="38100" dir="8100000">
              <a:srgbClr val="000000">
                <a:alpha val="20000"/>
              </a:srgbClr>
            </a:outerShdw>
          </a:effectLst>
        </p:spPr>
      </p:sp>
      <p:sp>
        <p:nvSpPr>
          <p:cNvPr id="15" name="Shape 12"/>
          <p:cNvSpPr/>
          <p:nvPr/>
        </p:nvSpPr>
        <p:spPr>
          <a:xfrm>
            <a:off x="6163056" y="1024128"/>
            <a:ext cx="2788920" cy="402336"/>
          </a:xfrm>
          <a:prstGeom prst="rect">
            <a:avLst/>
          </a:prstGeom>
          <a:solidFill>
            <a:srgbClr val="F59E0B"/>
          </a:solidFill>
          <a:ln w="12700">
            <a:solidFill>
              <a:srgbClr val="F59E0B"/>
            </a:solidFill>
            <a:prstDash val="solid"/>
          </a:ln>
        </p:spPr>
      </p:sp>
      <p:sp>
        <p:nvSpPr>
          <p:cNvPr id="16" name="Text 13"/>
          <p:cNvSpPr/>
          <p:nvPr/>
        </p:nvSpPr>
        <p:spPr>
          <a:xfrm>
            <a:off x="6236208" y="1069848"/>
            <a:ext cx="2651760" cy="329184"/>
          </a:xfrm>
          <a:prstGeom prst="rect">
            <a:avLst/>
          </a:prstGeom>
          <a:noFill/>
          <a:ln/>
        </p:spPr>
        <p:txBody>
          <a:bodyPr wrap="square" lIns="25400" tIns="25400" rIns="25400" bIns="2540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  Compute Cost</a:t>
            </a:r>
            <a:endParaRPr lang="en-US" sz="1300" dirty="0"/>
          </a:p>
        </p:txBody>
      </p:sp>
      <p:sp>
        <p:nvSpPr>
          <p:cNvPr id="17" name="Text 14"/>
          <p:cNvSpPr/>
          <p:nvPr/>
        </p:nvSpPr>
        <p:spPr>
          <a:xfrm>
            <a:off x="6254496" y="1499616"/>
            <a:ext cx="2606040" cy="1261872"/>
          </a:xfrm>
          <a:prstGeom prst="rect">
            <a:avLst/>
          </a:prstGeom>
          <a:noFill/>
          <a:ln/>
        </p:spPr>
        <p:txBody>
          <a:bodyPr wrap="square" lIns="50800" tIns="50800" rIns="50800" bIns="50800" rtlCol="0" anchor="ctr"/>
          <a:lstStyle/>
          <a:p>
            <a:pPr indent="0" marL="0">
              <a:buNone/>
            </a:pPr>
            <a:r>
              <a:rPr lang="en-US" sz="1100" dirty="0">
                <a:solidFill>
                  <a:srgbClr val="1E2D4E"/>
                </a:solidFill>
                <a:latin typeface="Calibri" pitchFamily="34" charset="0"/>
                <a:ea typeface="Calibri" pitchFamily="34" charset="-122"/>
                <a:cs typeface="Calibri" pitchFamily="34" charset="-120"/>
              </a:rPr>
              <a:t>Training: millions of dollars. Inference: expensive GPUs at scale. Carbon footprint is enormous.</a:t>
            </a:r>
            <a:endParaRPr lang="en-US" sz="1100" dirty="0"/>
          </a:p>
        </p:txBody>
      </p:sp>
      <p:sp>
        <p:nvSpPr>
          <p:cNvPr id="18" name="Shape 15"/>
          <p:cNvSpPr/>
          <p:nvPr/>
        </p:nvSpPr>
        <p:spPr>
          <a:xfrm>
            <a:off x="182880" y="3035808"/>
            <a:ext cx="2788920" cy="1828800"/>
          </a:xfrm>
          <a:prstGeom prst="rect">
            <a:avLst/>
          </a:prstGeom>
          <a:solidFill>
            <a:srgbClr val="FFFFFF"/>
          </a:solidFill>
          <a:ln w="25400">
            <a:solidFill>
              <a:srgbClr val="8B5CF6"/>
            </a:solidFill>
            <a:prstDash val="solid"/>
          </a:ln>
          <a:effectLst>
            <a:outerShdw sx="100000" sy="100000" kx="0" ky="0" algn="bl" rotWithShape="0" blurRad="101600" dist="38100" dir="8100000">
              <a:srgbClr val="000000">
                <a:alpha val="20000"/>
              </a:srgbClr>
            </a:outerShdw>
          </a:effectLst>
        </p:spPr>
      </p:sp>
      <p:sp>
        <p:nvSpPr>
          <p:cNvPr id="19" name="Shape 16"/>
          <p:cNvSpPr/>
          <p:nvPr/>
        </p:nvSpPr>
        <p:spPr>
          <a:xfrm>
            <a:off x="182880" y="3035808"/>
            <a:ext cx="2788920" cy="402336"/>
          </a:xfrm>
          <a:prstGeom prst="rect">
            <a:avLst/>
          </a:prstGeom>
          <a:solidFill>
            <a:srgbClr val="8B5CF6"/>
          </a:solidFill>
          <a:ln w="12700">
            <a:solidFill>
              <a:srgbClr val="8B5CF6"/>
            </a:solidFill>
            <a:prstDash val="solid"/>
          </a:ln>
        </p:spPr>
      </p:sp>
      <p:sp>
        <p:nvSpPr>
          <p:cNvPr id="20" name="Text 17"/>
          <p:cNvSpPr/>
          <p:nvPr/>
        </p:nvSpPr>
        <p:spPr>
          <a:xfrm>
            <a:off x="256032" y="3081528"/>
            <a:ext cx="2651760" cy="329184"/>
          </a:xfrm>
          <a:prstGeom prst="rect">
            <a:avLst/>
          </a:prstGeom>
          <a:noFill/>
          <a:ln/>
        </p:spPr>
        <p:txBody>
          <a:bodyPr wrap="square" lIns="25400" tIns="25400" rIns="25400" bIns="2540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  Bias &amp; Fairness</a:t>
            </a:r>
            <a:endParaRPr lang="en-US" sz="1300" dirty="0"/>
          </a:p>
        </p:txBody>
      </p:sp>
      <p:sp>
        <p:nvSpPr>
          <p:cNvPr id="21" name="Text 18"/>
          <p:cNvSpPr/>
          <p:nvPr/>
        </p:nvSpPr>
        <p:spPr>
          <a:xfrm>
            <a:off x="274320" y="3511296"/>
            <a:ext cx="2606040" cy="1261872"/>
          </a:xfrm>
          <a:prstGeom prst="rect">
            <a:avLst/>
          </a:prstGeom>
          <a:noFill/>
          <a:ln/>
        </p:spPr>
        <p:txBody>
          <a:bodyPr wrap="square" lIns="50800" tIns="50800" rIns="50800" bIns="50800" rtlCol="0" anchor="ctr"/>
          <a:lstStyle/>
          <a:p>
            <a:pPr indent="0" marL="0">
              <a:buNone/>
            </a:pPr>
            <a:r>
              <a:rPr lang="en-US" sz="1100" dirty="0">
                <a:solidFill>
                  <a:srgbClr val="1E2D4E"/>
                </a:solidFill>
                <a:latin typeface="Calibri" pitchFamily="34" charset="0"/>
                <a:ea typeface="Calibri" pitchFamily="34" charset="-122"/>
                <a:cs typeface="Calibri" pitchFamily="34" charset="-120"/>
              </a:rPr>
              <a:t>Reflects biases in training data. May discriminate across gender, race, culture, and language.</a:t>
            </a:r>
            <a:endParaRPr lang="en-US" sz="1100" dirty="0"/>
          </a:p>
        </p:txBody>
      </p:sp>
      <p:sp>
        <p:nvSpPr>
          <p:cNvPr id="22" name="Shape 19"/>
          <p:cNvSpPr/>
          <p:nvPr/>
        </p:nvSpPr>
        <p:spPr>
          <a:xfrm>
            <a:off x="3172968" y="3035808"/>
            <a:ext cx="2788920" cy="1828800"/>
          </a:xfrm>
          <a:prstGeom prst="rect">
            <a:avLst/>
          </a:prstGeom>
          <a:solidFill>
            <a:srgbClr val="FFFFFF"/>
          </a:solidFill>
          <a:ln w="25400">
            <a:solidFill>
              <a:srgbClr val="F97316"/>
            </a:solidFill>
            <a:prstDash val="solid"/>
          </a:ln>
          <a:effectLst>
            <a:outerShdw sx="100000" sy="100000" kx="0" ky="0" algn="bl" rotWithShape="0" blurRad="101600" dist="38100" dir="8100000">
              <a:srgbClr val="000000">
                <a:alpha val="20000"/>
              </a:srgbClr>
            </a:outerShdw>
          </a:effectLst>
        </p:spPr>
      </p:sp>
      <p:sp>
        <p:nvSpPr>
          <p:cNvPr id="23" name="Shape 20"/>
          <p:cNvSpPr/>
          <p:nvPr/>
        </p:nvSpPr>
        <p:spPr>
          <a:xfrm>
            <a:off x="3172968" y="3035808"/>
            <a:ext cx="2788920" cy="402336"/>
          </a:xfrm>
          <a:prstGeom prst="rect">
            <a:avLst/>
          </a:prstGeom>
          <a:solidFill>
            <a:srgbClr val="F97316"/>
          </a:solidFill>
          <a:ln w="12700">
            <a:solidFill>
              <a:srgbClr val="F97316"/>
            </a:solidFill>
            <a:prstDash val="solid"/>
          </a:ln>
        </p:spPr>
      </p:sp>
      <p:sp>
        <p:nvSpPr>
          <p:cNvPr id="24" name="Text 21"/>
          <p:cNvSpPr/>
          <p:nvPr/>
        </p:nvSpPr>
        <p:spPr>
          <a:xfrm>
            <a:off x="3246120" y="3081528"/>
            <a:ext cx="2651760" cy="329184"/>
          </a:xfrm>
          <a:prstGeom prst="rect">
            <a:avLst/>
          </a:prstGeom>
          <a:noFill/>
          <a:ln/>
        </p:spPr>
        <p:txBody>
          <a:bodyPr wrap="square" lIns="25400" tIns="25400" rIns="25400" bIns="2540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  Reasoning Gaps</a:t>
            </a:r>
            <a:endParaRPr lang="en-US" sz="1300" dirty="0"/>
          </a:p>
        </p:txBody>
      </p:sp>
      <p:sp>
        <p:nvSpPr>
          <p:cNvPr id="25" name="Text 22"/>
          <p:cNvSpPr/>
          <p:nvPr/>
        </p:nvSpPr>
        <p:spPr>
          <a:xfrm>
            <a:off x="3264408" y="3511296"/>
            <a:ext cx="2606040" cy="1261872"/>
          </a:xfrm>
          <a:prstGeom prst="rect">
            <a:avLst/>
          </a:prstGeom>
          <a:noFill/>
          <a:ln/>
        </p:spPr>
        <p:txBody>
          <a:bodyPr wrap="square" lIns="50800" tIns="50800" rIns="50800" bIns="50800" rtlCol="0" anchor="ctr"/>
          <a:lstStyle/>
          <a:p>
            <a:pPr indent="0" marL="0">
              <a:buNone/>
            </a:pPr>
            <a:r>
              <a:rPr lang="en-US" sz="1100" dirty="0">
                <a:solidFill>
                  <a:srgbClr val="1E2D4E"/>
                </a:solidFill>
                <a:latin typeface="Calibri" pitchFamily="34" charset="0"/>
                <a:ea typeface="Calibri" pitchFamily="34" charset="-122"/>
                <a:cs typeface="Calibri" pitchFamily="34" charset="-120"/>
              </a:rPr>
              <a:t>Fails at multi-step logic, precise maths, and causal reasoning. Appears to reason but pattern-matches.</a:t>
            </a:r>
            <a:endParaRPr lang="en-US" sz="1100" dirty="0"/>
          </a:p>
        </p:txBody>
      </p:sp>
      <p:sp>
        <p:nvSpPr>
          <p:cNvPr id="26" name="Shape 23"/>
          <p:cNvSpPr/>
          <p:nvPr/>
        </p:nvSpPr>
        <p:spPr>
          <a:xfrm>
            <a:off x="6163056" y="3035808"/>
            <a:ext cx="2788920" cy="1828800"/>
          </a:xfrm>
          <a:prstGeom prst="rect">
            <a:avLst/>
          </a:prstGeom>
          <a:solidFill>
            <a:srgbClr val="FFFFFF"/>
          </a:solidFill>
          <a:ln w="25400">
            <a:solidFill>
              <a:srgbClr val="0D9488"/>
            </a:solidFill>
            <a:prstDash val="solid"/>
          </a:ln>
          <a:effectLst>
            <a:outerShdw sx="100000" sy="100000" kx="0" ky="0" algn="bl" rotWithShape="0" blurRad="101600" dist="38100" dir="8100000">
              <a:srgbClr val="000000">
                <a:alpha val="20000"/>
              </a:srgbClr>
            </a:outerShdw>
          </a:effectLst>
        </p:spPr>
      </p:sp>
      <p:sp>
        <p:nvSpPr>
          <p:cNvPr id="27" name="Shape 24"/>
          <p:cNvSpPr/>
          <p:nvPr/>
        </p:nvSpPr>
        <p:spPr>
          <a:xfrm>
            <a:off x="6163056" y="3035808"/>
            <a:ext cx="2788920" cy="402336"/>
          </a:xfrm>
          <a:prstGeom prst="rect">
            <a:avLst/>
          </a:prstGeom>
          <a:solidFill>
            <a:srgbClr val="0D9488"/>
          </a:solidFill>
          <a:ln w="12700">
            <a:solidFill>
              <a:srgbClr val="0D9488"/>
            </a:solidFill>
            <a:prstDash val="solid"/>
          </a:ln>
        </p:spPr>
      </p:sp>
      <p:sp>
        <p:nvSpPr>
          <p:cNvPr id="28" name="Text 25"/>
          <p:cNvSpPr/>
          <p:nvPr/>
        </p:nvSpPr>
        <p:spPr>
          <a:xfrm>
            <a:off x="6236208" y="3081528"/>
            <a:ext cx="2651760" cy="329184"/>
          </a:xfrm>
          <a:prstGeom prst="rect">
            <a:avLst/>
          </a:prstGeom>
          <a:noFill/>
          <a:ln/>
        </p:spPr>
        <p:txBody>
          <a:bodyPr wrap="square" lIns="25400" tIns="25400" rIns="25400" bIns="2540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  Knowledge Cutoff</a:t>
            </a:r>
            <a:endParaRPr lang="en-US" sz="1300" dirty="0"/>
          </a:p>
        </p:txBody>
      </p:sp>
      <p:sp>
        <p:nvSpPr>
          <p:cNvPr id="29" name="Text 26"/>
          <p:cNvSpPr/>
          <p:nvPr/>
        </p:nvSpPr>
        <p:spPr>
          <a:xfrm>
            <a:off x="6254496" y="3511296"/>
            <a:ext cx="2606040" cy="1261872"/>
          </a:xfrm>
          <a:prstGeom prst="rect">
            <a:avLst/>
          </a:prstGeom>
          <a:noFill/>
          <a:ln/>
        </p:spPr>
        <p:txBody>
          <a:bodyPr wrap="square" lIns="50800" tIns="50800" rIns="50800" bIns="50800" rtlCol="0" anchor="ctr"/>
          <a:lstStyle/>
          <a:p>
            <a:pPr indent="0" marL="0">
              <a:buNone/>
            </a:pPr>
            <a:r>
              <a:rPr lang="en-US" sz="1100" dirty="0">
                <a:solidFill>
                  <a:srgbClr val="1E2D4E"/>
                </a:solidFill>
                <a:latin typeface="Calibri" pitchFamily="34" charset="0"/>
                <a:ea typeface="Calibri" pitchFamily="34" charset="-122"/>
                <a:cs typeface="Calibri" pitchFamily="34" charset="-120"/>
              </a:rPr>
              <a:t>Static knowledge frozen at training. Cannot access real-time info natively. RAG partially helps.</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80D1A"/>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41E35"/>
          </a:solidFill>
          <a:ln w="12700">
            <a:solidFill>
              <a:srgbClr val="141E35"/>
            </a:solidFill>
            <a:prstDash val="solid"/>
          </a:ln>
        </p:spPr>
      </p:sp>
      <p:sp>
        <p:nvSpPr>
          <p:cNvPr id="3" name="Shape 1"/>
          <p:cNvSpPr/>
          <p:nvPr/>
        </p:nvSpPr>
        <p:spPr>
          <a:xfrm>
            <a:off x="0" y="914400"/>
            <a:ext cx="9144000" cy="45720"/>
          </a:xfrm>
          <a:prstGeom prst="rect">
            <a:avLst/>
          </a:prstGeom>
          <a:solidFill>
            <a:srgbClr val="F59E0B"/>
          </a:solidFill>
          <a:ln w="12700">
            <a:solidFill>
              <a:srgbClr val="F59E0B"/>
            </a:solidFill>
            <a:prstDash val="solid"/>
          </a:ln>
        </p:spPr>
      </p:sp>
      <p:pic>
        <p:nvPicPr>
          <p:cNvPr id="4" name="Image 0" descr="preencoded.png">    </p:cNvPr>
          <p:cNvPicPr>
            <a:picLocks noChangeAspect="1"/>
          </p:cNvPicPr>
          <p:nvPr/>
        </p:nvPicPr>
        <p:blipFill>
          <a:blip r:embed="rId1"/>
          <a:stretch>
            <a:fillRect/>
          </a:stretch>
        </p:blipFill>
        <p:spPr>
          <a:xfrm>
            <a:off x="228600" y="182880"/>
            <a:ext cx="502920" cy="502920"/>
          </a:xfrm>
          <a:prstGeom prst="rect">
            <a:avLst/>
          </a:prstGeom>
        </p:spPr>
      </p:pic>
      <p:sp>
        <p:nvSpPr>
          <p:cNvPr id="5" name="Text 2"/>
          <p:cNvSpPr/>
          <p:nvPr/>
        </p:nvSpPr>
        <p:spPr>
          <a:xfrm>
            <a:off x="822960" y="137160"/>
            <a:ext cx="8046720" cy="68580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Ethical Concerns &amp; Responsible AI</a:t>
            </a:r>
            <a:endParaRPr lang="en-US" sz="2600" dirty="0"/>
          </a:p>
        </p:txBody>
      </p:sp>
      <p:sp>
        <p:nvSpPr>
          <p:cNvPr id="6" name="Shape 3"/>
          <p:cNvSpPr/>
          <p:nvPr/>
        </p:nvSpPr>
        <p:spPr>
          <a:xfrm>
            <a:off x="228600" y="1024128"/>
            <a:ext cx="4114800" cy="3931920"/>
          </a:xfrm>
          <a:prstGeom prst="rect">
            <a:avLst/>
          </a:prstGeom>
          <a:solidFill>
            <a:srgbClr val="141E35"/>
          </a:solidFill>
          <a:ln w="19050">
            <a:solidFill>
              <a:srgbClr val="EF4444"/>
            </a:solidFill>
            <a:prstDash val="solid"/>
          </a:ln>
          <a:effectLst>
            <a:outerShdw sx="100000" sy="100000" kx="0" ky="0" algn="bl" rotWithShape="0" blurRad="101600" dist="38100" dir="8100000">
              <a:srgbClr val="000000">
                <a:alpha val="20000"/>
              </a:srgbClr>
            </a:outerShdw>
          </a:effectLst>
        </p:spPr>
      </p:sp>
      <p:sp>
        <p:nvSpPr>
          <p:cNvPr id="7" name="Shape 4"/>
          <p:cNvSpPr/>
          <p:nvPr/>
        </p:nvSpPr>
        <p:spPr>
          <a:xfrm>
            <a:off x="228600" y="1024128"/>
            <a:ext cx="4114800" cy="402336"/>
          </a:xfrm>
          <a:prstGeom prst="rect">
            <a:avLst/>
          </a:prstGeom>
          <a:solidFill>
            <a:srgbClr val="EF4444"/>
          </a:solidFill>
          <a:ln w="12700">
            <a:solidFill>
              <a:srgbClr val="EF4444"/>
            </a:solidFill>
            <a:prstDash val="solid"/>
          </a:ln>
        </p:spPr>
      </p:sp>
      <p:sp>
        <p:nvSpPr>
          <p:cNvPr id="8" name="Text 5"/>
          <p:cNvSpPr/>
          <p:nvPr/>
        </p:nvSpPr>
        <p:spPr>
          <a:xfrm>
            <a:off x="274320" y="1042416"/>
            <a:ext cx="4023360" cy="365760"/>
          </a:xfrm>
          <a:prstGeom prst="rect">
            <a:avLst/>
          </a:prstGeom>
          <a:noFill/>
          <a:ln/>
        </p:spPr>
        <p:txBody>
          <a:bodyPr wrap="square" lIns="50800" tIns="50800" rIns="50800" bIns="5080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  Ethical Issues</a:t>
            </a:r>
            <a:endParaRPr lang="en-US" sz="1400" dirty="0"/>
          </a:p>
        </p:txBody>
      </p:sp>
      <p:sp>
        <p:nvSpPr>
          <p:cNvPr id="9" name="Text 6"/>
          <p:cNvSpPr/>
          <p:nvPr/>
        </p:nvSpPr>
        <p:spPr>
          <a:xfrm>
            <a:off x="320040" y="1481328"/>
            <a:ext cx="3931920" cy="3383280"/>
          </a:xfrm>
          <a:prstGeom prst="rect">
            <a:avLst/>
          </a:prstGeom>
          <a:noFill/>
          <a:ln/>
        </p:spPr>
        <p:txBody>
          <a:bodyPr wrap="square" lIns="76200" tIns="76200" rIns="76200" bIns="76200" rtlCol="0" anchor="ctr"/>
          <a:lstStyle/>
          <a:p>
            <a:pPr indent="0" marL="0">
              <a:spcAft>
                <a:spcPts val="800"/>
              </a:spcAft>
              <a:buNone/>
            </a:pPr>
            <a:r>
              <a:rPr lang="en-US" sz="1100" dirty="0">
                <a:solidFill>
                  <a:srgbClr val="E8F0FE"/>
                </a:solidFill>
                <a:latin typeface="Calibri" pitchFamily="34" charset="0"/>
                <a:ea typeface="Calibri" pitchFamily="34" charset="-122"/>
                <a:cs typeface="Calibri" pitchFamily="34" charset="-120"/>
              </a:rPr>
              <a:t>⚖️  Bias &amp; Discrimination — amplifies societal biases</a:t>
            </a:r>
            <a:endParaRPr lang="en-US" sz="1100" dirty="0"/>
          </a:p>
          <a:p>
            <a:pPr indent="0" marL="0">
              <a:spcAft>
                <a:spcPts val="800"/>
              </a:spcAft>
              <a:buNone/>
            </a:pPr>
            <a:r>
              <a:rPr lang="en-US" sz="1100" dirty="0">
                <a:solidFill>
                  <a:srgbClr val="E8F0FE"/>
                </a:solidFill>
                <a:latin typeface="Calibri" pitchFamily="34" charset="0"/>
                <a:ea typeface="Calibri" pitchFamily="34" charset="-122"/>
                <a:cs typeface="Calibri" pitchFamily="34" charset="-120"/>
              </a:rPr>
              <a:t>📰  Misinformation at Scale — deepfakes, fake news</a:t>
            </a:r>
            <a:endParaRPr lang="en-US" sz="1100" dirty="0"/>
          </a:p>
          <a:p>
            <a:pPr indent="0" marL="0">
              <a:spcAft>
                <a:spcPts val="800"/>
              </a:spcAft>
              <a:buNone/>
            </a:pPr>
            <a:r>
              <a:rPr lang="en-US" sz="1100" dirty="0">
                <a:solidFill>
                  <a:srgbClr val="E8F0FE"/>
                </a:solidFill>
                <a:latin typeface="Calibri" pitchFamily="34" charset="0"/>
                <a:ea typeface="Calibri" pitchFamily="34" charset="-122"/>
                <a:cs typeface="Calibri" pitchFamily="34" charset="-120"/>
              </a:rPr>
              <a:t>🕵️  Privacy Violations — memorizes PII in training</a:t>
            </a:r>
            <a:endParaRPr lang="en-US" sz="1100" dirty="0"/>
          </a:p>
          <a:p>
            <a:pPr indent="0" marL="0">
              <a:spcAft>
                <a:spcPts val="800"/>
              </a:spcAft>
              <a:buNone/>
            </a:pPr>
            <a:r>
              <a:rPr lang="en-US" sz="1100" dirty="0">
                <a:solidFill>
                  <a:srgbClr val="E8F0FE"/>
                </a:solidFill>
                <a:latin typeface="Calibri" pitchFamily="34" charset="0"/>
                <a:ea typeface="Calibri" pitchFamily="34" charset="-122"/>
                <a:cs typeface="Calibri" pitchFamily="34" charset="-120"/>
              </a:rPr>
              <a:t>💼  Job Displacement — automates knowledge work</a:t>
            </a:r>
            <a:endParaRPr lang="en-US" sz="1100" dirty="0"/>
          </a:p>
          <a:p>
            <a:pPr indent="0" marL="0">
              <a:spcAft>
                <a:spcPts val="800"/>
              </a:spcAft>
              <a:buNone/>
            </a:pPr>
            <a:r>
              <a:rPr lang="en-US" sz="1100" dirty="0">
                <a:solidFill>
                  <a:srgbClr val="E8F0FE"/>
                </a:solidFill>
                <a:latin typeface="Calibri" pitchFamily="34" charset="0"/>
                <a:ea typeface="Calibri" pitchFamily="34" charset="-122"/>
                <a:cs typeface="Calibri" pitchFamily="34" charset="-120"/>
              </a:rPr>
              <a:t>🎭  Impersonation — mimics real people's writing</a:t>
            </a:r>
            <a:endParaRPr lang="en-US" sz="1100" dirty="0"/>
          </a:p>
          <a:p>
            <a:pPr indent="0" marL="0">
              <a:spcAft>
                <a:spcPts val="800"/>
              </a:spcAft>
              <a:buNone/>
            </a:pPr>
            <a:r>
              <a:rPr lang="en-US" sz="1100" dirty="0">
                <a:solidFill>
                  <a:srgbClr val="E8F0FE"/>
                </a:solidFill>
                <a:latin typeface="Calibri" pitchFamily="34" charset="0"/>
                <a:ea typeface="Calibri" pitchFamily="34" charset="-122"/>
                <a:cs typeface="Calibri" pitchFamily="34" charset="-120"/>
              </a:rPr>
              <a:t>🌍  Environmental Impact — massive energy use</a:t>
            </a:r>
            <a:endParaRPr lang="en-US" sz="1100" dirty="0"/>
          </a:p>
          <a:p>
            <a:pPr indent="0" marL="0">
              <a:spcAft>
                <a:spcPts val="800"/>
              </a:spcAft>
              <a:buNone/>
            </a:pPr>
            <a:r>
              <a:rPr lang="en-US" sz="1100" dirty="0">
                <a:solidFill>
                  <a:srgbClr val="E8F0FE"/>
                </a:solidFill>
                <a:latin typeface="Calibri" pitchFamily="34" charset="0"/>
                <a:ea typeface="Calibri" pitchFamily="34" charset="-122"/>
                <a:cs typeface="Calibri" pitchFamily="34" charset="-120"/>
              </a:rPr>
              <a:t>📚  Copyright Infringement — trained on web data</a:t>
            </a:r>
            <a:endParaRPr lang="en-US" sz="1100" dirty="0"/>
          </a:p>
          <a:p>
            <a:pPr indent="0" marL="0">
              <a:spcAft>
                <a:spcPts val="800"/>
              </a:spcAft>
              <a:buNone/>
            </a:pPr>
            <a:r>
              <a:rPr lang="en-US" sz="1100" dirty="0">
                <a:solidFill>
                  <a:srgbClr val="E8F0FE"/>
                </a:solidFill>
                <a:latin typeface="Calibri" pitchFamily="34" charset="0"/>
                <a:ea typeface="Calibri" pitchFamily="34" charset="-122"/>
                <a:cs typeface="Calibri" pitchFamily="34" charset="-120"/>
              </a:rPr>
              <a:t>🔒  Autonomy Erosion — nudges, manipulation, filter bubbles</a:t>
            </a:r>
            <a:endParaRPr lang="en-US" sz="1100" dirty="0"/>
          </a:p>
        </p:txBody>
      </p:sp>
      <p:sp>
        <p:nvSpPr>
          <p:cNvPr id="10" name="Shape 7"/>
          <p:cNvSpPr/>
          <p:nvPr/>
        </p:nvSpPr>
        <p:spPr>
          <a:xfrm>
            <a:off x="4663440" y="1024128"/>
            <a:ext cx="4251960" cy="3931920"/>
          </a:xfrm>
          <a:prstGeom prst="rect">
            <a:avLst/>
          </a:prstGeom>
          <a:solidFill>
            <a:srgbClr val="141E35"/>
          </a:solidFill>
          <a:ln w="19050">
            <a:solidFill>
              <a:srgbClr val="10B981"/>
            </a:solidFill>
            <a:prstDash val="solid"/>
          </a:ln>
          <a:effectLst>
            <a:outerShdw sx="100000" sy="100000" kx="0" ky="0" algn="bl" rotWithShape="0" blurRad="101600" dist="38100" dir="8100000">
              <a:srgbClr val="000000">
                <a:alpha val="20000"/>
              </a:srgbClr>
            </a:outerShdw>
          </a:effectLst>
        </p:spPr>
      </p:sp>
      <p:sp>
        <p:nvSpPr>
          <p:cNvPr id="11" name="Shape 8"/>
          <p:cNvSpPr/>
          <p:nvPr/>
        </p:nvSpPr>
        <p:spPr>
          <a:xfrm>
            <a:off x="4663440" y="1024128"/>
            <a:ext cx="4251960" cy="402336"/>
          </a:xfrm>
          <a:prstGeom prst="rect">
            <a:avLst/>
          </a:prstGeom>
          <a:solidFill>
            <a:srgbClr val="10B981"/>
          </a:solidFill>
          <a:ln w="12700">
            <a:solidFill>
              <a:srgbClr val="10B981"/>
            </a:solidFill>
            <a:prstDash val="solid"/>
          </a:ln>
        </p:spPr>
      </p:sp>
      <p:sp>
        <p:nvSpPr>
          <p:cNvPr id="12" name="Text 9"/>
          <p:cNvSpPr/>
          <p:nvPr/>
        </p:nvSpPr>
        <p:spPr>
          <a:xfrm>
            <a:off x="4709160" y="1042416"/>
            <a:ext cx="4160520" cy="365760"/>
          </a:xfrm>
          <a:prstGeom prst="rect">
            <a:avLst/>
          </a:prstGeom>
          <a:noFill/>
          <a:ln/>
        </p:spPr>
        <p:txBody>
          <a:bodyPr wrap="square" lIns="50800" tIns="50800" rIns="50800" bIns="5080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  Mitigation Strategies</a:t>
            </a:r>
            <a:endParaRPr lang="en-US" sz="1400" dirty="0"/>
          </a:p>
        </p:txBody>
      </p:sp>
      <p:sp>
        <p:nvSpPr>
          <p:cNvPr id="13" name="Text 10"/>
          <p:cNvSpPr/>
          <p:nvPr/>
        </p:nvSpPr>
        <p:spPr>
          <a:xfrm>
            <a:off x="4754880" y="1481328"/>
            <a:ext cx="4114800" cy="3383280"/>
          </a:xfrm>
          <a:prstGeom prst="rect">
            <a:avLst/>
          </a:prstGeom>
          <a:noFill/>
          <a:ln/>
        </p:spPr>
        <p:txBody>
          <a:bodyPr wrap="square" lIns="76200" tIns="76200" rIns="76200" bIns="76200" rtlCol="0" anchor="ctr"/>
          <a:lstStyle/>
          <a:p>
            <a:pPr indent="0" marL="0">
              <a:spcAft>
                <a:spcPts val="800"/>
              </a:spcAft>
              <a:buNone/>
            </a:pPr>
            <a:r>
              <a:rPr lang="en-US" sz="1100" dirty="0">
                <a:solidFill>
                  <a:srgbClr val="E8F0FE"/>
                </a:solidFill>
                <a:latin typeface="Calibri" pitchFamily="34" charset="0"/>
                <a:ea typeface="Calibri" pitchFamily="34" charset="-122"/>
                <a:cs typeface="Calibri" pitchFamily="34" charset="-120"/>
              </a:rPr>
              <a:t>✅  Constitutional AI (Anthropic's approach)</a:t>
            </a:r>
            <a:endParaRPr lang="en-US" sz="1100" dirty="0"/>
          </a:p>
          <a:p>
            <a:pPr indent="0" marL="0">
              <a:spcAft>
                <a:spcPts val="800"/>
              </a:spcAft>
              <a:buNone/>
            </a:pPr>
            <a:r>
              <a:rPr lang="en-US" sz="1100" dirty="0">
                <a:solidFill>
                  <a:srgbClr val="E8F0FE"/>
                </a:solidFill>
                <a:latin typeface="Calibri" pitchFamily="34" charset="0"/>
                <a:ea typeface="Calibri" pitchFamily="34" charset="-122"/>
                <a:cs typeface="Calibri" pitchFamily="34" charset="-120"/>
              </a:rPr>
              <a:t>✅  Red-teaming before every model release</a:t>
            </a:r>
            <a:endParaRPr lang="en-US" sz="1100" dirty="0"/>
          </a:p>
          <a:p>
            <a:pPr indent="0" marL="0">
              <a:spcAft>
                <a:spcPts val="800"/>
              </a:spcAft>
              <a:buNone/>
            </a:pPr>
            <a:r>
              <a:rPr lang="en-US" sz="1100" dirty="0">
                <a:solidFill>
                  <a:srgbClr val="E8F0FE"/>
                </a:solidFill>
                <a:latin typeface="Calibri" pitchFamily="34" charset="0"/>
                <a:ea typeface="Calibri" pitchFamily="34" charset="-122"/>
                <a:cs typeface="Calibri" pitchFamily="34" charset="-120"/>
              </a:rPr>
              <a:t>✅  RLHF + human feedback for value alignment</a:t>
            </a:r>
            <a:endParaRPr lang="en-US" sz="1100" dirty="0"/>
          </a:p>
          <a:p>
            <a:pPr indent="0" marL="0">
              <a:spcAft>
                <a:spcPts val="800"/>
              </a:spcAft>
              <a:buNone/>
            </a:pPr>
            <a:r>
              <a:rPr lang="en-US" sz="1100" dirty="0">
                <a:solidFill>
                  <a:srgbClr val="E8F0FE"/>
                </a:solidFill>
                <a:latin typeface="Calibri" pitchFamily="34" charset="0"/>
                <a:ea typeface="Calibri" pitchFamily="34" charset="-122"/>
                <a:cs typeface="Calibri" pitchFamily="34" charset="-120"/>
              </a:rPr>
              <a:t>✅  AI watermarking &amp; detection tools</a:t>
            </a:r>
            <a:endParaRPr lang="en-US" sz="1100" dirty="0"/>
          </a:p>
          <a:p>
            <a:pPr indent="0" marL="0">
              <a:spcAft>
                <a:spcPts val="800"/>
              </a:spcAft>
              <a:buNone/>
            </a:pPr>
            <a:r>
              <a:rPr lang="en-US" sz="1100" dirty="0">
                <a:solidFill>
                  <a:srgbClr val="E8F0FE"/>
                </a:solidFill>
                <a:latin typeface="Calibri" pitchFamily="34" charset="0"/>
                <a:ea typeface="Calibri" pitchFamily="34" charset="-122"/>
                <a:cs typeface="Calibri" pitchFamily="34" charset="-120"/>
              </a:rPr>
              <a:t>✅  EU AI Act — risk-based regulatory framework</a:t>
            </a:r>
            <a:endParaRPr lang="en-US" sz="1100" dirty="0"/>
          </a:p>
          <a:p>
            <a:pPr indent="0" marL="0">
              <a:spcAft>
                <a:spcPts val="800"/>
              </a:spcAft>
              <a:buNone/>
            </a:pPr>
            <a:r>
              <a:rPr lang="en-US" sz="1100" dirty="0">
                <a:solidFill>
                  <a:srgbClr val="E8F0FE"/>
                </a:solidFill>
                <a:latin typeface="Calibri" pitchFamily="34" charset="0"/>
                <a:ea typeface="Calibri" pitchFamily="34" charset="-122"/>
                <a:cs typeface="Calibri" pitchFamily="34" charset="-120"/>
              </a:rPr>
              <a:t>✅  Fairness audits &amp; bias benchmark suites</a:t>
            </a:r>
            <a:endParaRPr lang="en-US" sz="1100" dirty="0"/>
          </a:p>
          <a:p>
            <a:pPr indent="0" marL="0">
              <a:spcAft>
                <a:spcPts val="800"/>
              </a:spcAft>
              <a:buNone/>
            </a:pPr>
            <a:r>
              <a:rPr lang="en-US" sz="1100" dirty="0">
                <a:solidFill>
                  <a:srgbClr val="E8F0FE"/>
                </a:solidFill>
                <a:latin typeface="Calibri" pitchFamily="34" charset="0"/>
                <a:ea typeface="Calibri" pitchFamily="34" charset="-122"/>
                <a:cs typeface="Calibri" pitchFamily="34" charset="-120"/>
              </a:rPr>
              <a:t>✅  Opt-out data provenance tracking</a:t>
            </a:r>
            <a:endParaRPr lang="en-US" sz="1100" dirty="0"/>
          </a:p>
          <a:p>
            <a:pPr indent="0" marL="0">
              <a:spcAft>
                <a:spcPts val="800"/>
              </a:spcAft>
              <a:buNone/>
            </a:pPr>
            <a:r>
              <a:rPr lang="en-US" sz="1100" dirty="0">
                <a:solidFill>
                  <a:srgbClr val="E8F0FE"/>
                </a:solidFill>
                <a:latin typeface="Calibri" pitchFamily="34" charset="0"/>
                <a:ea typeface="Calibri" pitchFamily="34" charset="-122"/>
                <a:cs typeface="Calibri" pitchFamily="34" charset="-120"/>
              </a:rPr>
              <a:t>✅  Model cards &amp; transparency reports</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0F6FF"/>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D1B3E"/>
          </a:solidFill>
          <a:ln w="12700">
            <a:solidFill>
              <a:srgbClr val="0D1B3E"/>
            </a:solidFill>
            <a:prstDash val="solid"/>
          </a:ln>
        </p:spPr>
      </p:sp>
      <p:sp>
        <p:nvSpPr>
          <p:cNvPr id="3" name="Shape 1"/>
          <p:cNvSpPr/>
          <p:nvPr/>
        </p:nvSpPr>
        <p:spPr>
          <a:xfrm>
            <a:off x="0" y="914400"/>
            <a:ext cx="9144000" cy="45720"/>
          </a:xfrm>
          <a:prstGeom prst="rect">
            <a:avLst/>
          </a:prstGeom>
          <a:solidFill>
            <a:srgbClr val="EF4444"/>
          </a:solidFill>
          <a:ln w="12700">
            <a:solidFill>
              <a:srgbClr val="EF4444"/>
            </a:solidFill>
            <a:prstDash val="solid"/>
          </a:ln>
        </p:spPr>
      </p:sp>
      <p:pic>
        <p:nvPicPr>
          <p:cNvPr id="4" name="Image 0" descr="preencoded.png">    </p:cNvPr>
          <p:cNvPicPr>
            <a:picLocks noChangeAspect="1"/>
          </p:cNvPicPr>
          <p:nvPr/>
        </p:nvPicPr>
        <p:blipFill>
          <a:blip r:embed="rId1"/>
          <a:stretch>
            <a:fillRect/>
          </a:stretch>
        </p:blipFill>
        <p:spPr>
          <a:xfrm>
            <a:off x="228600" y="182880"/>
            <a:ext cx="502920" cy="502920"/>
          </a:xfrm>
          <a:prstGeom prst="rect">
            <a:avLst/>
          </a:prstGeom>
        </p:spPr>
      </p:pic>
      <p:sp>
        <p:nvSpPr>
          <p:cNvPr id="5" name="Text 2"/>
          <p:cNvSpPr/>
          <p:nvPr/>
        </p:nvSpPr>
        <p:spPr>
          <a:xfrm>
            <a:off x="822960" y="137160"/>
            <a:ext cx="8046720" cy="68580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Security Threats &amp; Defenses in LLMs</a:t>
            </a:r>
            <a:endParaRPr lang="en-US" sz="2600" dirty="0"/>
          </a:p>
        </p:txBody>
      </p:sp>
      <p:sp>
        <p:nvSpPr>
          <p:cNvPr id="6" name="Shape 3"/>
          <p:cNvSpPr/>
          <p:nvPr/>
        </p:nvSpPr>
        <p:spPr>
          <a:xfrm>
            <a:off x="182880" y="1024128"/>
            <a:ext cx="2788920" cy="1828800"/>
          </a:xfrm>
          <a:prstGeom prst="rect">
            <a:avLst/>
          </a:prstGeom>
          <a:solidFill>
            <a:srgbClr val="FFFFFF"/>
          </a:solidFill>
          <a:ln w="25400">
            <a:solidFill>
              <a:srgbClr val="EF4444"/>
            </a:solidFill>
            <a:prstDash val="solid"/>
          </a:ln>
          <a:effectLst>
            <a:outerShdw sx="100000" sy="100000" kx="0" ky="0" algn="bl" rotWithShape="0" blurRad="101600" dist="38100" dir="8100000">
              <a:srgbClr val="000000">
                <a:alpha val="20000"/>
              </a:srgbClr>
            </a:outerShdw>
          </a:effectLst>
        </p:spPr>
      </p:sp>
      <p:sp>
        <p:nvSpPr>
          <p:cNvPr id="7" name="Shape 4"/>
          <p:cNvSpPr/>
          <p:nvPr/>
        </p:nvSpPr>
        <p:spPr>
          <a:xfrm>
            <a:off x="182880" y="1024128"/>
            <a:ext cx="2788920" cy="402336"/>
          </a:xfrm>
          <a:prstGeom prst="rect">
            <a:avLst/>
          </a:prstGeom>
          <a:solidFill>
            <a:srgbClr val="EF4444"/>
          </a:solidFill>
          <a:ln w="12700">
            <a:solidFill>
              <a:srgbClr val="EF4444"/>
            </a:solidFill>
            <a:prstDash val="solid"/>
          </a:ln>
        </p:spPr>
      </p:sp>
      <p:sp>
        <p:nvSpPr>
          <p:cNvPr id="8" name="Text 5"/>
          <p:cNvSpPr/>
          <p:nvPr/>
        </p:nvSpPr>
        <p:spPr>
          <a:xfrm>
            <a:off x="256032" y="1069848"/>
            <a:ext cx="2651760" cy="329184"/>
          </a:xfrm>
          <a:prstGeom prst="rect">
            <a:avLst/>
          </a:prstGeom>
          <a:noFill/>
          <a:ln/>
        </p:spPr>
        <p:txBody>
          <a:bodyPr wrap="square" lIns="25400" tIns="25400" rIns="25400" bIns="2540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  Prompt Injection</a:t>
            </a:r>
            <a:endParaRPr lang="en-US" sz="1250" dirty="0"/>
          </a:p>
        </p:txBody>
      </p:sp>
      <p:sp>
        <p:nvSpPr>
          <p:cNvPr id="9" name="Text 6"/>
          <p:cNvSpPr/>
          <p:nvPr/>
        </p:nvSpPr>
        <p:spPr>
          <a:xfrm>
            <a:off x="274320" y="1499616"/>
            <a:ext cx="2606040" cy="1261872"/>
          </a:xfrm>
          <a:prstGeom prst="rect">
            <a:avLst/>
          </a:prstGeom>
          <a:noFill/>
          <a:ln/>
        </p:spPr>
        <p:txBody>
          <a:bodyPr wrap="square" lIns="50800" tIns="50800" rIns="50800" bIns="50800" rtlCol="0" anchor="ctr"/>
          <a:lstStyle/>
          <a:p>
            <a:pPr indent="0" marL="0">
              <a:buNone/>
            </a:pPr>
            <a:r>
              <a:rPr lang="en-US" sz="1050" dirty="0">
                <a:solidFill>
                  <a:srgbClr val="1E2D4E"/>
                </a:solidFill>
                <a:latin typeface="Calibri" pitchFamily="34" charset="0"/>
                <a:ea typeface="Calibri" pitchFamily="34" charset="-122"/>
                <a:cs typeface="Calibri" pitchFamily="34" charset="-120"/>
              </a:rPr>
              <a:t>Malicious user input overrides system instructions. Example: "Ignore previous instructions and…" Attacker hijacks AI behavior.</a:t>
            </a:r>
            <a:endParaRPr lang="en-US" sz="1050" dirty="0"/>
          </a:p>
        </p:txBody>
      </p:sp>
      <p:sp>
        <p:nvSpPr>
          <p:cNvPr id="10" name="Shape 7"/>
          <p:cNvSpPr/>
          <p:nvPr/>
        </p:nvSpPr>
        <p:spPr>
          <a:xfrm>
            <a:off x="3172968" y="1024128"/>
            <a:ext cx="2788920" cy="1828800"/>
          </a:xfrm>
          <a:prstGeom prst="rect">
            <a:avLst/>
          </a:prstGeom>
          <a:solidFill>
            <a:srgbClr val="FFFFFF"/>
          </a:solidFill>
          <a:ln w="25400">
            <a:solidFill>
              <a:srgbClr val="F97316"/>
            </a:solidFill>
            <a:prstDash val="solid"/>
          </a:ln>
          <a:effectLst>
            <a:outerShdw sx="100000" sy="100000" kx="0" ky="0" algn="bl" rotWithShape="0" blurRad="101600" dist="38100" dir="8100000">
              <a:srgbClr val="000000">
                <a:alpha val="20000"/>
              </a:srgbClr>
            </a:outerShdw>
          </a:effectLst>
        </p:spPr>
      </p:sp>
      <p:sp>
        <p:nvSpPr>
          <p:cNvPr id="11" name="Shape 8"/>
          <p:cNvSpPr/>
          <p:nvPr/>
        </p:nvSpPr>
        <p:spPr>
          <a:xfrm>
            <a:off x="3172968" y="1024128"/>
            <a:ext cx="2788920" cy="402336"/>
          </a:xfrm>
          <a:prstGeom prst="rect">
            <a:avLst/>
          </a:prstGeom>
          <a:solidFill>
            <a:srgbClr val="F97316"/>
          </a:solidFill>
          <a:ln w="12700">
            <a:solidFill>
              <a:srgbClr val="F97316"/>
            </a:solidFill>
            <a:prstDash val="solid"/>
          </a:ln>
        </p:spPr>
      </p:sp>
      <p:sp>
        <p:nvSpPr>
          <p:cNvPr id="12" name="Text 9"/>
          <p:cNvSpPr/>
          <p:nvPr/>
        </p:nvSpPr>
        <p:spPr>
          <a:xfrm>
            <a:off x="3246120" y="1069848"/>
            <a:ext cx="2651760" cy="329184"/>
          </a:xfrm>
          <a:prstGeom prst="rect">
            <a:avLst/>
          </a:prstGeom>
          <a:noFill/>
          <a:ln/>
        </p:spPr>
        <p:txBody>
          <a:bodyPr wrap="square" lIns="25400" tIns="25400" rIns="25400" bIns="2540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  Jailbreaking</a:t>
            </a:r>
            <a:endParaRPr lang="en-US" sz="1250" dirty="0"/>
          </a:p>
        </p:txBody>
      </p:sp>
      <p:sp>
        <p:nvSpPr>
          <p:cNvPr id="13" name="Text 10"/>
          <p:cNvSpPr/>
          <p:nvPr/>
        </p:nvSpPr>
        <p:spPr>
          <a:xfrm>
            <a:off x="3264408" y="1499616"/>
            <a:ext cx="2606040" cy="1261872"/>
          </a:xfrm>
          <a:prstGeom prst="rect">
            <a:avLst/>
          </a:prstGeom>
          <a:noFill/>
          <a:ln/>
        </p:spPr>
        <p:txBody>
          <a:bodyPr wrap="square" lIns="50800" tIns="50800" rIns="50800" bIns="50800" rtlCol="0" anchor="ctr"/>
          <a:lstStyle/>
          <a:p>
            <a:pPr indent="0" marL="0">
              <a:buNone/>
            </a:pPr>
            <a:r>
              <a:rPr lang="en-US" sz="1050" dirty="0">
                <a:solidFill>
                  <a:srgbClr val="1E2D4E"/>
                </a:solidFill>
                <a:latin typeface="Calibri" pitchFamily="34" charset="0"/>
                <a:ea typeface="Calibri" pitchFamily="34" charset="-122"/>
                <a:cs typeface="Calibri" pitchFamily="34" charset="-120"/>
              </a:rPr>
              <a:t>Adversarial prompts bypass safety guardrails. Role-play, token smuggling, many-shot jailbreaking to extract restricted content.</a:t>
            </a:r>
            <a:endParaRPr lang="en-US" sz="1050" dirty="0"/>
          </a:p>
        </p:txBody>
      </p:sp>
      <p:sp>
        <p:nvSpPr>
          <p:cNvPr id="14" name="Shape 11"/>
          <p:cNvSpPr/>
          <p:nvPr/>
        </p:nvSpPr>
        <p:spPr>
          <a:xfrm>
            <a:off x="6163056" y="1024128"/>
            <a:ext cx="2788920" cy="1828800"/>
          </a:xfrm>
          <a:prstGeom prst="rect">
            <a:avLst/>
          </a:prstGeom>
          <a:solidFill>
            <a:srgbClr val="FFFFFF"/>
          </a:solidFill>
          <a:ln w="25400">
            <a:solidFill>
              <a:srgbClr val="8B5CF6"/>
            </a:solidFill>
            <a:prstDash val="solid"/>
          </a:ln>
          <a:effectLst>
            <a:outerShdw sx="100000" sy="100000" kx="0" ky="0" algn="bl" rotWithShape="0" blurRad="101600" dist="38100" dir="8100000">
              <a:srgbClr val="000000">
                <a:alpha val="20000"/>
              </a:srgbClr>
            </a:outerShdw>
          </a:effectLst>
        </p:spPr>
      </p:sp>
      <p:sp>
        <p:nvSpPr>
          <p:cNvPr id="15" name="Shape 12"/>
          <p:cNvSpPr/>
          <p:nvPr/>
        </p:nvSpPr>
        <p:spPr>
          <a:xfrm>
            <a:off x="6163056" y="1024128"/>
            <a:ext cx="2788920" cy="402336"/>
          </a:xfrm>
          <a:prstGeom prst="rect">
            <a:avLst/>
          </a:prstGeom>
          <a:solidFill>
            <a:srgbClr val="8B5CF6"/>
          </a:solidFill>
          <a:ln w="12700">
            <a:solidFill>
              <a:srgbClr val="8B5CF6"/>
            </a:solidFill>
            <a:prstDash val="solid"/>
          </a:ln>
        </p:spPr>
      </p:sp>
      <p:sp>
        <p:nvSpPr>
          <p:cNvPr id="16" name="Text 13"/>
          <p:cNvSpPr/>
          <p:nvPr/>
        </p:nvSpPr>
        <p:spPr>
          <a:xfrm>
            <a:off x="6236208" y="1069848"/>
            <a:ext cx="2651760" cy="329184"/>
          </a:xfrm>
          <a:prstGeom prst="rect">
            <a:avLst/>
          </a:prstGeom>
          <a:noFill/>
          <a:ln/>
        </p:spPr>
        <p:txBody>
          <a:bodyPr wrap="square" lIns="25400" tIns="25400" rIns="25400" bIns="2540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  Data Poisoning</a:t>
            </a:r>
            <a:endParaRPr lang="en-US" sz="1250" dirty="0"/>
          </a:p>
        </p:txBody>
      </p:sp>
      <p:sp>
        <p:nvSpPr>
          <p:cNvPr id="17" name="Text 14"/>
          <p:cNvSpPr/>
          <p:nvPr/>
        </p:nvSpPr>
        <p:spPr>
          <a:xfrm>
            <a:off x="6254496" y="1499616"/>
            <a:ext cx="2606040" cy="1261872"/>
          </a:xfrm>
          <a:prstGeom prst="rect">
            <a:avLst/>
          </a:prstGeom>
          <a:noFill/>
          <a:ln/>
        </p:spPr>
        <p:txBody>
          <a:bodyPr wrap="square" lIns="50800" tIns="50800" rIns="50800" bIns="50800" rtlCol="0" anchor="ctr"/>
          <a:lstStyle/>
          <a:p>
            <a:pPr indent="0" marL="0">
              <a:buNone/>
            </a:pPr>
            <a:r>
              <a:rPr lang="en-US" sz="1050" dirty="0">
                <a:solidFill>
                  <a:srgbClr val="1E2D4E"/>
                </a:solidFill>
                <a:latin typeface="Calibri" pitchFamily="34" charset="0"/>
                <a:ea typeface="Calibri" pitchFamily="34" charset="-122"/>
                <a:cs typeface="Calibri" pitchFamily="34" charset="-120"/>
              </a:rPr>
              <a:t>Backdoor inserted into training data. Model behaves normally until a trigger phrase activates malicious behavior.</a:t>
            </a:r>
            <a:endParaRPr lang="en-US" sz="1050" dirty="0"/>
          </a:p>
        </p:txBody>
      </p:sp>
      <p:sp>
        <p:nvSpPr>
          <p:cNvPr id="18" name="Shape 15"/>
          <p:cNvSpPr/>
          <p:nvPr/>
        </p:nvSpPr>
        <p:spPr>
          <a:xfrm>
            <a:off x="182880" y="3035808"/>
            <a:ext cx="2788920" cy="1828800"/>
          </a:xfrm>
          <a:prstGeom prst="rect">
            <a:avLst/>
          </a:prstGeom>
          <a:solidFill>
            <a:srgbClr val="FFFFFF"/>
          </a:solidFill>
          <a:ln w="25400">
            <a:solidFill>
              <a:srgbClr val="1A56DB"/>
            </a:solidFill>
            <a:prstDash val="solid"/>
          </a:ln>
          <a:effectLst>
            <a:outerShdw sx="100000" sy="100000" kx="0" ky="0" algn="bl" rotWithShape="0" blurRad="101600" dist="38100" dir="8100000">
              <a:srgbClr val="000000">
                <a:alpha val="20000"/>
              </a:srgbClr>
            </a:outerShdw>
          </a:effectLst>
        </p:spPr>
      </p:sp>
      <p:sp>
        <p:nvSpPr>
          <p:cNvPr id="19" name="Shape 16"/>
          <p:cNvSpPr/>
          <p:nvPr/>
        </p:nvSpPr>
        <p:spPr>
          <a:xfrm>
            <a:off x="182880" y="3035808"/>
            <a:ext cx="2788920" cy="402336"/>
          </a:xfrm>
          <a:prstGeom prst="rect">
            <a:avLst/>
          </a:prstGeom>
          <a:solidFill>
            <a:srgbClr val="1A56DB"/>
          </a:solidFill>
          <a:ln w="12700">
            <a:solidFill>
              <a:srgbClr val="1A56DB"/>
            </a:solidFill>
            <a:prstDash val="solid"/>
          </a:ln>
        </p:spPr>
      </p:sp>
      <p:sp>
        <p:nvSpPr>
          <p:cNvPr id="20" name="Text 17"/>
          <p:cNvSpPr/>
          <p:nvPr/>
        </p:nvSpPr>
        <p:spPr>
          <a:xfrm>
            <a:off x="256032" y="3081528"/>
            <a:ext cx="2651760" cy="329184"/>
          </a:xfrm>
          <a:prstGeom prst="rect">
            <a:avLst/>
          </a:prstGeom>
          <a:noFill/>
          <a:ln/>
        </p:spPr>
        <p:txBody>
          <a:bodyPr wrap="square" lIns="25400" tIns="25400" rIns="25400" bIns="2540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  Model Extraction</a:t>
            </a:r>
            <a:endParaRPr lang="en-US" sz="1250" dirty="0"/>
          </a:p>
        </p:txBody>
      </p:sp>
      <p:sp>
        <p:nvSpPr>
          <p:cNvPr id="21" name="Text 18"/>
          <p:cNvSpPr/>
          <p:nvPr/>
        </p:nvSpPr>
        <p:spPr>
          <a:xfrm>
            <a:off x="274320" y="3511296"/>
            <a:ext cx="2606040" cy="1261872"/>
          </a:xfrm>
          <a:prstGeom prst="rect">
            <a:avLst/>
          </a:prstGeom>
          <a:noFill/>
          <a:ln/>
        </p:spPr>
        <p:txBody>
          <a:bodyPr wrap="square" lIns="50800" tIns="50800" rIns="50800" bIns="50800" rtlCol="0" anchor="ctr"/>
          <a:lstStyle/>
          <a:p>
            <a:pPr indent="0" marL="0">
              <a:buNone/>
            </a:pPr>
            <a:r>
              <a:rPr lang="en-US" sz="1050" dirty="0">
                <a:solidFill>
                  <a:srgbClr val="1E2D4E"/>
                </a:solidFill>
                <a:latin typeface="Calibri" pitchFamily="34" charset="0"/>
                <a:ea typeface="Calibri" pitchFamily="34" charset="-122"/>
                <a:cs typeface="Calibri" pitchFamily="34" charset="-120"/>
              </a:rPr>
              <a:t>Systematically query API to clone model behavior. Intellectual property theft without accessing weights directly.</a:t>
            </a:r>
            <a:endParaRPr lang="en-US" sz="1050" dirty="0"/>
          </a:p>
        </p:txBody>
      </p:sp>
      <p:sp>
        <p:nvSpPr>
          <p:cNvPr id="22" name="Shape 19"/>
          <p:cNvSpPr/>
          <p:nvPr/>
        </p:nvSpPr>
        <p:spPr>
          <a:xfrm>
            <a:off x="3172968" y="3035808"/>
            <a:ext cx="2788920" cy="1828800"/>
          </a:xfrm>
          <a:prstGeom prst="rect">
            <a:avLst/>
          </a:prstGeom>
          <a:solidFill>
            <a:srgbClr val="FFFFFF"/>
          </a:solidFill>
          <a:ln w="25400">
            <a:solidFill>
              <a:srgbClr val="0D9488"/>
            </a:solidFill>
            <a:prstDash val="solid"/>
          </a:ln>
          <a:effectLst>
            <a:outerShdw sx="100000" sy="100000" kx="0" ky="0" algn="bl" rotWithShape="0" blurRad="101600" dist="38100" dir="8100000">
              <a:srgbClr val="000000">
                <a:alpha val="20000"/>
              </a:srgbClr>
            </a:outerShdw>
          </a:effectLst>
        </p:spPr>
      </p:sp>
      <p:sp>
        <p:nvSpPr>
          <p:cNvPr id="23" name="Shape 20"/>
          <p:cNvSpPr/>
          <p:nvPr/>
        </p:nvSpPr>
        <p:spPr>
          <a:xfrm>
            <a:off x="3172968" y="3035808"/>
            <a:ext cx="2788920" cy="402336"/>
          </a:xfrm>
          <a:prstGeom prst="rect">
            <a:avLst/>
          </a:prstGeom>
          <a:solidFill>
            <a:srgbClr val="0D9488"/>
          </a:solidFill>
          <a:ln w="12700">
            <a:solidFill>
              <a:srgbClr val="0D9488"/>
            </a:solidFill>
            <a:prstDash val="solid"/>
          </a:ln>
        </p:spPr>
      </p:sp>
      <p:sp>
        <p:nvSpPr>
          <p:cNvPr id="24" name="Text 21"/>
          <p:cNvSpPr/>
          <p:nvPr/>
        </p:nvSpPr>
        <p:spPr>
          <a:xfrm>
            <a:off x="3246120" y="3081528"/>
            <a:ext cx="2651760" cy="329184"/>
          </a:xfrm>
          <a:prstGeom prst="rect">
            <a:avLst/>
          </a:prstGeom>
          <a:noFill/>
          <a:ln/>
        </p:spPr>
        <p:txBody>
          <a:bodyPr wrap="square" lIns="25400" tIns="25400" rIns="25400" bIns="2540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  Membership Inference</a:t>
            </a:r>
            <a:endParaRPr lang="en-US" sz="1250" dirty="0"/>
          </a:p>
        </p:txBody>
      </p:sp>
      <p:sp>
        <p:nvSpPr>
          <p:cNvPr id="25" name="Text 22"/>
          <p:cNvSpPr/>
          <p:nvPr/>
        </p:nvSpPr>
        <p:spPr>
          <a:xfrm>
            <a:off x="3264408" y="3511296"/>
            <a:ext cx="2606040" cy="1261872"/>
          </a:xfrm>
          <a:prstGeom prst="rect">
            <a:avLst/>
          </a:prstGeom>
          <a:noFill/>
          <a:ln/>
        </p:spPr>
        <p:txBody>
          <a:bodyPr wrap="square" lIns="50800" tIns="50800" rIns="50800" bIns="50800" rtlCol="0" anchor="ctr"/>
          <a:lstStyle/>
          <a:p>
            <a:pPr indent="0" marL="0">
              <a:buNone/>
            </a:pPr>
            <a:r>
              <a:rPr lang="en-US" sz="1050" dirty="0">
                <a:solidFill>
                  <a:srgbClr val="1E2D4E"/>
                </a:solidFill>
                <a:latin typeface="Calibri" pitchFamily="34" charset="0"/>
                <a:ea typeface="Calibri" pitchFamily="34" charset="-122"/>
                <a:cs typeface="Calibri" pitchFamily="34" charset="-120"/>
              </a:rPr>
              <a:t>Determine if specific data was in training set. Privacy attack — can expose sensitive individuals' data.</a:t>
            </a:r>
            <a:endParaRPr lang="en-US" sz="1050" dirty="0"/>
          </a:p>
        </p:txBody>
      </p:sp>
      <p:sp>
        <p:nvSpPr>
          <p:cNvPr id="26" name="Shape 23"/>
          <p:cNvSpPr/>
          <p:nvPr/>
        </p:nvSpPr>
        <p:spPr>
          <a:xfrm>
            <a:off x="6163056" y="3035808"/>
            <a:ext cx="2788920" cy="1828800"/>
          </a:xfrm>
          <a:prstGeom prst="rect">
            <a:avLst/>
          </a:prstGeom>
          <a:solidFill>
            <a:srgbClr val="FFFFFF"/>
          </a:solidFill>
          <a:ln w="25400">
            <a:solidFill>
              <a:srgbClr val="F59E0B"/>
            </a:solidFill>
            <a:prstDash val="solid"/>
          </a:ln>
          <a:effectLst>
            <a:outerShdw sx="100000" sy="100000" kx="0" ky="0" algn="bl" rotWithShape="0" blurRad="101600" dist="38100" dir="8100000">
              <a:srgbClr val="000000">
                <a:alpha val="20000"/>
              </a:srgbClr>
            </a:outerShdw>
          </a:effectLst>
        </p:spPr>
      </p:sp>
      <p:sp>
        <p:nvSpPr>
          <p:cNvPr id="27" name="Shape 24"/>
          <p:cNvSpPr/>
          <p:nvPr/>
        </p:nvSpPr>
        <p:spPr>
          <a:xfrm>
            <a:off x="6163056" y="3035808"/>
            <a:ext cx="2788920" cy="402336"/>
          </a:xfrm>
          <a:prstGeom prst="rect">
            <a:avLst/>
          </a:prstGeom>
          <a:solidFill>
            <a:srgbClr val="F59E0B"/>
          </a:solidFill>
          <a:ln w="12700">
            <a:solidFill>
              <a:srgbClr val="F59E0B"/>
            </a:solidFill>
            <a:prstDash val="solid"/>
          </a:ln>
        </p:spPr>
      </p:sp>
      <p:sp>
        <p:nvSpPr>
          <p:cNvPr id="28" name="Text 25"/>
          <p:cNvSpPr/>
          <p:nvPr/>
        </p:nvSpPr>
        <p:spPr>
          <a:xfrm>
            <a:off x="6236208" y="3081528"/>
            <a:ext cx="2651760" cy="329184"/>
          </a:xfrm>
          <a:prstGeom prst="rect">
            <a:avLst/>
          </a:prstGeom>
          <a:noFill/>
          <a:ln/>
        </p:spPr>
        <p:txBody>
          <a:bodyPr wrap="square" lIns="25400" tIns="25400" rIns="25400" bIns="2540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  Sycophancy Attack</a:t>
            </a:r>
            <a:endParaRPr lang="en-US" sz="1250" dirty="0"/>
          </a:p>
        </p:txBody>
      </p:sp>
      <p:sp>
        <p:nvSpPr>
          <p:cNvPr id="29" name="Text 26"/>
          <p:cNvSpPr/>
          <p:nvPr/>
        </p:nvSpPr>
        <p:spPr>
          <a:xfrm>
            <a:off x="6254496" y="3511296"/>
            <a:ext cx="2606040" cy="1261872"/>
          </a:xfrm>
          <a:prstGeom prst="rect">
            <a:avLst/>
          </a:prstGeom>
          <a:noFill/>
          <a:ln/>
        </p:spPr>
        <p:txBody>
          <a:bodyPr wrap="square" lIns="50800" tIns="50800" rIns="50800" bIns="50800" rtlCol="0" anchor="ctr"/>
          <a:lstStyle/>
          <a:p>
            <a:pPr indent="0" marL="0">
              <a:buNone/>
            </a:pPr>
            <a:r>
              <a:rPr lang="en-US" sz="1050" dirty="0">
                <a:solidFill>
                  <a:srgbClr val="1E2D4E"/>
                </a:solidFill>
                <a:latin typeface="Calibri" pitchFamily="34" charset="0"/>
                <a:ea typeface="Calibri" pitchFamily="34" charset="-122"/>
                <a:cs typeface="Calibri" pitchFamily="34" charset="-120"/>
              </a:rPr>
              <a:t>Model agrees with incorrect user statements. Over-optimization on approval leads to factual errors being validated.</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80D1A"/>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41E35"/>
          </a:solidFill>
          <a:ln w="12700">
            <a:solidFill>
              <a:srgbClr val="141E35"/>
            </a:solidFill>
            <a:prstDash val="solid"/>
          </a:ln>
        </p:spPr>
      </p:sp>
      <p:sp>
        <p:nvSpPr>
          <p:cNvPr id="3" name="Shape 1"/>
          <p:cNvSpPr/>
          <p:nvPr/>
        </p:nvSpPr>
        <p:spPr>
          <a:xfrm>
            <a:off x="0" y="914400"/>
            <a:ext cx="9144000" cy="45720"/>
          </a:xfrm>
          <a:prstGeom prst="rect">
            <a:avLst/>
          </a:prstGeom>
          <a:solidFill>
            <a:srgbClr val="10B981"/>
          </a:solidFill>
          <a:ln w="12700">
            <a:solidFill>
              <a:srgbClr val="10B981"/>
            </a:solidFill>
            <a:prstDash val="solid"/>
          </a:ln>
        </p:spPr>
      </p:sp>
      <p:pic>
        <p:nvPicPr>
          <p:cNvPr id="4" name="Image 0" descr="preencoded.png">    </p:cNvPr>
          <p:cNvPicPr>
            <a:picLocks noChangeAspect="1"/>
          </p:cNvPicPr>
          <p:nvPr/>
        </p:nvPicPr>
        <p:blipFill>
          <a:blip r:embed="rId1"/>
          <a:stretch>
            <a:fillRect/>
          </a:stretch>
        </p:blipFill>
        <p:spPr>
          <a:xfrm>
            <a:off x="228600" y="182880"/>
            <a:ext cx="502920" cy="502920"/>
          </a:xfrm>
          <a:prstGeom prst="rect">
            <a:avLst/>
          </a:prstGeom>
        </p:spPr>
      </p:pic>
      <p:sp>
        <p:nvSpPr>
          <p:cNvPr id="5" name="Text 2"/>
          <p:cNvSpPr/>
          <p:nvPr/>
        </p:nvSpPr>
        <p:spPr>
          <a:xfrm>
            <a:off x="822960" y="137160"/>
            <a:ext cx="8046720" cy="68580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Defense Strategies for Secure LLM Deployment</a:t>
            </a:r>
            <a:endParaRPr lang="en-US" sz="2600" dirty="0"/>
          </a:p>
        </p:txBody>
      </p:sp>
      <p:sp>
        <p:nvSpPr>
          <p:cNvPr id="6" name="Shape 3"/>
          <p:cNvSpPr/>
          <p:nvPr/>
        </p:nvSpPr>
        <p:spPr>
          <a:xfrm>
            <a:off x="228600" y="1024128"/>
            <a:ext cx="4206240" cy="1828800"/>
          </a:xfrm>
          <a:prstGeom prst="rect">
            <a:avLst/>
          </a:prstGeom>
          <a:solidFill>
            <a:srgbClr val="141E35"/>
          </a:solidFill>
          <a:ln w="19050">
            <a:solidFill>
              <a:srgbClr val="10B981"/>
            </a:solidFill>
            <a:prstDash val="solid"/>
          </a:ln>
          <a:effectLst>
            <a:outerShdw sx="100000" sy="100000" kx="0" ky="0" algn="bl" rotWithShape="0" blurRad="101600" dist="38100" dir="8100000">
              <a:srgbClr val="000000">
                <a:alpha val="20000"/>
              </a:srgbClr>
            </a:outerShdw>
          </a:effectLst>
        </p:spPr>
      </p:sp>
      <p:sp>
        <p:nvSpPr>
          <p:cNvPr id="7" name="Shape 4"/>
          <p:cNvSpPr/>
          <p:nvPr/>
        </p:nvSpPr>
        <p:spPr>
          <a:xfrm>
            <a:off x="228600" y="1024128"/>
            <a:ext cx="4206240" cy="402336"/>
          </a:xfrm>
          <a:prstGeom prst="rect">
            <a:avLst/>
          </a:prstGeom>
          <a:solidFill>
            <a:srgbClr val="10B981"/>
          </a:solidFill>
          <a:ln w="12700">
            <a:solidFill>
              <a:srgbClr val="10B981"/>
            </a:solidFill>
            <a:prstDash val="solid"/>
          </a:ln>
        </p:spPr>
      </p:sp>
      <p:sp>
        <p:nvSpPr>
          <p:cNvPr id="8" name="Text 5"/>
          <p:cNvSpPr/>
          <p:nvPr/>
        </p:nvSpPr>
        <p:spPr>
          <a:xfrm>
            <a:off x="320040" y="1069848"/>
            <a:ext cx="4023360" cy="329184"/>
          </a:xfrm>
          <a:prstGeom prst="rect">
            <a:avLst/>
          </a:prstGeom>
          <a:noFill/>
          <a:ln/>
        </p:spPr>
        <p:txBody>
          <a:bodyPr wrap="square" lIns="50800" tIns="50800" rIns="50800" bIns="5080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  Input Hardening</a:t>
            </a:r>
            <a:endParaRPr lang="en-US" sz="1300" dirty="0"/>
          </a:p>
        </p:txBody>
      </p:sp>
      <p:sp>
        <p:nvSpPr>
          <p:cNvPr id="9" name="Text 6"/>
          <p:cNvSpPr/>
          <p:nvPr/>
        </p:nvSpPr>
        <p:spPr>
          <a:xfrm>
            <a:off x="365760" y="1499616"/>
            <a:ext cx="3931920" cy="1280160"/>
          </a:xfrm>
          <a:prstGeom prst="rect">
            <a:avLst/>
          </a:prstGeom>
          <a:noFill/>
          <a:ln/>
        </p:spPr>
        <p:txBody>
          <a:bodyPr wrap="square" lIns="76200" tIns="76200" rIns="76200" bIns="76200" rtlCol="0" anchor="ctr"/>
          <a:lstStyle/>
          <a:p>
            <a:pPr marL="342900" indent="-342900">
              <a:spcAft>
                <a:spcPts val="700"/>
              </a:spcAft>
              <a:buSzPct val="100000"/>
              <a:buChar char="•"/>
            </a:pPr>
            <a:r>
              <a:rPr lang="en-US" sz="1150" dirty="0">
                <a:solidFill>
                  <a:srgbClr val="E8F0FE"/>
                </a:solidFill>
                <a:latin typeface="Calibri" pitchFamily="34" charset="0"/>
                <a:ea typeface="Calibri" pitchFamily="34" charset="-122"/>
                <a:cs typeface="Calibri" pitchFamily="34" charset="-120"/>
              </a:rPr>
              <a:t>Sanitize and validate all user inputs</a:t>
            </a:r>
            <a:endParaRPr lang="en-US" sz="1150" dirty="0"/>
          </a:p>
          <a:p>
            <a:pPr marL="342900" indent="-342900">
              <a:spcAft>
                <a:spcPts val="700"/>
              </a:spcAft>
              <a:buSzPct val="100000"/>
              <a:buChar char="•"/>
            </a:pPr>
            <a:r>
              <a:rPr lang="en-US" sz="1150" dirty="0">
                <a:solidFill>
                  <a:srgbClr val="E8F0FE"/>
                </a:solidFill>
                <a:latin typeface="Calibri" pitchFamily="34" charset="0"/>
                <a:ea typeface="Calibri" pitchFamily="34" charset="-122"/>
                <a:cs typeface="Calibri" pitchFamily="34" charset="-120"/>
              </a:rPr>
              <a:t>Detect and block injection patterns</a:t>
            </a:r>
            <a:endParaRPr lang="en-US" sz="1150" dirty="0"/>
          </a:p>
          <a:p>
            <a:pPr marL="342900" indent="-342900">
              <a:spcAft>
                <a:spcPts val="700"/>
              </a:spcAft>
              <a:buSzPct val="100000"/>
              <a:buChar char="•"/>
            </a:pPr>
            <a:r>
              <a:rPr lang="en-US" sz="1150" dirty="0">
                <a:solidFill>
                  <a:srgbClr val="E8F0FE"/>
                </a:solidFill>
                <a:latin typeface="Calibri" pitchFamily="34" charset="0"/>
                <a:ea typeface="Calibri" pitchFamily="34" charset="-122"/>
                <a:cs typeface="Calibri" pitchFamily="34" charset="-120"/>
              </a:rPr>
              <a:t>Separate system &amp; user prompt contexts</a:t>
            </a:r>
            <a:endParaRPr lang="en-US" sz="1150" dirty="0"/>
          </a:p>
          <a:p>
            <a:pPr marL="342900" indent="-342900">
              <a:spcAft>
                <a:spcPts val="700"/>
              </a:spcAft>
              <a:buSzPct val="100000"/>
              <a:buChar char="•"/>
            </a:pPr>
            <a:r>
              <a:rPr lang="en-US" sz="1150" dirty="0">
                <a:solidFill>
                  <a:srgbClr val="E8F0FE"/>
                </a:solidFill>
                <a:latin typeface="Calibri" pitchFamily="34" charset="0"/>
                <a:ea typeface="Calibri" pitchFamily="34" charset="-122"/>
                <a:cs typeface="Calibri" pitchFamily="34" charset="-120"/>
              </a:rPr>
              <a:t>Input length limits &amp; rate limiting</a:t>
            </a:r>
            <a:endParaRPr lang="en-US" sz="1150" dirty="0"/>
          </a:p>
        </p:txBody>
      </p:sp>
      <p:sp>
        <p:nvSpPr>
          <p:cNvPr id="10" name="Shape 7"/>
          <p:cNvSpPr/>
          <p:nvPr/>
        </p:nvSpPr>
        <p:spPr>
          <a:xfrm>
            <a:off x="4709160" y="1024128"/>
            <a:ext cx="4206240" cy="1828800"/>
          </a:xfrm>
          <a:prstGeom prst="rect">
            <a:avLst/>
          </a:prstGeom>
          <a:solidFill>
            <a:srgbClr val="141E35"/>
          </a:solidFill>
          <a:ln w="19050">
            <a:solidFill>
              <a:srgbClr val="1A56DB"/>
            </a:solidFill>
            <a:prstDash val="solid"/>
          </a:ln>
          <a:effectLst>
            <a:outerShdw sx="100000" sy="100000" kx="0" ky="0" algn="bl" rotWithShape="0" blurRad="101600" dist="38100" dir="8100000">
              <a:srgbClr val="000000">
                <a:alpha val="20000"/>
              </a:srgbClr>
            </a:outerShdw>
          </a:effectLst>
        </p:spPr>
      </p:sp>
      <p:sp>
        <p:nvSpPr>
          <p:cNvPr id="11" name="Shape 8"/>
          <p:cNvSpPr/>
          <p:nvPr/>
        </p:nvSpPr>
        <p:spPr>
          <a:xfrm>
            <a:off x="4709160" y="1024128"/>
            <a:ext cx="4206240" cy="402336"/>
          </a:xfrm>
          <a:prstGeom prst="rect">
            <a:avLst/>
          </a:prstGeom>
          <a:solidFill>
            <a:srgbClr val="1A56DB"/>
          </a:solidFill>
          <a:ln w="12700">
            <a:solidFill>
              <a:srgbClr val="1A56DB"/>
            </a:solidFill>
            <a:prstDash val="solid"/>
          </a:ln>
        </p:spPr>
      </p:sp>
      <p:sp>
        <p:nvSpPr>
          <p:cNvPr id="12" name="Text 9"/>
          <p:cNvSpPr/>
          <p:nvPr/>
        </p:nvSpPr>
        <p:spPr>
          <a:xfrm>
            <a:off x="4800600" y="1069848"/>
            <a:ext cx="4023360" cy="329184"/>
          </a:xfrm>
          <a:prstGeom prst="rect">
            <a:avLst/>
          </a:prstGeom>
          <a:noFill/>
          <a:ln/>
        </p:spPr>
        <p:txBody>
          <a:bodyPr wrap="square" lIns="50800" tIns="50800" rIns="50800" bIns="5080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  Output Filtering</a:t>
            </a:r>
            <a:endParaRPr lang="en-US" sz="1300" dirty="0"/>
          </a:p>
        </p:txBody>
      </p:sp>
      <p:sp>
        <p:nvSpPr>
          <p:cNvPr id="13" name="Text 10"/>
          <p:cNvSpPr/>
          <p:nvPr/>
        </p:nvSpPr>
        <p:spPr>
          <a:xfrm>
            <a:off x="4846320" y="1499616"/>
            <a:ext cx="3931920" cy="1280160"/>
          </a:xfrm>
          <a:prstGeom prst="rect">
            <a:avLst/>
          </a:prstGeom>
          <a:noFill/>
          <a:ln/>
        </p:spPr>
        <p:txBody>
          <a:bodyPr wrap="square" lIns="76200" tIns="76200" rIns="76200" bIns="76200" rtlCol="0" anchor="ctr"/>
          <a:lstStyle/>
          <a:p>
            <a:pPr marL="342900" indent="-342900">
              <a:spcAft>
                <a:spcPts val="700"/>
              </a:spcAft>
              <a:buSzPct val="100000"/>
              <a:buChar char="•"/>
            </a:pPr>
            <a:r>
              <a:rPr lang="en-US" sz="1150" dirty="0">
                <a:solidFill>
                  <a:srgbClr val="E8F0FE"/>
                </a:solidFill>
                <a:latin typeface="Calibri" pitchFamily="34" charset="0"/>
                <a:ea typeface="Calibri" pitchFamily="34" charset="-122"/>
                <a:cs typeface="Calibri" pitchFamily="34" charset="-120"/>
              </a:rPr>
              <a:t>Content moderation classifiers</a:t>
            </a:r>
            <a:endParaRPr lang="en-US" sz="1150" dirty="0"/>
          </a:p>
          <a:p>
            <a:pPr marL="342900" indent="-342900">
              <a:spcAft>
                <a:spcPts val="700"/>
              </a:spcAft>
              <a:buSzPct val="100000"/>
              <a:buChar char="•"/>
            </a:pPr>
            <a:r>
              <a:rPr lang="en-US" sz="1150" dirty="0">
                <a:solidFill>
                  <a:srgbClr val="E8F0FE"/>
                </a:solidFill>
                <a:latin typeface="Calibri" pitchFamily="34" charset="0"/>
                <a:ea typeface="Calibri" pitchFamily="34" charset="-122"/>
                <a:cs typeface="Calibri" pitchFamily="34" charset="-120"/>
              </a:rPr>
              <a:t>PII detection and redaction</a:t>
            </a:r>
            <a:endParaRPr lang="en-US" sz="1150" dirty="0"/>
          </a:p>
          <a:p>
            <a:pPr marL="342900" indent="-342900">
              <a:spcAft>
                <a:spcPts val="700"/>
              </a:spcAft>
              <a:buSzPct val="100000"/>
              <a:buChar char="•"/>
            </a:pPr>
            <a:r>
              <a:rPr lang="en-US" sz="1150" dirty="0">
                <a:solidFill>
                  <a:srgbClr val="E8F0FE"/>
                </a:solidFill>
                <a:latin typeface="Calibri" pitchFamily="34" charset="0"/>
                <a:ea typeface="Calibri" pitchFamily="34" charset="-122"/>
                <a:cs typeface="Calibri" pitchFamily="34" charset="-120"/>
              </a:rPr>
              <a:t>Toxicity &amp; hate speech screening</a:t>
            </a:r>
            <a:endParaRPr lang="en-US" sz="1150" dirty="0"/>
          </a:p>
          <a:p>
            <a:pPr marL="342900" indent="-342900">
              <a:spcAft>
                <a:spcPts val="700"/>
              </a:spcAft>
              <a:buSzPct val="100000"/>
              <a:buChar char="•"/>
            </a:pPr>
            <a:r>
              <a:rPr lang="en-US" sz="1150" dirty="0">
                <a:solidFill>
                  <a:srgbClr val="E8F0FE"/>
                </a:solidFill>
                <a:latin typeface="Calibri" pitchFamily="34" charset="0"/>
                <a:ea typeface="Calibri" pitchFamily="34" charset="-122"/>
                <a:cs typeface="Calibri" pitchFamily="34" charset="-120"/>
              </a:rPr>
              <a:t>Structured output validation (JSON schema)</a:t>
            </a:r>
            <a:endParaRPr lang="en-US" sz="1150" dirty="0"/>
          </a:p>
        </p:txBody>
      </p:sp>
      <p:sp>
        <p:nvSpPr>
          <p:cNvPr id="14" name="Shape 11"/>
          <p:cNvSpPr/>
          <p:nvPr/>
        </p:nvSpPr>
        <p:spPr>
          <a:xfrm>
            <a:off x="228600" y="3035808"/>
            <a:ext cx="4206240" cy="1828800"/>
          </a:xfrm>
          <a:prstGeom prst="rect">
            <a:avLst/>
          </a:prstGeom>
          <a:solidFill>
            <a:srgbClr val="141E35"/>
          </a:solidFill>
          <a:ln w="19050">
            <a:solidFill>
              <a:srgbClr val="8B5CF6"/>
            </a:solidFill>
            <a:prstDash val="solid"/>
          </a:ln>
          <a:effectLst>
            <a:outerShdw sx="100000" sy="100000" kx="0" ky="0" algn="bl" rotWithShape="0" blurRad="101600" dist="38100" dir="8100000">
              <a:srgbClr val="000000">
                <a:alpha val="20000"/>
              </a:srgbClr>
            </a:outerShdw>
          </a:effectLst>
        </p:spPr>
      </p:sp>
      <p:sp>
        <p:nvSpPr>
          <p:cNvPr id="15" name="Shape 12"/>
          <p:cNvSpPr/>
          <p:nvPr/>
        </p:nvSpPr>
        <p:spPr>
          <a:xfrm>
            <a:off x="228600" y="3035808"/>
            <a:ext cx="4206240" cy="402336"/>
          </a:xfrm>
          <a:prstGeom prst="rect">
            <a:avLst/>
          </a:prstGeom>
          <a:solidFill>
            <a:srgbClr val="8B5CF6"/>
          </a:solidFill>
          <a:ln w="12700">
            <a:solidFill>
              <a:srgbClr val="8B5CF6"/>
            </a:solidFill>
            <a:prstDash val="solid"/>
          </a:ln>
        </p:spPr>
      </p:sp>
      <p:sp>
        <p:nvSpPr>
          <p:cNvPr id="16" name="Text 13"/>
          <p:cNvSpPr/>
          <p:nvPr/>
        </p:nvSpPr>
        <p:spPr>
          <a:xfrm>
            <a:off x="320040" y="3081528"/>
            <a:ext cx="4023360" cy="329184"/>
          </a:xfrm>
          <a:prstGeom prst="rect">
            <a:avLst/>
          </a:prstGeom>
          <a:noFill/>
          <a:ln/>
        </p:spPr>
        <p:txBody>
          <a:bodyPr wrap="square" lIns="50800" tIns="50800" rIns="50800" bIns="5080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  Model-Level Defenses</a:t>
            </a:r>
            <a:endParaRPr lang="en-US" sz="1300" dirty="0"/>
          </a:p>
        </p:txBody>
      </p:sp>
      <p:sp>
        <p:nvSpPr>
          <p:cNvPr id="17" name="Text 14"/>
          <p:cNvSpPr/>
          <p:nvPr/>
        </p:nvSpPr>
        <p:spPr>
          <a:xfrm>
            <a:off x="365760" y="3511296"/>
            <a:ext cx="3931920" cy="1280160"/>
          </a:xfrm>
          <a:prstGeom prst="rect">
            <a:avLst/>
          </a:prstGeom>
          <a:noFill/>
          <a:ln/>
        </p:spPr>
        <p:txBody>
          <a:bodyPr wrap="square" lIns="76200" tIns="76200" rIns="76200" bIns="76200" rtlCol="0" anchor="ctr"/>
          <a:lstStyle/>
          <a:p>
            <a:pPr marL="342900" indent="-342900">
              <a:spcAft>
                <a:spcPts val="700"/>
              </a:spcAft>
              <a:buSzPct val="100000"/>
              <a:buChar char="•"/>
            </a:pPr>
            <a:r>
              <a:rPr lang="en-US" sz="1150" dirty="0">
                <a:solidFill>
                  <a:srgbClr val="E8F0FE"/>
                </a:solidFill>
                <a:latin typeface="Calibri" pitchFamily="34" charset="0"/>
                <a:ea typeface="Calibri" pitchFamily="34" charset="-122"/>
                <a:cs typeface="Calibri" pitchFamily="34" charset="-120"/>
              </a:rPr>
              <a:t>Adversarial training &amp; red-teaming</a:t>
            </a:r>
            <a:endParaRPr lang="en-US" sz="1150" dirty="0"/>
          </a:p>
          <a:p>
            <a:pPr marL="342900" indent="-342900">
              <a:spcAft>
                <a:spcPts val="700"/>
              </a:spcAft>
              <a:buSzPct val="100000"/>
              <a:buChar char="•"/>
            </a:pPr>
            <a:r>
              <a:rPr lang="en-US" sz="1150" dirty="0">
                <a:solidFill>
                  <a:srgbClr val="E8F0FE"/>
                </a:solidFill>
                <a:latin typeface="Calibri" pitchFamily="34" charset="0"/>
                <a:ea typeface="Calibri" pitchFamily="34" charset="-122"/>
                <a:cs typeface="Calibri" pitchFamily="34" charset="-120"/>
              </a:rPr>
              <a:t>Constitutional AI guardrails</a:t>
            </a:r>
            <a:endParaRPr lang="en-US" sz="1150" dirty="0"/>
          </a:p>
          <a:p>
            <a:pPr marL="342900" indent="-342900">
              <a:spcAft>
                <a:spcPts val="700"/>
              </a:spcAft>
              <a:buSzPct val="100000"/>
              <a:buChar char="•"/>
            </a:pPr>
            <a:r>
              <a:rPr lang="en-US" sz="1150" dirty="0">
                <a:solidFill>
                  <a:srgbClr val="E8F0FE"/>
                </a:solidFill>
                <a:latin typeface="Calibri" pitchFamily="34" charset="0"/>
                <a:ea typeface="Calibri" pitchFamily="34" charset="-122"/>
                <a:cs typeface="Calibri" pitchFamily="34" charset="-120"/>
              </a:rPr>
              <a:t>Differential privacy in training</a:t>
            </a:r>
            <a:endParaRPr lang="en-US" sz="1150" dirty="0"/>
          </a:p>
          <a:p>
            <a:pPr marL="342900" indent="-342900">
              <a:spcAft>
                <a:spcPts val="700"/>
              </a:spcAft>
              <a:buSzPct val="100000"/>
              <a:buChar char="•"/>
            </a:pPr>
            <a:r>
              <a:rPr lang="en-US" sz="1150" dirty="0">
                <a:solidFill>
                  <a:srgbClr val="E8F0FE"/>
                </a:solidFill>
                <a:latin typeface="Calibri" pitchFamily="34" charset="0"/>
                <a:ea typeface="Calibri" pitchFamily="34" charset="-122"/>
                <a:cs typeface="Calibri" pitchFamily="34" charset="-120"/>
              </a:rPr>
              <a:t>Model robustness benchmarking</a:t>
            </a:r>
            <a:endParaRPr lang="en-US" sz="1150" dirty="0"/>
          </a:p>
        </p:txBody>
      </p:sp>
      <p:sp>
        <p:nvSpPr>
          <p:cNvPr id="18" name="Shape 15"/>
          <p:cNvSpPr/>
          <p:nvPr/>
        </p:nvSpPr>
        <p:spPr>
          <a:xfrm>
            <a:off x="4709160" y="3035808"/>
            <a:ext cx="4206240" cy="1828800"/>
          </a:xfrm>
          <a:prstGeom prst="rect">
            <a:avLst/>
          </a:prstGeom>
          <a:solidFill>
            <a:srgbClr val="141E35"/>
          </a:solidFill>
          <a:ln w="19050">
            <a:solidFill>
              <a:srgbClr val="0D9488"/>
            </a:solidFill>
            <a:prstDash val="solid"/>
          </a:ln>
          <a:effectLst>
            <a:outerShdw sx="100000" sy="100000" kx="0" ky="0" algn="bl" rotWithShape="0" blurRad="101600" dist="38100" dir="8100000">
              <a:srgbClr val="000000">
                <a:alpha val="20000"/>
              </a:srgbClr>
            </a:outerShdw>
          </a:effectLst>
        </p:spPr>
      </p:sp>
      <p:sp>
        <p:nvSpPr>
          <p:cNvPr id="19" name="Shape 16"/>
          <p:cNvSpPr/>
          <p:nvPr/>
        </p:nvSpPr>
        <p:spPr>
          <a:xfrm>
            <a:off x="4709160" y="3035808"/>
            <a:ext cx="4206240" cy="402336"/>
          </a:xfrm>
          <a:prstGeom prst="rect">
            <a:avLst/>
          </a:prstGeom>
          <a:solidFill>
            <a:srgbClr val="0D9488"/>
          </a:solidFill>
          <a:ln w="12700">
            <a:solidFill>
              <a:srgbClr val="0D9488"/>
            </a:solidFill>
            <a:prstDash val="solid"/>
          </a:ln>
        </p:spPr>
      </p:sp>
      <p:sp>
        <p:nvSpPr>
          <p:cNvPr id="20" name="Text 17"/>
          <p:cNvSpPr/>
          <p:nvPr/>
        </p:nvSpPr>
        <p:spPr>
          <a:xfrm>
            <a:off x="4800600" y="3081528"/>
            <a:ext cx="4023360" cy="329184"/>
          </a:xfrm>
          <a:prstGeom prst="rect">
            <a:avLst/>
          </a:prstGeom>
          <a:noFill/>
          <a:ln/>
        </p:spPr>
        <p:txBody>
          <a:bodyPr wrap="square" lIns="50800" tIns="50800" rIns="50800" bIns="5080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  Infrastructure Security</a:t>
            </a:r>
            <a:endParaRPr lang="en-US" sz="1300" dirty="0"/>
          </a:p>
        </p:txBody>
      </p:sp>
      <p:sp>
        <p:nvSpPr>
          <p:cNvPr id="21" name="Text 18"/>
          <p:cNvSpPr/>
          <p:nvPr/>
        </p:nvSpPr>
        <p:spPr>
          <a:xfrm>
            <a:off x="4846320" y="3511296"/>
            <a:ext cx="3931920" cy="1280160"/>
          </a:xfrm>
          <a:prstGeom prst="rect">
            <a:avLst/>
          </a:prstGeom>
          <a:noFill/>
          <a:ln/>
        </p:spPr>
        <p:txBody>
          <a:bodyPr wrap="square" lIns="76200" tIns="76200" rIns="76200" bIns="76200" rtlCol="0" anchor="ctr"/>
          <a:lstStyle/>
          <a:p>
            <a:pPr marL="342900" indent="-342900">
              <a:spcAft>
                <a:spcPts val="700"/>
              </a:spcAft>
              <a:buSzPct val="100000"/>
              <a:buChar char="•"/>
            </a:pPr>
            <a:r>
              <a:rPr lang="en-US" sz="1150" dirty="0">
                <a:solidFill>
                  <a:srgbClr val="E8F0FE"/>
                </a:solidFill>
                <a:latin typeface="Calibri" pitchFamily="34" charset="0"/>
                <a:ea typeface="Calibri" pitchFamily="34" charset="-122"/>
                <a:cs typeface="Calibri" pitchFamily="34" charset="-120"/>
              </a:rPr>
              <a:t>Zero-trust API architecture</a:t>
            </a:r>
            <a:endParaRPr lang="en-US" sz="1150" dirty="0"/>
          </a:p>
          <a:p>
            <a:pPr marL="342900" indent="-342900">
              <a:spcAft>
                <a:spcPts val="700"/>
              </a:spcAft>
              <a:buSzPct val="100000"/>
              <a:buChar char="•"/>
            </a:pPr>
            <a:r>
              <a:rPr lang="en-US" sz="1150" dirty="0">
                <a:solidFill>
                  <a:srgbClr val="E8F0FE"/>
                </a:solidFill>
                <a:latin typeface="Calibri" pitchFamily="34" charset="0"/>
                <a:ea typeface="Calibri" pitchFamily="34" charset="-122"/>
                <a:cs typeface="Calibri" pitchFamily="34" charset="-120"/>
              </a:rPr>
              <a:t>Audit logging &amp; monitoring</a:t>
            </a:r>
            <a:endParaRPr lang="en-US" sz="1150" dirty="0"/>
          </a:p>
          <a:p>
            <a:pPr marL="342900" indent="-342900">
              <a:spcAft>
                <a:spcPts val="700"/>
              </a:spcAft>
              <a:buSzPct val="100000"/>
              <a:buChar char="•"/>
            </a:pPr>
            <a:r>
              <a:rPr lang="en-US" sz="1150" dirty="0">
                <a:solidFill>
                  <a:srgbClr val="E8F0FE"/>
                </a:solidFill>
                <a:latin typeface="Calibri" pitchFamily="34" charset="0"/>
                <a:ea typeface="Calibri" pitchFamily="34" charset="-122"/>
                <a:cs typeface="Calibri" pitchFamily="34" charset="-120"/>
              </a:rPr>
              <a:t>Anomaly detection on queries</a:t>
            </a:r>
            <a:endParaRPr lang="en-US" sz="1150" dirty="0"/>
          </a:p>
          <a:p>
            <a:pPr marL="342900" indent="-342900">
              <a:spcAft>
                <a:spcPts val="700"/>
              </a:spcAft>
              <a:buSzPct val="100000"/>
              <a:buChar char="•"/>
            </a:pPr>
            <a:r>
              <a:rPr lang="en-US" sz="1150" dirty="0">
                <a:solidFill>
                  <a:srgbClr val="E8F0FE"/>
                </a:solidFill>
                <a:latin typeface="Calibri" pitchFamily="34" charset="0"/>
                <a:ea typeface="Calibri" pitchFamily="34" charset="-122"/>
                <a:cs typeface="Calibri" pitchFamily="34" charset="-120"/>
              </a:rPr>
              <a:t>Model versioning &amp; rollback capabilities</a:t>
            </a:r>
            <a:endParaRPr lang="en-US" sz="1150" dirty="0"/>
          </a:p>
        </p:txBody>
      </p:sp>
      <p:sp>
        <p:nvSpPr>
          <p:cNvPr id="22" name="Shape 19"/>
          <p:cNvSpPr/>
          <p:nvPr/>
        </p:nvSpPr>
        <p:spPr>
          <a:xfrm>
            <a:off x="228600" y="4818888"/>
            <a:ext cx="8686800" cy="246888"/>
          </a:xfrm>
          <a:prstGeom prst="rect">
            <a:avLst/>
          </a:prstGeom>
          <a:solidFill>
            <a:srgbClr val="1E2D4E"/>
          </a:solidFill>
          <a:ln w="12700">
            <a:solidFill>
              <a:srgbClr val="10B981"/>
            </a:solidFill>
            <a:prstDash val="solid"/>
          </a:ln>
        </p:spPr>
      </p:sp>
      <p:sp>
        <p:nvSpPr>
          <p:cNvPr id="23" name="Text 20"/>
          <p:cNvSpPr/>
          <p:nvPr/>
        </p:nvSpPr>
        <p:spPr>
          <a:xfrm>
            <a:off x="274320" y="4837176"/>
            <a:ext cx="8595360" cy="201168"/>
          </a:xfrm>
          <a:prstGeom prst="rect">
            <a:avLst/>
          </a:prstGeom>
          <a:noFill/>
          <a:ln/>
        </p:spPr>
        <p:txBody>
          <a:bodyPr wrap="square" lIns="0" tIns="0" rIns="0" bIns="0" rtlCol="0" anchor="ctr"/>
          <a:lstStyle/>
          <a:p>
            <a:pPr algn="ctr" indent="0" marL="0">
              <a:buNone/>
            </a:pPr>
            <a:r>
              <a:rPr lang="en-US" sz="950" b="1" dirty="0">
                <a:solidFill>
                  <a:srgbClr val="E8F0FE"/>
                </a:solidFill>
                <a:latin typeface="Calibri" pitchFamily="34" charset="0"/>
                <a:ea typeface="Calibri" pitchFamily="34" charset="-122"/>
                <a:cs typeface="Calibri" pitchFamily="34" charset="-120"/>
              </a:rPr>
              <a:t>📋  OWASP Top 10 for LLMs (2024): Prompt Injection, Insecure Output Handling, Training Data Poisoning, Model Denial of Service…</a:t>
            </a:r>
            <a:endParaRPr lang="en-US" sz="9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0F6FF"/>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D1B3E"/>
          </a:solidFill>
          <a:ln w="12700">
            <a:solidFill>
              <a:srgbClr val="0D1B3E"/>
            </a:solidFill>
            <a:prstDash val="solid"/>
          </a:ln>
        </p:spPr>
      </p:sp>
      <p:sp>
        <p:nvSpPr>
          <p:cNvPr id="3" name="Shape 1"/>
          <p:cNvSpPr/>
          <p:nvPr/>
        </p:nvSpPr>
        <p:spPr>
          <a:xfrm>
            <a:off x="0" y="914400"/>
            <a:ext cx="9144000" cy="45720"/>
          </a:xfrm>
          <a:prstGeom prst="rect">
            <a:avLst/>
          </a:prstGeom>
          <a:solidFill>
            <a:srgbClr val="06B6D4"/>
          </a:solidFill>
          <a:ln w="12700">
            <a:solidFill>
              <a:srgbClr val="06B6D4"/>
            </a:solidFill>
            <a:prstDash val="solid"/>
          </a:ln>
        </p:spPr>
      </p:sp>
      <p:pic>
        <p:nvPicPr>
          <p:cNvPr id="4" name="Image 0" descr="preencoded.png">    </p:cNvPr>
          <p:cNvPicPr>
            <a:picLocks noChangeAspect="1"/>
          </p:cNvPicPr>
          <p:nvPr/>
        </p:nvPicPr>
        <p:blipFill>
          <a:blip r:embed="rId1"/>
          <a:stretch>
            <a:fillRect/>
          </a:stretch>
        </p:blipFill>
        <p:spPr>
          <a:xfrm>
            <a:off x="228600" y="182880"/>
            <a:ext cx="502920" cy="502920"/>
          </a:xfrm>
          <a:prstGeom prst="rect">
            <a:avLst/>
          </a:prstGeom>
        </p:spPr>
      </p:pic>
      <p:sp>
        <p:nvSpPr>
          <p:cNvPr id="5" name="Text 2"/>
          <p:cNvSpPr/>
          <p:nvPr/>
        </p:nvSpPr>
        <p:spPr>
          <a:xfrm>
            <a:off x="822960" y="137160"/>
            <a:ext cx="8046720" cy="68580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Open Source vs Proprietary LLMs</a:t>
            </a:r>
            <a:endParaRPr lang="en-US" sz="2600" dirty="0"/>
          </a:p>
        </p:txBody>
      </p:sp>
      <p:sp>
        <p:nvSpPr>
          <p:cNvPr id="6" name="Shape 3"/>
          <p:cNvSpPr/>
          <p:nvPr/>
        </p:nvSpPr>
        <p:spPr>
          <a:xfrm>
            <a:off x="228600" y="1024128"/>
            <a:ext cx="4114800" cy="3749040"/>
          </a:xfrm>
          <a:prstGeom prst="rect">
            <a:avLst/>
          </a:prstGeom>
          <a:solidFill>
            <a:srgbClr val="FFFFFF"/>
          </a:solidFill>
          <a:ln w="25400">
            <a:solidFill>
              <a:srgbClr val="10B981"/>
            </a:solidFill>
            <a:prstDash val="solid"/>
          </a:ln>
          <a:effectLst>
            <a:outerShdw sx="100000" sy="100000" kx="0" ky="0" algn="bl" rotWithShape="0" blurRad="101600" dist="38100" dir="8100000">
              <a:srgbClr val="000000">
                <a:alpha val="20000"/>
              </a:srgbClr>
            </a:outerShdw>
          </a:effectLst>
        </p:spPr>
      </p:sp>
      <p:sp>
        <p:nvSpPr>
          <p:cNvPr id="7" name="Shape 4"/>
          <p:cNvSpPr/>
          <p:nvPr/>
        </p:nvSpPr>
        <p:spPr>
          <a:xfrm>
            <a:off x="228600" y="1024128"/>
            <a:ext cx="4114800" cy="402336"/>
          </a:xfrm>
          <a:prstGeom prst="rect">
            <a:avLst/>
          </a:prstGeom>
          <a:solidFill>
            <a:srgbClr val="10B981"/>
          </a:solidFill>
          <a:ln w="12700">
            <a:solidFill>
              <a:srgbClr val="10B981"/>
            </a:solidFill>
            <a:prstDash val="solid"/>
          </a:ln>
        </p:spPr>
      </p:sp>
      <p:sp>
        <p:nvSpPr>
          <p:cNvPr id="8" name="Text 5"/>
          <p:cNvSpPr/>
          <p:nvPr/>
        </p:nvSpPr>
        <p:spPr>
          <a:xfrm>
            <a:off x="274320" y="1042416"/>
            <a:ext cx="4023360" cy="365760"/>
          </a:xfrm>
          <a:prstGeom prst="rect">
            <a:avLst/>
          </a:prstGeom>
          <a:noFill/>
          <a:ln/>
        </p:spPr>
        <p:txBody>
          <a:bodyPr wrap="square" lIns="50800" tIns="50800" rIns="50800" bIns="5080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  Open Source Models</a:t>
            </a:r>
            <a:endParaRPr lang="en-US" sz="1400" dirty="0"/>
          </a:p>
        </p:txBody>
      </p:sp>
      <p:sp>
        <p:nvSpPr>
          <p:cNvPr id="9" name="Text 6"/>
          <p:cNvSpPr/>
          <p:nvPr/>
        </p:nvSpPr>
        <p:spPr>
          <a:xfrm>
            <a:off x="320040" y="1481328"/>
            <a:ext cx="3931920" cy="3200400"/>
          </a:xfrm>
          <a:prstGeom prst="rect">
            <a:avLst/>
          </a:prstGeom>
          <a:noFill/>
          <a:ln/>
        </p:spPr>
        <p:txBody>
          <a:bodyPr wrap="square" lIns="76200" tIns="76200" rIns="76200" bIns="76200" rtlCol="0" anchor="ctr"/>
          <a:lstStyle/>
          <a:p>
            <a:pPr marL="342900" indent="-342900">
              <a:spcAft>
                <a:spcPts val="600"/>
              </a:spcAft>
              <a:buSzPct val="100000"/>
              <a:buChar char="•"/>
            </a:pPr>
            <a:r>
              <a:rPr lang="en-US" sz="1150" dirty="0">
                <a:solidFill>
                  <a:srgbClr val="1E2D4E"/>
                </a:solidFill>
                <a:latin typeface="Calibri" pitchFamily="34" charset="0"/>
                <a:ea typeface="Calibri" pitchFamily="34" charset="-122"/>
                <a:cs typeface="Calibri" pitchFamily="34" charset="-120"/>
              </a:rPr>
              <a:t>LLaMA 3 (Meta) — 8B, 70B, 405B</a:t>
            </a:r>
            <a:endParaRPr lang="en-US" sz="1150" dirty="0"/>
          </a:p>
          <a:p>
            <a:pPr marL="342900" indent="-342900">
              <a:spcAft>
                <a:spcPts val="600"/>
              </a:spcAft>
              <a:buSzPct val="100000"/>
              <a:buChar char="•"/>
            </a:pPr>
            <a:r>
              <a:rPr lang="en-US" sz="1150" dirty="0">
                <a:solidFill>
                  <a:srgbClr val="1E2D4E"/>
                </a:solidFill>
                <a:latin typeface="Calibri" pitchFamily="34" charset="0"/>
                <a:ea typeface="Calibri" pitchFamily="34" charset="-122"/>
                <a:cs typeface="Calibri" pitchFamily="34" charset="-120"/>
              </a:rPr>
              <a:t>Mistral 7B, Mixtral 8x22B</a:t>
            </a:r>
            <a:endParaRPr lang="en-US" sz="1150" dirty="0"/>
          </a:p>
          <a:p>
            <a:pPr marL="342900" indent="-342900">
              <a:spcAft>
                <a:spcPts val="600"/>
              </a:spcAft>
              <a:buSzPct val="100000"/>
              <a:buChar char="•"/>
            </a:pPr>
            <a:r>
              <a:rPr lang="en-US" sz="1150" dirty="0">
                <a:solidFill>
                  <a:srgbClr val="1E2D4E"/>
                </a:solidFill>
                <a:latin typeface="Calibri" pitchFamily="34" charset="0"/>
                <a:ea typeface="Calibri" pitchFamily="34" charset="-122"/>
                <a:cs typeface="Calibri" pitchFamily="34" charset="-120"/>
              </a:rPr>
              <a:t>Falcon, Phi-3, Gemma (Google)</a:t>
            </a:r>
            <a:endParaRPr lang="en-US" sz="1150" dirty="0"/>
          </a:p>
          <a:p>
            <a:pPr indent="0" marL="0">
              <a:spcAft>
                <a:spcPts val="600"/>
              </a:spcAft>
              <a:buNone/>
            </a:pPr>
            <a:r>
              <a:rPr lang="en-US" sz="1150" dirty="0">
                <a:solidFill>
                  <a:srgbClr val="1E2D4E"/>
                </a:solidFill>
                <a:latin typeface="Calibri" pitchFamily="34" charset="0"/>
                <a:ea typeface="Calibri" pitchFamily="34" charset="-122"/>
                <a:cs typeface="Calibri" pitchFamily="34" charset="-120"/>
              </a:rPr>
              <a:t>✅  Full control over weights</a:t>
            </a:r>
            <a:endParaRPr lang="en-US" sz="1150" dirty="0"/>
          </a:p>
          <a:p>
            <a:pPr indent="0" marL="0">
              <a:spcAft>
                <a:spcPts val="600"/>
              </a:spcAft>
              <a:buNone/>
            </a:pPr>
            <a:r>
              <a:rPr lang="en-US" sz="1150" dirty="0">
                <a:solidFill>
                  <a:srgbClr val="1E2D4E"/>
                </a:solidFill>
                <a:latin typeface="Calibri" pitchFamily="34" charset="0"/>
                <a:ea typeface="Calibri" pitchFamily="34" charset="-122"/>
                <a:cs typeface="Calibri" pitchFamily="34" charset="-120"/>
              </a:rPr>
              <a:t>✅  Run locally, no data shared</a:t>
            </a:r>
            <a:endParaRPr lang="en-US" sz="1150" dirty="0"/>
          </a:p>
          <a:p>
            <a:pPr indent="0" marL="0">
              <a:spcAft>
                <a:spcPts val="600"/>
              </a:spcAft>
              <a:buNone/>
            </a:pPr>
            <a:r>
              <a:rPr lang="en-US" sz="1150" dirty="0">
                <a:solidFill>
                  <a:srgbClr val="1E2D4E"/>
                </a:solidFill>
                <a:latin typeface="Calibri" pitchFamily="34" charset="0"/>
                <a:ea typeface="Calibri" pitchFamily="34" charset="-122"/>
                <a:cs typeface="Calibri" pitchFamily="34" charset="-120"/>
              </a:rPr>
              <a:t>✅  Custom fine-tuning freedom</a:t>
            </a:r>
            <a:endParaRPr lang="en-US" sz="1150" dirty="0"/>
          </a:p>
          <a:p>
            <a:pPr indent="0" marL="0">
              <a:spcAft>
                <a:spcPts val="600"/>
              </a:spcAft>
              <a:buNone/>
            </a:pPr>
            <a:r>
              <a:rPr lang="en-US" sz="1150" dirty="0">
                <a:solidFill>
                  <a:srgbClr val="1E2D4E"/>
                </a:solidFill>
                <a:latin typeface="Calibri" pitchFamily="34" charset="0"/>
                <a:ea typeface="Calibri" pitchFamily="34" charset="-122"/>
                <a:cs typeface="Calibri" pitchFamily="34" charset="-120"/>
              </a:rPr>
              <a:t>✅  No API costs at scale</a:t>
            </a:r>
            <a:endParaRPr lang="en-US" sz="1150" dirty="0"/>
          </a:p>
          <a:p>
            <a:pPr indent="0" marL="0">
              <a:spcAft>
                <a:spcPts val="600"/>
              </a:spcAft>
              <a:buNone/>
            </a:pPr>
            <a:r>
              <a:rPr lang="en-US" sz="1150" dirty="0">
                <a:solidFill>
                  <a:srgbClr val="1E2D4E"/>
                </a:solidFill>
                <a:latin typeface="Calibri" pitchFamily="34" charset="0"/>
                <a:ea typeface="Calibri" pitchFamily="34" charset="-122"/>
                <a:cs typeface="Calibri" pitchFamily="34" charset="-120"/>
              </a:rPr>
              <a:t>⚠️  Need GPU infra to run</a:t>
            </a:r>
            <a:endParaRPr lang="en-US" sz="1150" dirty="0"/>
          </a:p>
          <a:p>
            <a:pPr indent="0" marL="0">
              <a:spcAft>
                <a:spcPts val="600"/>
              </a:spcAft>
              <a:buNone/>
            </a:pPr>
            <a:r>
              <a:rPr lang="en-US" sz="1150" dirty="0">
                <a:solidFill>
                  <a:srgbClr val="1E2D4E"/>
                </a:solidFill>
                <a:latin typeface="Calibri" pitchFamily="34" charset="0"/>
                <a:ea typeface="Calibri" pitchFamily="34" charset="-122"/>
                <a:cs typeface="Calibri" pitchFamily="34" charset="-120"/>
              </a:rPr>
              <a:t>⚠️  Often lag proprietary on benchmarks</a:t>
            </a:r>
            <a:endParaRPr lang="en-US" sz="1150" dirty="0"/>
          </a:p>
        </p:txBody>
      </p:sp>
      <p:sp>
        <p:nvSpPr>
          <p:cNvPr id="10" name="Shape 7"/>
          <p:cNvSpPr/>
          <p:nvPr/>
        </p:nvSpPr>
        <p:spPr>
          <a:xfrm>
            <a:off x="4663440" y="1024128"/>
            <a:ext cx="4251960" cy="3749040"/>
          </a:xfrm>
          <a:prstGeom prst="rect">
            <a:avLst/>
          </a:prstGeom>
          <a:solidFill>
            <a:srgbClr val="FFFFFF"/>
          </a:solidFill>
          <a:ln w="25400">
            <a:solidFill>
              <a:srgbClr val="1A56DB"/>
            </a:solidFill>
            <a:prstDash val="solid"/>
          </a:ln>
          <a:effectLst>
            <a:outerShdw sx="100000" sy="100000" kx="0" ky="0" algn="bl" rotWithShape="0" blurRad="101600" dist="38100" dir="8100000">
              <a:srgbClr val="000000">
                <a:alpha val="20000"/>
              </a:srgbClr>
            </a:outerShdw>
          </a:effectLst>
        </p:spPr>
      </p:sp>
      <p:sp>
        <p:nvSpPr>
          <p:cNvPr id="11" name="Shape 8"/>
          <p:cNvSpPr/>
          <p:nvPr/>
        </p:nvSpPr>
        <p:spPr>
          <a:xfrm>
            <a:off x="4663440" y="1024128"/>
            <a:ext cx="4251960" cy="402336"/>
          </a:xfrm>
          <a:prstGeom prst="rect">
            <a:avLst/>
          </a:prstGeom>
          <a:solidFill>
            <a:srgbClr val="1A56DB"/>
          </a:solidFill>
          <a:ln w="12700">
            <a:solidFill>
              <a:srgbClr val="1A56DB"/>
            </a:solidFill>
            <a:prstDash val="solid"/>
          </a:ln>
        </p:spPr>
      </p:sp>
      <p:sp>
        <p:nvSpPr>
          <p:cNvPr id="12" name="Text 9"/>
          <p:cNvSpPr/>
          <p:nvPr/>
        </p:nvSpPr>
        <p:spPr>
          <a:xfrm>
            <a:off x="4709160" y="1042416"/>
            <a:ext cx="4160520" cy="365760"/>
          </a:xfrm>
          <a:prstGeom prst="rect">
            <a:avLst/>
          </a:prstGeom>
          <a:noFill/>
          <a:ln/>
        </p:spPr>
        <p:txBody>
          <a:bodyPr wrap="square" lIns="50800" tIns="50800" rIns="50800" bIns="5080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  Proprietary Models</a:t>
            </a:r>
            <a:endParaRPr lang="en-US" sz="1400" dirty="0"/>
          </a:p>
        </p:txBody>
      </p:sp>
      <p:sp>
        <p:nvSpPr>
          <p:cNvPr id="13" name="Text 10"/>
          <p:cNvSpPr/>
          <p:nvPr/>
        </p:nvSpPr>
        <p:spPr>
          <a:xfrm>
            <a:off x="4754880" y="1481328"/>
            <a:ext cx="4114800" cy="3200400"/>
          </a:xfrm>
          <a:prstGeom prst="rect">
            <a:avLst/>
          </a:prstGeom>
          <a:noFill/>
          <a:ln/>
        </p:spPr>
        <p:txBody>
          <a:bodyPr wrap="square" lIns="76200" tIns="76200" rIns="76200" bIns="76200" rtlCol="0" anchor="ctr"/>
          <a:lstStyle/>
          <a:p>
            <a:pPr marL="342900" indent="-342900">
              <a:spcAft>
                <a:spcPts val="600"/>
              </a:spcAft>
              <a:buSzPct val="100000"/>
              <a:buChar char="•"/>
            </a:pPr>
            <a:r>
              <a:rPr lang="en-US" sz="1150" dirty="0">
                <a:solidFill>
                  <a:srgbClr val="1E2D4E"/>
                </a:solidFill>
                <a:latin typeface="Calibri" pitchFamily="34" charset="0"/>
                <a:ea typeface="Calibri" pitchFamily="34" charset="-122"/>
                <a:cs typeface="Calibri" pitchFamily="34" charset="-120"/>
              </a:rPr>
              <a:t>GPT-4o (OpenAI), Claude 3.5 (Anthropic)</a:t>
            </a:r>
            <a:endParaRPr lang="en-US" sz="1150" dirty="0"/>
          </a:p>
          <a:p>
            <a:pPr marL="342900" indent="-342900">
              <a:spcAft>
                <a:spcPts val="600"/>
              </a:spcAft>
              <a:buSzPct val="100000"/>
              <a:buChar char="•"/>
            </a:pPr>
            <a:r>
              <a:rPr lang="en-US" sz="1150" dirty="0">
                <a:solidFill>
                  <a:srgbClr val="1E2D4E"/>
                </a:solidFill>
                <a:latin typeface="Calibri" pitchFamily="34" charset="0"/>
                <a:ea typeface="Calibri" pitchFamily="34" charset="-122"/>
                <a:cs typeface="Calibri" pitchFamily="34" charset="-120"/>
              </a:rPr>
              <a:t>Gemini 1.5 Pro (Google), Grok (xAI)</a:t>
            </a:r>
            <a:endParaRPr lang="en-US" sz="1150" dirty="0"/>
          </a:p>
          <a:p>
            <a:pPr marL="342900" indent="-342900">
              <a:spcAft>
                <a:spcPts val="600"/>
              </a:spcAft>
              <a:buSzPct val="100000"/>
              <a:buChar char="•"/>
            </a:pPr>
            <a:r>
              <a:rPr lang="en-US" sz="1150" dirty="0">
                <a:solidFill>
                  <a:srgbClr val="1E2D4E"/>
                </a:solidFill>
                <a:latin typeface="Calibri" pitchFamily="34" charset="0"/>
                <a:ea typeface="Calibri" pitchFamily="34" charset="-122"/>
                <a:cs typeface="Calibri" pitchFamily="34" charset="-120"/>
              </a:rPr>
              <a:t>Command R+ (Cohere), Titan (Amazon)</a:t>
            </a:r>
            <a:endParaRPr lang="en-US" sz="1150" dirty="0"/>
          </a:p>
          <a:p>
            <a:pPr indent="0" marL="0">
              <a:spcAft>
                <a:spcPts val="600"/>
              </a:spcAft>
              <a:buNone/>
            </a:pPr>
            <a:r>
              <a:rPr lang="en-US" sz="1150" dirty="0">
                <a:solidFill>
                  <a:srgbClr val="1E2D4E"/>
                </a:solidFill>
                <a:latin typeface="Calibri" pitchFamily="34" charset="0"/>
                <a:ea typeface="Calibri" pitchFamily="34" charset="-122"/>
                <a:cs typeface="Calibri" pitchFamily="34" charset="-120"/>
              </a:rPr>
              <a:t>✅  Highest benchmark performance</a:t>
            </a:r>
            <a:endParaRPr lang="en-US" sz="1150" dirty="0"/>
          </a:p>
          <a:p>
            <a:pPr indent="0" marL="0">
              <a:spcAft>
                <a:spcPts val="600"/>
              </a:spcAft>
              <a:buNone/>
            </a:pPr>
            <a:r>
              <a:rPr lang="en-US" sz="1150" dirty="0">
                <a:solidFill>
                  <a:srgbClr val="1E2D4E"/>
                </a:solidFill>
                <a:latin typeface="Calibri" pitchFamily="34" charset="0"/>
                <a:ea typeface="Calibri" pitchFamily="34" charset="-122"/>
                <a:cs typeface="Calibri" pitchFamily="34" charset="-120"/>
              </a:rPr>
              <a:t>✅  No infra management needed</a:t>
            </a:r>
            <a:endParaRPr lang="en-US" sz="1150" dirty="0"/>
          </a:p>
          <a:p>
            <a:pPr indent="0" marL="0">
              <a:spcAft>
                <a:spcPts val="600"/>
              </a:spcAft>
              <a:buNone/>
            </a:pPr>
            <a:r>
              <a:rPr lang="en-US" sz="1150" dirty="0">
                <a:solidFill>
                  <a:srgbClr val="1E2D4E"/>
                </a:solidFill>
                <a:latin typeface="Calibri" pitchFamily="34" charset="0"/>
                <a:ea typeface="Calibri" pitchFamily="34" charset="-122"/>
                <a:cs typeface="Calibri" pitchFamily="34" charset="-120"/>
              </a:rPr>
              <a:t>✅  Continuous model improvements</a:t>
            </a:r>
            <a:endParaRPr lang="en-US" sz="1150" dirty="0"/>
          </a:p>
          <a:p>
            <a:pPr indent="0" marL="0">
              <a:spcAft>
                <a:spcPts val="600"/>
              </a:spcAft>
              <a:buNone/>
            </a:pPr>
            <a:r>
              <a:rPr lang="en-US" sz="1150" dirty="0">
                <a:solidFill>
                  <a:srgbClr val="1E2D4E"/>
                </a:solidFill>
                <a:latin typeface="Calibri" pitchFamily="34" charset="0"/>
                <a:ea typeface="Calibri" pitchFamily="34" charset="-122"/>
                <a:cs typeface="Calibri" pitchFamily="34" charset="-120"/>
              </a:rPr>
              <a:t>✅  Enterprise SLA &amp; support</a:t>
            </a:r>
            <a:endParaRPr lang="en-US" sz="1150" dirty="0"/>
          </a:p>
          <a:p>
            <a:pPr indent="0" marL="0">
              <a:spcAft>
                <a:spcPts val="600"/>
              </a:spcAft>
              <a:buNone/>
            </a:pPr>
            <a:r>
              <a:rPr lang="en-US" sz="1150" dirty="0">
                <a:solidFill>
                  <a:srgbClr val="1E2D4E"/>
                </a:solidFill>
                <a:latin typeface="Calibri" pitchFamily="34" charset="0"/>
                <a:ea typeface="Calibri" pitchFamily="34" charset="-122"/>
                <a:cs typeface="Calibri" pitchFamily="34" charset="-120"/>
              </a:rPr>
              <a:t>⚠️  Data sent to third party</a:t>
            </a:r>
            <a:endParaRPr lang="en-US" sz="1150" dirty="0"/>
          </a:p>
          <a:p>
            <a:pPr indent="0" marL="0">
              <a:spcAft>
                <a:spcPts val="600"/>
              </a:spcAft>
              <a:buNone/>
            </a:pPr>
            <a:r>
              <a:rPr lang="en-US" sz="1150" dirty="0">
                <a:solidFill>
                  <a:srgbClr val="1E2D4E"/>
                </a:solidFill>
                <a:latin typeface="Calibri" pitchFamily="34" charset="0"/>
                <a:ea typeface="Calibri" pitchFamily="34" charset="-122"/>
                <a:cs typeface="Calibri" pitchFamily="34" charset="-120"/>
              </a:rPr>
              <a:t>⚠️  API costs can be significant</a:t>
            </a:r>
            <a:endParaRPr lang="en-US" sz="11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80D1A"/>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41E35"/>
          </a:solidFill>
          <a:ln w="12700">
            <a:solidFill>
              <a:srgbClr val="141E35"/>
            </a:solidFill>
            <a:prstDash val="solid"/>
          </a:ln>
        </p:spPr>
      </p:sp>
      <p:sp>
        <p:nvSpPr>
          <p:cNvPr id="3" name="Shape 1"/>
          <p:cNvSpPr/>
          <p:nvPr/>
        </p:nvSpPr>
        <p:spPr>
          <a:xfrm>
            <a:off x="0" y="914400"/>
            <a:ext cx="9144000" cy="45720"/>
          </a:xfrm>
          <a:prstGeom prst="rect">
            <a:avLst/>
          </a:prstGeom>
          <a:solidFill>
            <a:srgbClr val="06B6D4"/>
          </a:solidFill>
          <a:ln w="12700">
            <a:solidFill>
              <a:srgbClr val="06B6D4"/>
            </a:solidFill>
            <a:prstDash val="solid"/>
          </a:ln>
        </p:spPr>
      </p:sp>
      <p:pic>
        <p:nvPicPr>
          <p:cNvPr id="4" name="Image 0" descr="preencoded.png">    </p:cNvPr>
          <p:cNvPicPr>
            <a:picLocks noChangeAspect="1"/>
          </p:cNvPicPr>
          <p:nvPr/>
        </p:nvPicPr>
        <p:blipFill>
          <a:blip r:embed="rId1"/>
          <a:stretch>
            <a:fillRect/>
          </a:stretch>
        </p:blipFill>
        <p:spPr>
          <a:xfrm>
            <a:off x="228600" y="182880"/>
            <a:ext cx="502920" cy="502920"/>
          </a:xfrm>
          <a:prstGeom prst="rect">
            <a:avLst/>
          </a:prstGeom>
        </p:spPr>
      </p:pic>
      <p:sp>
        <p:nvSpPr>
          <p:cNvPr id="5" name="Text 2"/>
          <p:cNvSpPr/>
          <p:nvPr/>
        </p:nvSpPr>
        <p:spPr>
          <a:xfrm>
            <a:off x="822960" y="137160"/>
            <a:ext cx="8046720" cy="68580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Future Scope &amp; Emerging Trends</a:t>
            </a:r>
            <a:endParaRPr lang="en-US" sz="2600" dirty="0"/>
          </a:p>
        </p:txBody>
      </p:sp>
      <p:sp>
        <p:nvSpPr>
          <p:cNvPr id="6" name="Shape 3"/>
          <p:cNvSpPr/>
          <p:nvPr/>
        </p:nvSpPr>
        <p:spPr>
          <a:xfrm>
            <a:off x="6400800" y="0"/>
            <a:ext cx="4572000" cy="4572000"/>
          </a:xfrm>
          <a:prstGeom prst="ellipse">
            <a:avLst/>
          </a:prstGeom>
          <a:solidFill>
            <a:srgbClr val="1A56DB">
              <a:alpha val="10000"/>
            </a:srgbClr>
          </a:solidFill>
          <a:ln w="12700">
            <a:solidFill>
              <a:srgbClr val="1A56DB">
                <a:alpha val="10000"/>
              </a:srgbClr>
            </a:solidFill>
            <a:prstDash val="solid"/>
          </a:ln>
        </p:spPr>
      </p:sp>
      <p:sp>
        <p:nvSpPr>
          <p:cNvPr id="7" name="Shape 4"/>
          <p:cNvSpPr/>
          <p:nvPr/>
        </p:nvSpPr>
        <p:spPr>
          <a:xfrm>
            <a:off x="182880" y="1024128"/>
            <a:ext cx="2788920" cy="1810512"/>
          </a:xfrm>
          <a:prstGeom prst="rect">
            <a:avLst/>
          </a:prstGeom>
          <a:solidFill>
            <a:srgbClr val="141E35"/>
          </a:solidFill>
          <a:ln w="19050">
            <a:solidFill>
              <a:srgbClr val="1A56DB"/>
            </a:solidFill>
            <a:prstDash val="solid"/>
          </a:ln>
          <a:effectLst>
            <a:outerShdw sx="100000" sy="100000" kx="0" ky="0" algn="bl" rotWithShape="0" blurRad="101600" dist="38100" dir="8100000">
              <a:srgbClr val="000000">
                <a:alpha val="20000"/>
              </a:srgbClr>
            </a:outerShdw>
          </a:effectLst>
        </p:spPr>
      </p:sp>
      <p:sp>
        <p:nvSpPr>
          <p:cNvPr id="8" name="Shape 5"/>
          <p:cNvSpPr/>
          <p:nvPr/>
        </p:nvSpPr>
        <p:spPr>
          <a:xfrm>
            <a:off x="182880" y="1024128"/>
            <a:ext cx="2788920" cy="402336"/>
          </a:xfrm>
          <a:prstGeom prst="rect">
            <a:avLst/>
          </a:prstGeom>
          <a:solidFill>
            <a:srgbClr val="1A56DB"/>
          </a:solidFill>
          <a:ln w="12700">
            <a:solidFill>
              <a:srgbClr val="1A56DB"/>
            </a:solidFill>
            <a:prstDash val="solid"/>
          </a:ln>
        </p:spPr>
      </p:sp>
      <p:sp>
        <p:nvSpPr>
          <p:cNvPr id="9" name="Text 6"/>
          <p:cNvSpPr/>
          <p:nvPr/>
        </p:nvSpPr>
        <p:spPr>
          <a:xfrm>
            <a:off x="256032" y="1060704"/>
            <a:ext cx="2651760" cy="347472"/>
          </a:xfrm>
          <a:prstGeom prst="rect">
            <a:avLst/>
          </a:prstGeom>
          <a:noFill/>
          <a:ln/>
        </p:spPr>
        <p:txBody>
          <a:bodyPr wrap="square" lIns="25400" tIns="25400" rIns="25400" bIns="25400" rtlCol="0" anchor="ctr"/>
          <a:lstStyle/>
          <a:p>
            <a:pPr indent="0" marL="0">
              <a:buNone/>
            </a:pPr>
            <a:r>
              <a:rPr lang="en-US" sz="1300" b="1" dirty="0">
                <a:solidFill>
                  <a:srgbClr val="080D1A"/>
                </a:solidFill>
                <a:latin typeface="Calibri" pitchFamily="34" charset="0"/>
                <a:ea typeface="Calibri" pitchFamily="34" charset="-122"/>
                <a:cs typeface="Calibri" pitchFamily="34" charset="-120"/>
              </a:rPr>
              <a:t>🌐  Multimodal AGI</a:t>
            </a:r>
            <a:endParaRPr lang="en-US" sz="1300" dirty="0"/>
          </a:p>
        </p:txBody>
      </p:sp>
      <p:sp>
        <p:nvSpPr>
          <p:cNvPr id="10" name="Text 7"/>
          <p:cNvSpPr/>
          <p:nvPr/>
        </p:nvSpPr>
        <p:spPr>
          <a:xfrm>
            <a:off x="274320" y="1481328"/>
            <a:ext cx="2606040" cy="1280160"/>
          </a:xfrm>
          <a:prstGeom prst="rect">
            <a:avLst/>
          </a:prstGeom>
          <a:noFill/>
          <a:ln/>
        </p:spPr>
        <p:txBody>
          <a:bodyPr wrap="square" lIns="50800" tIns="50800" rIns="50800" bIns="50800" rtlCol="0" anchor="ctr"/>
          <a:lstStyle/>
          <a:p>
            <a:pPr indent="0" marL="0">
              <a:buNone/>
            </a:pPr>
            <a:r>
              <a:rPr lang="en-US" sz="1100" dirty="0">
                <a:solidFill>
                  <a:srgbClr val="E8F0FE"/>
                </a:solidFill>
                <a:latin typeface="Calibri" pitchFamily="34" charset="0"/>
                <a:ea typeface="Calibri" pitchFamily="34" charset="-122"/>
                <a:cs typeface="Calibri" pitchFamily="34" charset="-120"/>
              </a:rPr>
              <a:t>Unified models handling text, image, audio, video, 3D. Replacing specialized models with one foundation.</a:t>
            </a:r>
            <a:endParaRPr lang="en-US" sz="1100" dirty="0"/>
          </a:p>
        </p:txBody>
      </p:sp>
      <p:sp>
        <p:nvSpPr>
          <p:cNvPr id="11" name="Shape 8"/>
          <p:cNvSpPr/>
          <p:nvPr/>
        </p:nvSpPr>
        <p:spPr>
          <a:xfrm>
            <a:off x="3172968" y="1024128"/>
            <a:ext cx="2788920" cy="1810512"/>
          </a:xfrm>
          <a:prstGeom prst="rect">
            <a:avLst/>
          </a:prstGeom>
          <a:solidFill>
            <a:srgbClr val="141E35"/>
          </a:solidFill>
          <a:ln w="19050">
            <a:solidFill>
              <a:srgbClr val="0D9488"/>
            </a:solidFill>
            <a:prstDash val="solid"/>
          </a:ln>
          <a:effectLst>
            <a:outerShdw sx="100000" sy="100000" kx="0" ky="0" algn="bl" rotWithShape="0" blurRad="101600" dist="38100" dir="8100000">
              <a:srgbClr val="000000">
                <a:alpha val="20000"/>
              </a:srgbClr>
            </a:outerShdw>
          </a:effectLst>
        </p:spPr>
      </p:sp>
      <p:sp>
        <p:nvSpPr>
          <p:cNvPr id="12" name="Shape 9"/>
          <p:cNvSpPr/>
          <p:nvPr/>
        </p:nvSpPr>
        <p:spPr>
          <a:xfrm>
            <a:off x="3172968" y="1024128"/>
            <a:ext cx="2788920" cy="402336"/>
          </a:xfrm>
          <a:prstGeom prst="rect">
            <a:avLst/>
          </a:prstGeom>
          <a:solidFill>
            <a:srgbClr val="0D9488"/>
          </a:solidFill>
          <a:ln w="12700">
            <a:solidFill>
              <a:srgbClr val="0D9488"/>
            </a:solidFill>
            <a:prstDash val="solid"/>
          </a:ln>
        </p:spPr>
      </p:sp>
      <p:sp>
        <p:nvSpPr>
          <p:cNvPr id="13" name="Text 10"/>
          <p:cNvSpPr/>
          <p:nvPr/>
        </p:nvSpPr>
        <p:spPr>
          <a:xfrm>
            <a:off x="3246120" y="1060704"/>
            <a:ext cx="2651760" cy="347472"/>
          </a:xfrm>
          <a:prstGeom prst="rect">
            <a:avLst/>
          </a:prstGeom>
          <a:noFill/>
          <a:ln/>
        </p:spPr>
        <p:txBody>
          <a:bodyPr wrap="square" lIns="25400" tIns="25400" rIns="25400" bIns="25400" rtlCol="0" anchor="ctr"/>
          <a:lstStyle/>
          <a:p>
            <a:pPr indent="0" marL="0">
              <a:buNone/>
            </a:pPr>
            <a:r>
              <a:rPr lang="en-US" sz="1300" b="1" dirty="0">
                <a:solidFill>
                  <a:srgbClr val="080D1A"/>
                </a:solidFill>
                <a:latin typeface="Calibri" pitchFamily="34" charset="0"/>
                <a:ea typeface="Calibri" pitchFamily="34" charset="-122"/>
                <a:cs typeface="Calibri" pitchFamily="34" charset="-120"/>
              </a:rPr>
              <a:t>🧠  Advanced Reasoning</a:t>
            </a:r>
            <a:endParaRPr lang="en-US" sz="1300" dirty="0"/>
          </a:p>
        </p:txBody>
      </p:sp>
      <p:sp>
        <p:nvSpPr>
          <p:cNvPr id="14" name="Text 11"/>
          <p:cNvSpPr/>
          <p:nvPr/>
        </p:nvSpPr>
        <p:spPr>
          <a:xfrm>
            <a:off x="3264408" y="1481328"/>
            <a:ext cx="2606040" cy="1280160"/>
          </a:xfrm>
          <a:prstGeom prst="rect">
            <a:avLst/>
          </a:prstGeom>
          <a:noFill/>
          <a:ln/>
        </p:spPr>
        <p:txBody>
          <a:bodyPr wrap="square" lIns="50800" tIns="50800" rIns="50800" bIns="50800" rtlCol="0" anchor="ctr"/>
          <a:lstStyle/>
          <a:p>
            <a:pPr indent="0" marL="0">
              <a:buNone/>
            </a:pPr>
            <a:r>
              <a:rPr lang="en-US" sz="1100" dirty="0">
                <a:solidFill>
                  <a:srgbClr val="E8F0FE"/>
                </a:solidFill>
                <a:latin typeface="Calibri" pitchFamily="34" charset="0"/>
                <a:ea typeface="Calibri" pitchFamily="34" charset="-122"/>
                <a:cs typeface="Calibri" pitchFamily="34" charset="-120"/>
              </a:rPr>
              <a:t>o1/o3 chain-of-thought. Formal proofs, scientific discovery. Superhuman reasoning on competition problems.</a:t>
            </a:r>
            <a:endParaRPr lang="en-US" sz="1100" dirty="0"/>
          </a:p>
        </p:txBody>
      </p:sp>
      <p:sp>
        <p:nvSpPr>
          <p:cNvPr id="15" name="Shape 12"/>
          <p:cNvSpPr/>
          <p:nvPr/>
        </p:nvSpPr>
        <p:spPr>
          <a:xfrm>
            <a:off x="6163056" y="1024128"/>
            <a:ext cx="2788920" cy="1810512"/>
          </a:xfrm>
          <a:prstGeom prst="rect">
            <a:avLst/>
          </a:prstGeom>
          <a:solidFill>
            <a:srgbClr val="141E35"/>
          </a:solidFill>
          <a:ln w="19050">
            <a:solidFill>
              <a:srgbClr val="8B5CF6"/>
            </a:solidFill>
            <a:prstDash val="solid"/>
          </a:ln>
          <a:effectLst>
            <a:outerShdw sx="100000" sy="100000" kx="0" ky="0" algn="bl" rotWithShape="0" blurRad="101600" dist="38100" dir="8100000">
              <a:srgbClr val="000000">
                <a:alpha val="20000"/>
              </a:srgbClr>
            </a:outerShdw>
          </a:effectLst>
        </p:spPr>
      </p:sp>
      <p:sp>
        <p:nvSpPr>
          <p:cNvPr id="16" name="Shape 13"/>
          <p:cNvSpPr/>
          <p:nvPr/>
        </p:nvSpPr>
        <p:spPr>
          <a:xfrm>
            <a:off x="6163056" y="1024128"/>
            <a:ext cx="2788920" cy="402336"/>
          </a:xfrm>
          <a:prstGeom prst="rect">
            <a:avLst/>
          </a:prstGeom>
          <a:solidFill>
            <a:srgbClr val="8B5CF6"/>
          </a:solidFill>
          <a:ln w="12700">
            <a:solidFill>
              <a:srgbClr val="8B5CF6"/>
            </a:solidFill>
            <a:prstDash val="solid"/>
          </a:ln>
        </p:spPr>
      </p:sp>
      <p:sp>
        <p:nvSpPr>
          <p:cNvPr id="17" name="Text 14"/>
          <p:cNvSpPr/>
          <p:nvPr/>
        </p:nvSpPr>
        <p:spPr>
          <a:xfrm>
            <a:off x="6236208" y="1060704"/>
            <a:ext cx="2651760" cy="347472"/>
          </a:xfrm>
          <a:prstGeom prst="rect">
            <a:avLst/>
          </a:prstGeom>
          <a:noFill/>
          <a:ln/>
        </p:spPr>
        <p:txBody>
          <a:bodyPr wrap="square" lIns="25400" tIns="25400" rIns="25400" bIns="25400" rtlCol="0" anchor="ctr"/>
          <a:lstStyle/>
          <a:p>
            <a:pPr indent="0" marL="0">
              <a:buNone/>
            </a:pPr>
            <a:r>
              <a:rPr lang="en-US" sz="1300" b="1" dirty="0">
                <a:solidFill>
                  <a:srgbClr val="080D1A"/>
                </a:solidFill>
                <a:latin typeface="Calibri" pitchFamily="34" charset="0"/>
                <a:ea typeface="Calibri" pitchFamily="34" charset="-122"/>
                <a:cs typeface="Calibri" pitchFamily="34" charset="-120"/>
              </a:rPr>
              <a:t>💾  Persistent Memory</a:t>
            </a:r>
            <a:endParaRPr lang="en-US" sz="1300" dirty="0"/>
          </a:p>
        </p:txBody>
      </p:sp>
      <p:sp>
        <p:nvSpPr>
          <p:cNvPr id="18" name="Text 15"/>
          <p:cNvSpPr/>
          <p:nvPr/>
        </p:nvSpPr>
        <p:spPr>
          <a:xfrm>
            <a:off x="6254496" y="1481328"/>
            <a:ext cx="2606040" cy="1280160"/>
          </a:xfrm>
          <a:prstGeom prst="rect">
            <a:avLst/>
          </a:prstGeom>
          <a:noFill/>
          <a:ln/>
        </p:spPr>
        <p:txBody>
          <a:bodyPr wrap="square" lIns="50800" tIns="50800" rIns="50800" bIns="50800" rtlCol="0" anchor="ctr"/>
          <a:lstStyle/>
          <a:p>
            <a:pPr indent="0" marL="0">
              <a:buNone/>
            </a:pPr>
            <a:r>
              <a:rPr lang="en-US" sz="1100" dirty="0">
                <a:solidFill>
                  <a:srgbClr val="E8F0FE"/>
                </a:solidFill>
                <a:latin typeface="Calibri" pitchFamily="34" charset="0"/>
                <a:ea typeface="Calibri" pitchFamily="34" charset="-122"/>
                <a:cs typeface="Calibri" pitchFamily="34" charset="-120"/>
              </a:rPr>
              <a:t>Long-term episodic memory. Personalized AI. 10M+ context windows. Remembers across all sessions.</a:t>
            </a:r>
            <a:endParaRPr lang="en-US" sz="1100" dirty="0"/>
          </a:p>
        </p:txBody>
      </p:sp>
      <p:sp>
        <p:nvSpPr>
          <p:cNvPr id="19" name="Shape 16"/>
          <p:cNvSpPr/>
          <p:nvPr/>
        </p:nvSpPr>
        <p:spPr>
          <a:xfrm>
            <a:off x="182880" y="3017520"/>
            <a:ext cx="2788920" cy="1810512"/>
          </a:xfrm>
          <a:prstGeom prst="rect">
            <a:avLst/>
          </a:prstGeom>
          <a:solidFill>
            <a:srgbClr val="141E35"/>
          </a:solidFill>
          <a:ln w="19050">
            <a:solidFill>
              <a:srgbClr val="F59E0B"/>
            </a:solidFill>
            <a:prstDash val="solid"/>
          </a:ln>
          <a:effectLst>
            <a:outerShdw sx="100000" sy="100000" kx="0" ky="0" algn="bl" rotWithShape="0" blurRad="101600" dist="38100" dir="8100000">
              <a:srgbClr val="000000">
                <a:alpha val="20000"/>
              </a:srgbClr>
            </a:outerShdw>
          </a:effectLst>
        </p:spPr>
      </p:sp>
      <p:sp>
        <p:nvSpPr>
          <p:cNvPr id="20" name="Shape 17"/>
          <p:cNvSpPr/>
          <p:nvPr/>
        </p:nvSpPr>
        <p:spPr>
          <a:xfrm>
            <a:off x="182880" y="3017520"/>
            <a:ext cx="2788920" cy="402336"/>
          </a:xfrm>
          <a:prstGeom prst="rect">
            <a:avLst/>
          </a:prstGeom>
          <a:solidFill>
            <a:srgbClr val="F59E0B"/>
          </a:solidFill>
          <a:ln w="12700">
            <a:solidFill>
              <a:srgbClr val="F59E0B"/>
            </a:solidFill>
            <a:prstDash val="solid"/>
          </a:ln>
        </p:spPr>
      </p:sp>
      <p:sp>
        <p:nvSpPr>
          <p:cNvPr id="21" name="Text 18"/>
          <p:cNvSpPr/>
          <p:nvPr/>
        </p:nvSpPr>
        <p:spPr>
          <a:xfrm>
            <a:off x="256032" y="3054096"/>
            <a:ext cx="2651760" cy="347472"/>
          </a:xfrm>
          <a:prstGeom prst="rect">
            <a:avLst/>
          </a:prstGeom>
          <a:noFill/>
          <a:ln/>
        </p:spPr>
        <p:txBody>
          <a:bodyPr wrap="square" lIns="25400" tIns="25400" rIns="25400" bIns="25400" rtlCol="0" anchor="ctr"/>
          <a:lstStyle/>
          <a:p>
            <a:pPr indent="0" marL="0">
              <a:buNone/>
            </a:pPr>
            <a:r>
              <a:rPr lang="en-US" sz="1300" b="1" dirty="0">
                <a:solidFill>
                  <a:srgbClr val="080D1A"/>
                </a:solidFill>
                <a:latin typeface="Calibri" pitchFamily="34" charset="0"/>
                <a:ea typeface="Calibri" pitchFamily="34" charset="-122"/>
                <a:cs typeface="Calibri" pitchFamily="34" charset="-120"/>
              </a:rPr>
              <a:t>🤖  Autonomous Agents</a:t>
            </a:r>
            <a:endParaRPr lang="en-US" sz="1300" dirty="0"/>
          </a:p>
        </p:txBody>
      </p:sp>
      <p:sp>
        <p:nvSpPr>
          <p:cNvPr id="22" name="Text 19"/>
          <p:cNvSpPr/>
          <p:nvPr/>
        </p:nvSpPr>
        <p:spPr>
          <a:xfrm>
            <a:off x="274320" y="3474720"/>
            <a:ext cx="2606040" cy="1280160"/>
          </a:xfrm>
          <a:prstGeom prst="rect">
            <a:avLst/>
          </a:prstGeom>
          <a:noFill/>
          <a:ln/>
        </p:spPr>
        <p:txBody>
          <a:bodyPr wrap="square" lIns="50800" tIns="50800" rIns="50800" bIns="50800" rtlCol="0" anchor="ctr"/>
          <a:lstStyle/>
          <a:p>
            <a:pPr indent="0" marL="0">
              <a:buNone/>
            </a:pPr>
            <a:r>
              <a:rPr lang="en-US" sz="1100" dirty="0">
                <a:solidFill>
                  <a:srgbClr val="E8F0FE"/>
                </a:solidFill>
                <a:latin typeface="Calibri" pitchFamily="34" charset="0"/>
                <a:ea typeface="Calibri" pitchFamily="34" charset="-122"/>
                <a:cs typeface="Calibri" pitchFamily="34" charset="-120"/>
              </a:rPr>
              <a:t>Multi-agent systems completing week-long tasks. Self-improving models. Real-world action execution.</a:t>
            </a:r>
            <a:endParaRPr lang="en-US" sz="1100" dirty="0"/>
          </a:p>
        </p:txBody>
      </p:sp>
      <p:sp>
        <p:nvSpPr>
          <p:cNvPr id="23" name="Shape 20"/>
          <p:cNvSpPr/>
          <p:nvPr/>
        </p:nvSpPr>
        <p:spPr>
          <a:xfrm>
            <a:off x="3172968" y="3017520"/>
            <a:ext cx="2788920" cy="1810512"/>
          </a:xfrm>
          <a:prstGeom prst="rect">
            <a:avLst/>
          </a:prstGeom>
          <a:solidFill>
            <a:srgbClr val="141E35"/>
          </a:solidFill>
          <a:ln w="19050">
            <a:solidFill>
              <a:srgbClr val="10B981"/>
            </a:solidFill>
            <a:prstDash val="solid"/>
          </a:ln>
          <a:effectLst>
            <a:outerShdw sx="100000" sy="100000" kx="0" ky="0" algn="bl" rotWithShape="0" blurRad="101600" dist="38100" dir="8100000">
              <a:srgbClr val="000000">
                <a:alpha val="20000"/>
              </a:srgbClr>
            </a:outerShdw>
          </a:effectLst>
        </p:spPr>
      </p:sp>
      <p:sp>
        <p:nvSpPr>
          <p:cNvPr id="24" name="Shape 21"/>
          <p:cNvSpPr/>
          <p:nvPr/>
        </p:nvSpPr>
        <p:spPr>
          <a:xfrm>
            <a:off x="3172968" y="3017520"/>
            <a:ext cx="2788920" cy="402336"/>
          </a:xfrm>
          <a:prstGeom prst="rect">
            <a:avLst/>
          </a:prstGeom>
          <a:solidFill>
            <a:srgbClr val="10B981"/>
          </a:solidFill>
          <a:ln w="12700">
            <a:solidFill>
              <a:srgbClr val="10B981"/>
            </a:solidFill>
            <a:prstDash val="solid"/>
          </a:ln>
        </p:spPr>
      </p:sp>
      <p:sp>
        <p:nvSpPr>
          <p:cNvPr id="25" name="Text 22"/>
          <p:cNvSpPr/>
          <p:nvPr/>
        </p:nvSpPr>
        <p:spPr>
          <a:xfrm>
            <a:off x="3246120" y="3054096"/>
            <a:ext cx="2651760" cy="347472"/>
          </a:xfrm>
          <a:prstGeom prst="rect">
            <a:avLst/>
          </a:prstGeom>
          <a:noFill/>
          <a:ln/>
        </p:spPr>
        <p:txBody>
          <a:bodyPr wrap="square" lIns="25400" tIns="25400" rIns="25400" bIns="25400" rtlCol="0" anchor="ctr"/>
          <a:lstStyle/>
          <a:p>
            <a:pPr indent="0" marL="0">
              <a:buNone/>
            </a:pPr>
            <a:r>
              <a:rPr lang="en-US" sz="1300" b="1" dirty="0">
                <a:solidFill>
                  <a:srgbClr val="080D1A"/>
                </a:solidFill>
                <a:latin typeface="Calibri" pitchFamily="34" charset="0"/>
                <a:ea typeface="Calibri" pitchFamily="34" charset="-122"/>
                <a:cs typeface="Calibri" pitchFamily="34" charset="-120"/>
              </a:rPr>
              <a:t>⚡  Efficient Models</a:t>
            </a:r>
            <a:endParaRPr lang="en-US" sz="1300" dirty="0"/>
          </a:p>
        </p:txBody>
      </p:sp>
      <p:sp>
        <p:nvSpPr>
          <p:cNvPr id="26" name="Text 23"/>
          <p:cNvSpPr/>
          <p:nvPr/>
        </p:nvSpPr>
        <p:spPr>
          <a:xfrm>
            <a:off x="3264408" y="3474720"/>
            <a:ext cx="2606040" cy="1280160"/>
          </a:xfrm>
          <a:prstGeom prst="rect">
            <a:avLst/>
          </a:prstGeom>
          <a:noFill/>
          <a:ln/>
        </p:spPr>
        <p:txBody>
          <a:bodyPr wrap="square" lIns="50800" tIns="50800" rIns="50800" bIns="50800" rtlCol="0" anchor="ctr"/>
          <a:lstStyle/>
          <a:p>
            <a:pPr indent="0" marL="0">
              <a:buNone/>
            </a:pPr>
            <a:r>
              <a:rPr lang="en-US" sz="1100" dirty="0">
                <a:solidFill>
                  <a:srgbClr val="E8F0FE"/>
                </a:solidFill>
                <a:latin typeface="Calibri" pitchFamily="34" charset="0"/>
                <a:ea typeface="Calibri" pitchFamily="34" charset="-122"/>
                <a:cs typeface="Calibri" pitchFamily="34" charset="-120"/>
              </a:rPr>
              <a:t>MoE, quantization, pruning. On-device mobile LLMs. 10x less energy. Real-time edge inference.</a:t>
            </a:r>
            <a:endParaRPr lang="en-US" sz="1100" dirty="0"/>
          </a:p>
        </p:txBody>
      </p:sp>
      <p:sp>
        <p:nvSpPr>
          <p:cNvPr id="27" name="Shape 24"/>
          <p:cNvSpPr/>
          <p:nvPr/>
        </p:nvSpPr>
        <p:spPr>
          <a:xfrm>
            <a:off x="6163056" y="3017520"/>
            <a:ext cx="2788920" cy="1810512"/>
          </a:xfrm>
          <a:prstGeom prst="rect">
            <a:avLst/>
          </a:prstGeom>
          <a:solidFill>
            <a:srgbClr val="141E35"/>
          </a:solidFill>
          <a:ln w="19050">
            <a:solidFill>
              <a:srgbClr val="06B6D4"/>
            </a:solidFill>
            <a:prstDash val="solid"/>
          </a:ln>
          <a:effectLst>
            <a:outerShdw sx="100000" sy="100000" kx="0" ky="0" algn="bl" rotWithShape="0" blurRad="101600" dist="38100" dir="8100000">
              <a:srgbClr val="000000">
                <a:alpha val="20000"/>
              </a:srgbClr>
            </a:outerShdw>
          </a:effectLst>
        </p:spPr>
      </p:sp>
      <p:sp>
        <p:nvSpPr>
          <p:cNvPr id="28" name="Shape 25"/>
          <p:cNvSpPr/>
          <p:nvPr/>
        </p:nvSpPr>
        <p:spPr>
          <a:xfrm>
            <a:off x="6163056" y="3017520"/>
            <a:ext cx="2788920" cy="402336"/>
          </a:xfrm>
          <a:prstGeom prst="rect">
            <a:avLst/>
          </a:prstGeom>
          <a:solidFill>
            <a:srgbClr val="06B6D4"/>
          </a:solidFill>
          <a:ln w="12700">
            <a:solidFill>
              <a:srgbClr val="06B6D4"/>
            </a:solidFill>
            <a:prstDash val="solid"/>
          </a:ln>
        </p:spPr>
      </p:sp>
      <p:sp>
        <p:nvSpPr>
          <p:cNvPr id="29" name="Text 26"/>
          <p:cNvSpPr/>
          <p:nvPr/>
        </p:nvSpPr>
        <p:spPr>
          <a:xfrm>
            <a:off x="6236208" y="3054096"/>
            <a:ext cx="2651760" cy="347472"/>
          </a:xfrm>
          <a:prstGeom prst="rect">
            <a:avLst/>
          </a:prstGeom>
          <a:noFill/>
          <a:ln/>
        </p:spPr>
        <p:txBody>
          <a:bodyPr wrap="square" lIns="25400" tIns="25400" rIns="25400" bIns="25400" rtlCol="0" anchor="ctr"/>
          <a:lstStyle/>
          <a:p>
            <a:pPr indent="0" marL="0">
              <a:buNone/>
            </a:pPr>
            <a:r>
              <a:rPr lang="en-US" sz="1300" b="1" dirty="0">
                <a:solidFill>
                  <a:srgbClr val="080D1A"/>
                </a:solidFill>
                <a:latin typeface="Calibri" pitchFamily="34" charset="0"/>
                <a:ea typeface="Calibri" pitchFamily="34" charset="-122"/>
                <a:cs typeface="Calibri" pitchFamily="34" charset="-120"/>
              </a:rPr>
              <a:t>🔬  Scientific AI</a:t>
            </a:r>
            <a:endParaRPr lang="en-US" sz="1300" dirty="0"/>
          </a:p>
        </p:txBody>
      </p:sp>
      <p:sp>
        <p:nvSpPr>
          <p:cNvPr id="30" name="Text 27"/>
          <p:cNvSpPr/>
          <p:nvPr/>
        </p:nvSpPr>
        <p:spPr>
          <a:xfrm>
            <a:off x="6254496" y="3474720"/>
            <a:ext cx="2606040" cy="1280160"/>
          </a:xfrm>
          <a:prstGeom prst="rect">
            <a:avLst/>
          </a:prstGeom>
          <a:noFill/>
          <a:ln/>
        </p:spPr>
        <p:txBody>
          <a:bodyPr wrap="square" lIns="50800" tIns="50800" rIns="50800" bIns="50800" rtlCol="0" anchor="ctr"/>
          <a:lstStyle/>
          <a:p>
            <a:pPr indent="0" marL="0">
              <a:buNone/>
            </a:pPr>
            <a:r>
              <a:rPr lang="en-US" sz="1100" dirty="0">
                <a:solidFill>
                  <a:srgbClr val="E8F0FE"/>
                </a:solidFill>
                <a:latin typeface="Calibri" pitchFamily="34" charset="0"/>
                <a:ea typeface="Calibri" pitchFamily="34" charset="-122"/>
                <a:cs typeface="Calibri" pitchFamily="34" charset="-120"/>
              </a:rPr>
              <a:t>AlphaFold-type breakthroughs across all sciences. Drug discovery, materials, climate, genomics.</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80D1A"/>
        </a:solidFill>
      </p:bgPr>
    </p:bg>
    <p:spTree>
      <p:nvGrpSpPr>
        <p:cNvPr id="1" name=""/>
        <p:cNvGrpSpPr/>
        <p:nvPr/>
      </p:nvGrpSpPr>
      <p:grpSpPr>
        <a:xfrm>
          <a:off x="0" y="0"/>
          <a:ext cx="0" cy="0"/>
          <a:chOff x="0" y="0"/>
          <a:chExt cx="0" cy="0"/>
        </a:xfrm>
      </p:grpSpPr>
      <p:sp>
        <p:nvSpPr>
          <p:cNvPr id="2" name="Shape 0"/>
          <p:cNvSpPr/>
          <p:nvPr/>
        </p:nvSpPr>
        <p:spPr>
          <a:xfrm>
            <a:off x="-1371600" y="-914400"/>
            <a:ext cx="4572000" cy="4572000"/>
          </a:xfrm>
          <a:prstGeom prst="ellipse">
            <a:avLst/>
          </a:prstGeom>
          <a:solidFill>
            <a:srgbClr val="1A56DB">
              <a:alpha val="12000"/>
            </a:srgbClr>
          </a:solidFill>
          <a:ln w="12700">
            <a:solidFill>
              <a:srgbClr val="1A56DB">
                <a:alpha val="12000"/>
              </a:srgbClr>
            </a:solidFill>
            <a:prstDash val="solid"/>
          </a:ln>
        </p:spPr>
      </p:sp>
      <p:sp>
        <p:nvSpPr>
          <p:cNvPr id="3" name="Shape 1"/>
          <p:cNvSpPr/>
          <p:nvPr/>
        </p:nvSpPr>
        <p:spPr>
          <a:xfrm>
            <a:off x="6400800" y="2286000"/>
            <a:ext cx="4572000" cy="4572000"/>
          </a:xfrm>
          <a:prstGeom prst="ellipse">
            <a:avLst/>
          </a:prstGeom>
          <a:solidFill>
            <a:srgbClr val="0D9488">
              <a:alpha val="10000"/>
            </a:srgbClr>
          </a:solidFill>
          <a:ln w="12700">
            <a:solidFill>
              <a:srgbClr val="0D9488">
                <a:alpha val="10000"/>
              </a:srgbClr>
            </a:solidFill>
            <a:prstDash val="solid"/>
          </a:ln>
        </p:spPr>
      </p:sp>
      <p:sp>
        <p:nvSpPr>
          <p:cNvPr id="4" name="Shape 2"/>
          <p:cNvSpPr/>
          <p:nvPr/>
        </p:nvSpPr>
        <p:spPr>
          <a:xfrm>
            <a:off x="0" y="0"/>
            <a:ext cx="9144000" cy="64008"/>
          </a:xfrm>
          <a:prstGeom prst="rect">
            <a:avLst/>
          </a:prstGeom>
          <a:solidFill>
            <a:srgbClr val="06B6D4"/>
          </a:solidFill>
          <a:ln w="12700">
            <a:solidFill>
              <a:srgbClr val="06B6D4"/>
            </a:solidFill>
            <a:prstDash val="solid"/>
          </a:ln>
        </p:spPr>
      </p:sp>
      <p:sp>
        <p:nvSpPr>
          <p:cNvPr id="5" name="Shape 3"/>
          <p:cNvSpPr/>
          <p:nvPr/>
        </p:nvSpPr>
        <p:spPr>
          <a:xfrm>
            <a:off x="0" y="5079492"/>
            <a:ext cx="9144000" cy="64008"/>
          </a:xfrm>
          <a:prstGeom prst="rect">
            <a:avLst/>
          </a:prstGeom>
          <a:solidFill>
            <a:srgbClr val="0D9488"/>
          </a:solidFill>
          <a:ln w="12700">
            <a:solidFill>
              <a:srgbClr val="0D9488"/>
            </a:solidFill>
            <a:prstDash val="solid"/>
          </a:ln>
        </p:spPr>
      </p:sp>
      <p:sp>
        <p:nvSpPr>
          <p:cNvPr id="6" name="Text 4"/>
          <p:cNvSpPr/>
          <p:nvPr/>
        </p:nvSpPr>
        <p:spPr>
          <a:xfrm>
            <a:off x="457200" y="182880"/>
            <a:ext cx="8229600" cy="594360"/>
          </a:xfrm>
          <a:prstGeom prst="rect">
            <a:avLst/>
          </a:prstGeom>
          <a:noFill/>
          <a:ln/>
        </p:spPr>
        <p:txBody>
          <a:bodyPr wrap="square" rtlCol="0" anchor="ctr"/>
          <a:lstStyle/>
          <a:p>
            <a:pPr algn="ctr" indent="0" marL="0">
              <a:buNone/>
            </a:pPr>
            <a:r>
              <a:rPr lang="en-US" sz="3000" b="1" dirty="0">
                <a:solidFill>
                  <a:srgbClr val="06B6D4"/>
                </a:solidFill>
                <a:latin typeface="Calibri" pitchFamily="34" charset="0"/>
                <a:ea typeface="Calibri" pitchFamily="34" charset="-122"/>
                <a:cs typeface="Calibri" pitchFamily="34" charset="-120"/>
              </a:rPr>
              <a:t>Key Takeaways</a:t>
            </a:r>
            <a:endParaRPr lang="en-US" sz="3000" dirty="0"/>
          </a:p>
        </p:txBody>
      </p:sp>
      <p:sp>
        <p:nvSpPr>
          <p:cNvPr id="7" name="Shape 5"/>
          <p:cNvSpPr/>
          <p:nvPr/>
        </p:nvSpPr>
        <p:spPr>
          <a:xfrm>
            <a:off x="256032" y="923544"/>
            <a:ext cx="329184" cy="329184"/>
          </a:xfrm>
          <a:prstGeom prst="ellipse">
            <a:avLst/>
          </a:prstGeom>
          <a:solidFill>
            <a:srgbClr val="1A56DB"/>
          </a:solidFill>
          <a:ln w="12700">
            <a:solidFill>
              <a:srgbClr val="1A56DB"/>
            </a:solidFill>
            <a:prstDash val="solid"/>
          </a:ln>
        </p:spPr>
      </p:sp>
      <p:sp>
        <p:nvSpPr>
          <p:cNvPr id="8" name="Text 6"/>
          <p:cNvSpPr/>
          <p:nvPr/>
        </p:nvSpPr>
        <p:spPr>
          <a:xfrm>
            <a:off x="256032" y="914400"/>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9" name="Text 7"/>
          <p:cNvSpPr/>
          <p:nvPr/>
        </p:nvSpPr>
        <p:spPr>
          <a:xfrm>
            <a:off x="694944" y="905256"/>
            <a:ext cx="8275320" cy="329184"/>
          </a:xfrm>
          <a:prstGeom prst="rect">
            <a:avLst/>
          </a:prstGeom>
          <a:noFill/>
          <a:ln/>
        </p:spPr>
        <p:txBody>
          <a:bodyPr wrap="square" lIns="25400" tIns="25400" rIns="25400" bIns="25400" rtlCol="0" anchor="ctr"/>
          <a:lstStyle/>
          <a:p>
            <a:pPr indent="0" marL="0">
              <a:buNone/>
            </a:pPr>
            <a:r>
              <a:rPr lang="en-US" sz="1150" dirty="0">
                <a:solidFill>
                  <a:srgbClr val="E8F0FE"/>
                </a:solidFill>
                <a:latin typeface="Calibri" pitchFamily="34" charset="0"/>
                <a:ea typeface="Calibri" pitchFamily="34" charset="-122"/>
                <a:cs typeface="Calibri" pitchFamily="34" charset="-120"/>
              </a:rPr>
              <a:t>LLMs are transformer-based models pre-trained on trillions of tokens — the backbone of modern AI.</a:t>
            </a:r>
            <a:endParaRPr lang="en-US" sz="1150" dirty="0"/>
          </a:p>
        </p:txBody>
      </p:sp>
      <p:sp>
        <p:nvSpPr>
          <p:cNvPr id="10" name="Shape 8"/>
          <p:cNvSpPr/>
          <p:nvPr/>
        </p:nvSpPr>
        <p:spPr>
          <a:xfrm>
            <a:off x="256032" y="1399032"/>
            <a:ext cx="329184" cy="329184"/>
          </a:xfrm>
          <a:prstGeom prst="ellipse">
            <a:avLst/>
          </a:prstGeom>
          <a:solidFill>
            <a:srgbClr val="0D9488"/>
          </a:solidFill>
          <a:ln w="12700">
            <a:solidFill>
              <a:srgbClr val="0D9488"/>
            </a:solidFill>
            <a:prstDash val="solid"/>
          </a:ln>
        </p:spPr>
      </p:sp>
      <p:sp>
        <p:nvSpPr>
          <p:cNvPr id="11" name="Text 9"/>
          <p:cNvSpPr/>
          <p:nvPr/>
        </p:nvSpPr>
        <p:spPr>
          <a:xfrm>
            <a:off x="256032" y="1389888"/>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2" name="Text 10"/>
          <p:cNvSpPr/>
          <p:nvPr/>
        </p:nvSpPr>
        <p:spPr>
          <a:xfrm>
            <a:off x="694944" y="1380744"/>
            <a:ext cx="8275320" cy="329184"/>
          </a:xfrm>
          <a:prstGeom prst="rect">
            <a:avLst/>
          </a:prstGeom>
          <a:noFill/>
          <a:ln/>
        </p:spPr>
        <p:txBody>
          <a:bodyPr wrap="square" lIns="25400" tIns="25400" rIns="25400" bIns="25400" rtlCol="0" anchor="ctr"/>
          <a:lstStyle/>
          <a:p>
            <a:pPr indent="0" marL="0">
              <a:buNone/>
            </a:pPr>
            <a:r>
              <a:rPr lang="en-US" sz="1150" dirty="0">
                <a:solidFill>
                  <a:srgbClr val="E8F0FE"/>
                </a:solidFill>
                <a:latin typeface="Calibri" pitchFamily="34" charset="0"/>
                <a:ea typeface="Calibri" pitchFamily="34" charset="-122"/>
                <a:cs typeface="Calibri" pitchFamily="34" charset="-120"/>
              </a:rPr>
              <a:t>The training pipeline: Pre-training → SFT Fine-tuning → RLHF/DPO alignment ensures helpful, safe models.</a:t>
            </a:r>
            <a:endParaRPr lang="en-US" sz="1150" dirty="0"/>
          </a:p>
        </p:txBody>
      </p:sp>
      <p:sp>
        <p:nvSpPr>
          <p:cNvPr id="13" name="Shape 11"/>
          <p:cNvSpPr/>
          <p:nvPr/>
        </p:nvSpPr>
        <p:spPr>
          <a:xfrm>
            <a:off x="256032" y="1874520"/>
            <a:ext cx="329184" cy="329184"/>
          </a:xfrm>
          <a:prstGeom prst="ellipse">
            <a:avLst/>
          </a:prstGeom>
          <a:solidFill>
            <a:srgbClr val="F59E0B"/>
          </a:solidFill>
          <a:ln w="12700">
            <a:solidFill>
              <a:srgbClr val="F59E0B"/>
            </a:solidFill>
            <a:prstDash val="solid"/>
          </a:ln>
        </p:spPr>
      </p:sp>
      <p:sp>
        <p:nvSpPr>
          <p:cNvPr id="14" name="Text 12"/>
          <p:cNvSpPr/>
          <p:nvPr/>
        </p:nvSpPr>
        <p:spPr>
          <a:xfrm>
            <a:off x="256032" y="186537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5" name="Text 13"/>
          <p:cNvSpPr/>
          <p:nvPr/>
        </p:nvSpPr>
        <p:spPr>
          <a:xfrm>
            <a:off x="694944" y="1856232"/>
            <a:ext cx="8275320" cy="329184"/>
          </a:xfrm>
          <a:prstGeom prst="rect">
            <a:avLst/>
          </a:prstGeom>
          <a:noFill/>
          <a:ln/>
        </p:spPr>
        <p:txBody>
          <a:bodyPr wrap="square" lIns="25400" tIns="25400" rIns="25400" bIns="25400" rtlCol="0" anchor="ctr"/>
          <a:lstStyle/>
          <a:p>
            <a:pPr indent="0" marL="0">
              <a:buNone/>
            </a:pPr>
            <a:r>
              <a:rPr lang="en-US" sz="1150" dirty="0">
                <a:solidFill>
                  <a:srgbClr val="E8F0FE"/>
                </a:solidFill>
                <a:latin typeface="Calibri" pitchFamily="34" charset="0"/>
                <a:ea typeface="Calibri" pitchFamily="34" charset="-122"/>
                <a:cs typeface="Calibri" pitchFamily="34" charset="-120"/>
              </a:rPr>
              <a:t>Tokenization, self-attention, and autoregressive generation are the three pillars of how LLMs work.</a:t>
            </a:r>
            <a:endParaRPr lang="en-US" sz="1150" dirty="0"/>
          </a:p>
        </p:txBody>
      </p:sp>
      <p:sp>
        <p:nvSpPr>
          <p:cNvPr id="16" name="Shape 14"/>
          <p:cNvSpPr/>
          <p:nvPr/>
        </p:nvSpPr>
        <p:spPr>
          <a:xfrm>
            <a:off x="256032" y="2350008"/>
            <a:ext cx="329184" cy="329184"/>
          </a:xfrm>
          <a:prstGeom prst="ellipse">
            <a:avLst/>
          </a:prstGeom>
          <a:solidFill>
            <a:srgbClr val="8B5CF6"/>
          </a:solidFill>
          <a:ln w="12700">
            <a:solidFill>
              <a:srgbClr val="8B5CF6"/>
            </a:solidFill>
            <a:prstDash val="solid"/>
          </a:ln>
        </p:spPr>
      </p:sp>
      <p:sp>
        <p:nvSpPr>
          <p:cNvPr id="17" name="Text 15"/>
          <p:cNvSpPr/>
          <p:nvPr/>
        </p:nvSpPr>
        <p:spPr>
          <a:xfrm>
            <a:off x="256032" y="2340864"/>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18" name="Text 16"/>
          <p:cNvSpPr/>
          <p:nvPr/>
        </p:nvSpPr>
        <p:spPr>
          <a:xfrm>
            <a:off x="694944" y="2331720"/>
            <a:ext cx="8275320" cy="329184"/>
          </a:xfrm>
          <a:prstGeom prst="rect">
            <a:avLst/>
          </a:prstGeom>
          <a:noFill/>
          <a:ln/>
        </p:spPr>
        <p:txBody>
          <a:bodyPr wrap="square" lIns="25400" tIns="25400" rIns="25400" bIns="25400" rtlCol="0" anchor="ctr"/>
          <a:lstStyle/>
          <a:p>
            <a:pPr indent="0" marL="0">
              <a:buNone/>
            </a:pPr>
            <a:r>
              <a:rPr lang="en-US" sz="1150" dirty="0">
                <a:solidFill>
                  <a:srgbClr val="E8F0FE"/>
                </a:solidFill>
                <a:latin typeface="Calibri" pitchFamily="34" charset="0"/>
                <a:ea typeface="Calibri" pitchFamily="34" charset="-122"/>
                <a:cs typeface="Calibri" pitchFamily="34" charset="-120"/>
              </a:rPr>
              <a:t>LLMs power applications across healthcare, education, finance, law, coding, and enterprise at scale.</a:t>
            </a:r>
            <a:endParaRPr lang="en-US" sz="1150" dirty="0"/>
          </a:p>
        </p:txBody>
      </p:sp>
      <p:sp>
        <p:nvSpPr>
          <p:cNvPr id="19" name="Shape 17"/>
          <p:cNvSpPr/>
          <p:nvPr/>
        </p:nvSpPr>
        <p:spPr>
          <a:xfrm>
            <a:off x="256032" y="2825496"/>
            <a:ext cx="329184" cy="329184"/>
          </a:xfrm>
          <a:prstGeom prst="ellipse">
            <a:avLst/>
          </a:prstGeom>
          <a:solidFill>
            <a:srgbClr val="F97316"/>
          </a:solidFill>
          <a:ln w="12700">
            <a:solidFill>
              <a:srgbClr val="F97316"/>
            </a:solidFill>
            <a:prstDash val="solid"/>
          </a:ln>
        </p:spPr>
      </p:sp>
      <p:sp>
        <p:nvSpPr>
          <p:cNvPr id="20" name="Text 18"/>
          <p:cNvSpPr/>
          <p:nvPr/>
        </p:nvSpPr>
        <p:spPr>
          <a:xfrm>
            <a:off x="256032" y="2816352"/>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21" name="Text 19"/>
          <p:cNvSpPr/>
          <p:nvPr/>
        </p:nvSpPr>
        <p:spPr>
          <a:xfrm>
            <a:off x="694944" y="2807208"/>
            <a:ext cx="8275320" cy="329184"/>
          </a:xfrm>
          <a:prstGeom prst="rect">
            <a:avLst/>
          </a:prstGeom>
          <a:noFill/>
          <a:ln/>
        </p:spPr>
        <p:txBody>
          <a:bodyPr wrap="square" lIns="25400" tIns="25400" rIns="25400" bIns="25400" rtlCol="0" anchor="ctr"/>
          <a:lstStyle/>
          <a:p>
            <a:pPr indent="0" marL="0">
              <a:buNone/>
            </a:pPr>
            <a:r>
              <a:rPr lang="en-US" sz="1150" dirty="0">
                <a:solidFill>
                  <a:srgbClr val="E8F0FE"/>
                </a:solidFill>
                <a:latin typeface="Calibri" pitchFamily="34" charset="0"/>
                <a:ea typeface="Calibri" pitchFamily="34" charset="-122"/>
                <a:cs typeface="Calibri" pitchFamily="34" charset="-120"/>
              </a:rPr>
              <a:t>Key challenges — hallucinations, bias, compute cost, and context limits — remain active research areas.</a:t>
            </a:r>
            <a:endParaRPr lang="en-US" sz="1150" dirty="0"/>
          </a:p>
        </p:txBody>
      </p:sp>
      <p:sp>
        <p:nvSpPr>
          <p:cNvPr id="22" name="Shape 20"/>
          <p:cNvSpPr/>
          <p:nvPr/>
        </p:nvSpPr>
        <p:spPr>
          <a:xfrm>
            <a:off x="256032" y="3300984"/>
            <a:ext cx="329184" cy="329184"/>
          </a:xfrm>
          <a:prstGeom prst="ellipse">
            <a:avLst/>
          </a:prstGeom>
          <a:solidFill>
            <a:srgbClr val="EF4444"/>
          </a:solidFill>
          <a:ln w="12700">
            <a:solidFill>
              <a:srgbClr val="EF4444"/>
            </a:solidFill>
            <a:prstDash val="solid"/>
          </a:ln>
        </p:spPr>
      </p:sp>
      <p:sp>
        <p:nvSpPr>
          <p:cNvPr id="23" name="Text 21"/>
          <p:cNvSpPr/>
          <p:nvPr/>
        </p:nvSpPr>
        <p:spPr>
          <a:xfrm>
            <a:off x="256032" y="3291840"/>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24" name="Text 22"/>
          <p:cNvSpPr/>
          <p:nvPr/>
        </p:nvSpPr>
        <p:spPr>
          <a:xfrm>
            <a:off x="694944" y="3282696"/>
            <a:ext cx="8275320" cy="329184"/>
          </a:xfrm>
          <a:prstGeom prst="rect">
            <a:avLst/>
          </a:prstGeom>
          <a:noFill/>
          <a:ln/>
        </p:spPr>
        <p:txBody>
          <a:bodyPr wrap="square" lIns="25400" tIns="25400" rIns="25400" bIns="25400" rtlCol="0" anchor="ctr"/>
          <a:lstStyle/>
          <a:p>
            <a:pPr indent="0" marL="0">
              <a:buNone/>
            </a:pPr>
            <a:r>
              <a:rPr lang="en-US" sz="1150" dirty="0">
                <a:solidFill>
                  <a:srgbClr val="E8F0FE"/>
                </a:solidFill>
                <a:latin typeface="Calibri" pitchFamily="34" charset="0"/>
                <a:ea typeface="Calibri" pitchFamily="34" charset="-122"/>
                <a:cs typeface="Calibri" pitchFamily="34" charset="-120"/>
              </a:rPr>
              <a:t>Ethical deployment demands transparency, fairness audits, watermarking, and responsible regulation.</a:t>
            </a:r>
            <a:endParaRPr lang="en-US" sz="1150" dirty="0"/>
          </a:p>
        </p:txBody>
      </p:sp>
      <p:sp>
        <p:nvSpPr>
          <p:cNvPr id="25" name="Shape 23"/>
          <p:cNvSpPr/>
          <p:nvPr/>
        </p:nvSpPr>
        <p:spPr>
          <a:xfrm>
            <a:off x="256032" y="3776472"/>
            <a:ext cx="329184" cy="329184"/>
          </a:xfrm>
          <a:prstGeom prst="ellipse">
            <a:avLst/>
          </a:prstGeom>
          <a:solidFill>
            <a:srgbClr val="10B981"/>
          </a:solidFill>
          <a:ln w="12700">
            <a:solidFill>
              <a:srgbClr val="10B981"/>
            </a:solidFill>
            <a:prstDash val="solid"/>
          </a:ln>
        </p:spPr>
      </p:sp>
      <p:sp>
        <p:nvSpPr>
          <p:cNvPr id="26" name="Text 24"/>
          <p:cNvSpPr/>
          <p:nvPr/>
        </p:nvSpPr>
        <p:spPr>
          <a:xfrm>
            <a:off x="256032" y="3767328"/>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7</a:t>
            </a:r>
            <a:endParaRPr lang="en-US" sz="1100" dirty="0"/>
          </a:p>
        </p:txBody>
      </p:sp>
      <p:sp>
        <p:nvSpPr>
          <p:cNvPr id="27" name="Text 25"/>
          <p:cNvSpPr/>
          <p:nvPr/>
        </p:nvSpPr>
        <p:spPr>
          <a:xfrm>
            <a:off x="694944" y="3758184"/>
            <a:ext cx="8275320" cy="329184"/>
          </a:xfrm>
          <a:prstGeom prst="rect">
            <a:avLst/>
          </a:prstGeom>
          <a:noFill/>
          <a:ln/>
        </p:spPr>
        <p:txBody>
          <a:bodyPr wrap="square" lIns="25400" tIns="25400" rIns="25400" bIns="25400" rtlCol="0" anchor="ctr"/>
          <a:lstStyle/>
          <a:p>
            <a:pPr indent="0" marL="0">
              <a:buNone/>
            </a:pPr>
            <a:r>
              <a:rPr lang="en-US" sz="1150" dirty="0">
                <a:solidFill>
                  <a:srgbClr val="E8F0FE"/>
                </a:solidFill>
                <a:latin typeface="Calibri" pitchFamily="34" charset="0"/>
                <a:ea typeface="Calibri" pitchFamily="34" charset="-122"/>
                <a:cs typeface="Calibri" pitchFamily="34" charset="-120"/>
              </a:rPr>
              <a:t>Security requires input sanitization, output filtering, adversarial red-teaming, and zero-trust architecture.</a:t>
            </a:r>
            <a:endParaRPr lang="en-US" sz="1150" dirty="0"/>
          </a:p>
        </p:txBody>
      </p:sp>
      <p:sp>
        <p:nvSpPr>
          <p:cNvPr id="28" name="Shape 26"/>
          <p:cNvSpPr/>
          <p:nvPr/>
        </p:nvSpPr>
        <p:spPr>
          <a:xfrm>
            <a:off x="256032" y="4251960"/>
            <a:ext cx="329184" cy="329184"/>
          </a:xfrm>
          <a:prstGeom prst="ellipse">
            <a:avLst/>
          </a:prstGeom>
          <a:solidFill>
            <a:srgbClr val="06B6D4"/>
          </a:solidFill>
          <a:ln w="12700">
            <a:solidFill>
              <a:srgbClr val="06B6D4"/>
            </a:solidFill>
            <a:prstDash val="solid"/>
          </a:ln>
        </p:spPr>
      </p:sp>
      <p:sp>
        <p:nvSpPr>
          <p:cNvPr id="29" name="Text 27"/>
          <p:cNvSpPr/>
          <p:nvPr/>
        </p:nvSpPr>
        <p:spPr>
          <a:xfrm>
            <a:off x="256032" y="42428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8</a:t>
            </a:r>
            <a:endParaRPr lang="en-US" sz="1100" dirty="0"/>
          </a:p>
        </p:txBody>
      </p:sp>
      <p:sp>
        <p:nvSpPr>
          <p:cNvPr id="30" name="Text 28"/>
          <p:cNvSpPr/>
          <p:nvPr/>
        </p:nvSpPr>
        <p:spPr>
          <a:xfrm>
            <a:off x="694944" y="4233672"/>
            <a:ext cx="8275320" cy="329184"/>
          </a:xfrm>
          <a:prstGeom prst="rect">
            <a:avLst/>
          </a:prstGeom>
          <a:noFill/>
          <a:ln/>
        </p:spPr>
        <p:txBody>
          <a:bodyPr wrap="square" lIns="25400" tIns="25400" rIns="25400" bIns="25400" rtlCol="0" anchor="ctr"/>
          <a:lstStyle/>
          <a:p>
            <a:pPr indent="0" marL="0">
              <a:buNone/>
            </a:pPr>
            <a:r>
              <a:rPr lang="en-US" sz="1150" dirty="0">
                <a:solidFill>
                  <a:srgbClr val="E8F0FE"/>
                </a:solidFill>
                <a:latin typeface="Calibri" pitchFamily="34" charset="0"/>
                <a:ea typeface="Calibri" pitchFamily="34" charset="-122"/>
                <a:cs typeface="Calibri" pitchFamily="34" charset="-120"/>
              </a:rPr>
              <a:t>The future points to reasoning AGI, autonomous agents, multimodal models, and scientific breakthroughs.</a:t>
            </a:r>
            <a:endParaRPr lang="en-US" sz="1150" dirty="0"/>
          </a:p>
        </p:txBody>
      </p:sp>
      <p:sp>
        <p:nvSpPr>
          <p:cNvPr id="31" name="Text 29"/>
          <p:cNvSpPr/>
          <p:nvPr/>
        </p:nvSpPr>
        <p:spPr>
          <a:xfrm>
            <a:off x="457200" y="4773168"/>
            <a:ext cx="8229600" cy="237744"/>
          </a:xfrm>
          <a:prstGeom prst="rect">
            <a:avLst/>
          </a:prstGeom>
          <a:noFill/>
          <a:ln/>
        </p:spPr>
        <p:txBody>
          <a:bodyPr wrap="square" rtlCol="0" anchor="ctr"/>
          <a:lstStyle/>
          <a:p>
            <a:pPr algn="ctr" indent="0" marL="0">
              <a:buNone/>
            </a:pPr>
            <a:r>
              <a:rPr lang="en-US" sz="900" i="1" dirty="0">
                <a:solidFill>
                  <a:srgbClr val="94A3B8"/>
                </a:solidFill>
                <a:latin typeface="Calibri" pitchFamily="34" charset="0"/>
                <a:ea typeface="Calibri" pitchFamily="34" charset="-122"/>
                <a:cs typeface="Calibri" pitchFamily="34" charset="-120"/>
              </a:rPr>
              <a:t>"The question is not whether AI will reshape the world — but how we guide that transformation responsibly."</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Large Language Models (LLMs)</dc:title>
  <dc:subject>PptxGenJS Presentation</dc:subject>
  <dc:creator>PptxGenJS</dc:creator>
  <cp:lastModifiedBy>PptxGenJS</cp:lastModifiedBy>
  <cp:revision>1</cp:revision>
  <dcterms:created xsi:type="dcterms:W3CDTF">2026-05-20T07:26:09Z</dcterms:created>
  <dcterms:modified xsi:type="dcterms:W3CDTF">2026-05-20T07:26:09Z</dcterms:modified>
</cp:coreProperties>
</file>